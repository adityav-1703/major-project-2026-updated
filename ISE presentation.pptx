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Fira Sans" panose="020B0503050000020004" pitchFamily="3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srinivas" userId="c8d410ddf7cb73ff" providerId="LiveId" clId="{76A080BB-AD6E-48B2-A789-BE7D00AF391F}"/>
    <pc:docChg chg="custSel modSld">
      <pc:chgData name="Aditya srinivas" userId="c8d410ddf7cb73ff" providerId="LiveId" clId="{76A080BB-AD6E-48B2-A789-BE7D00AF391F}" dt="2026-05-17T14:35:59.873" v="3" actId="2711"/>
      <pc:docMkLst>
        <pc:docMk/>
      </pc:docMkLst>
      <pc:sldChg chg="modSp mod">
        <pc:chgData name="Aditya srinivas" userId="c8d410ddf7cb73ff" providerId="LiveId" clId="{76A080BB-AD6E-48B2-A789-BE7D00AF391F}" dt="2026-05-17T14:06:02.676" v="2" actId="14100"/>
        <pc:sldMkLst>
          <pc:docMk/>
          <pc:sldMk cId="0" sldId="256"/>
        </pc:sldMkLst>
        <pc:spChg chg="mod">
          <ac:chgData name="Aditya srinivas" userId="c8d410ddf7cb73ff" providerId="LiveId" clId="{76A080BB-AD6E-48B2-A789-BE7D00AF391F}" dt="2026-05-17T13:07:45.465" v="0" actId="313"/>
          <ac:spMkLst>
            <pc:docMk/>
            <pc:sldMk cId="0" sldId="256"/>
            <ac:spMk id="14" creationId="{00000000-0000-0000-0000-000000000000}"/>
          </ac:spMkLst>
        </pc:spChg>
        <pc:grpChg chg="mod">
          <ac:chgData name="Aditya srinivas" userId="c8d410ddf7cb73ff" providerId="LiveId" clId="{76A080BB-AD6E-48B2-A789-BE7D00AF391F}" dt="2026-05-17T14:06:02.676" v="2" actId="14100"/>
          <ac:grpSpMkLst>
            <pc:docMk/>
            <pc:sldMk cId="0" sldId="256"/>
            <ac:grpSpMk id="2" creationId="{00000000-0000-0000-0000-000000000000}"/>
          </ac:grpSpMkLst>
        </pc:grpChg>
      </pc:sldChg>
      <pc:sldChg chg="modSp mod">
        <pc:chgData name="Aditya srinivas" userId="c8d410ddf7cb73ff" providerId="LiveId" clId="{76A080BB-AD6E-48B2-A789-BE7D00AF391F}" dt="2026-05-17T14:35:59.873" v="3" actId="2711"/>
        <pc:sldMkLst>
          <pc:docMk/>
          <pc:sldMk cId="0" sldId="260"/>
        </pc:sldMkLst>
        <pc:graphicFrameChg chg="modGraphic">
          <ac:chgData name="Aditya srinivas" userId="c8d410ddf7cb73ff" providerId="LiveId" clId="{76A080BB-AD6E-48B2-A789-BE7D00AF391F}" dt="2026-05-17T14:35:59.873" v="3" actId="2711"/>
          <ac:graphicFrameMkLst>
            <pc:docMk/>
            <pc:sldMk cId="0" sldId="260"/>
            <ac:graphicFrameMk id="19" creationId="{AAD91C61-7FE1-15EA-0AEC-61FB3595774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3.jpeg"/><Relationship Id="rId9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9" name="Freeform 9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44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555253" y="822970"/>
            <a:ext cx="13941904" cy="4874850"/>
            <a:chOff x="0" y="0"/>
            <a:chExt cx="18589206" cy="6499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589200" cy="6499804"/>
            </a:xfrm>
            <a:custGeom>
              <a:avLst/>
              <a:gdLst/>
              <a:ahLst/>
              <a:cxnLst/>
              <a:rect l="l" t="t" r="r" b="b"/>
              <a:pathLst>
                <a:path w="18589200" h="6499804">
                  <a:moveTo>
                    <a:pt x="0" y="0"/>
                  </a:moveTo>
                  <a:lnTo>
                    <a:pt x="18589200" y="0"/>
                  </a:lnTo>
                  <a:lnTo>
                    <a:pt x="18589200" y="6499804"/>
                  </a:lnTo>
                  <a:lnTo>
                    <a:pt x="0" y="64998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726" b="-572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38100"/>
              <a:ext cx="18589206" cy="6461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38"/>
                </a:lnSpc>
              </a:pPr>
              <a:r>
                <a:rPr lang="en-US" sz="735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Blockchain-driven system for authenticity, sustainability and export readiness of ayurvedic herbs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2103" y="5334933"/>
            <a:ext cx="18216448" cy="4204354"/>
            <a:chOff x="0" y="0"/>
            <a:chExt cx="24288598" cy="560580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288600" cy="5605800"/>
            </a:xfrm>
            <a:custGeom>
              <a:avLst/>
              <a:gdLst/>
              <a:ahLst/>
              <a:cxnLst/>
              <a:rect l="l" t="t" r="r" b="b"/>
              <a:pathLst>
                <a:path w="24288600" h="5605800">
                  <a:moveTo>
                    <a:pt x="0" y="0"/>
                  </a:moveTo>
                  <a:lnTo>
                    <a:pt x="24288600" y="0"/>
                  </a:lnTo>
                  <a:lnTo>
                    <a:pt x="24288600" y="5605800"/>
                  </a:lnTo>
                  <a:lnTo>
                    <a:pt x="0" y="5605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4423" b="-34424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24288598" cy="5634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80"/>
                </a:lnSpc>
              </a:pPr>
              <a:r>
                <a:rPr lang="en-US" sz="3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Under the guidance of Prof. Jayesh Rane </a:t>
              </a:r>
            </a:p>
            <a:p>
              <a:pPr algn="ctr">
                <a:lnSpc>
                  <a:spcPts val="4680"/>
                </a:lnSpc>
              </a:pPr>
              <a:r>
                <a:rPr lang="en-US" sz="3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and Vijen Gala</a:t>
              </a:r>
            </a:p>
            <a:p>
              <a:pPr algn="ctr">
                <a:lnSpc>
                  <a:spcPts val="4320"/>
                </a:lnSpc>
              </a:pPr>
              <a:endParaRPr lang="en-US"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ctr">
                <a:lnSpc>
                  <a:spcPts val="3779"/>
                </a:lnSpc>
              </a:pPr>
              <a:r>
                <a:rPr lang="en-US" sz="31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By </a:t>
              </a:r>
            </a:p>
            <a:p>
              <a:pPr algn="ctr">
                <a:lnSpc>
                  <a:spcPts val="3779"/>
                </a:lnSpc>
              </a:pPr>
              <a:r>
                <a:rPr lang="en-US" sz="31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Aditya Rajesh Srinivas - 16014022115</a:t>
              </a:r>
            </a:p>
            <a:p>
              <a:pPr algn="ctr">
                <a:lnSpc>
                  <a:spcPts val="3779"/>
                </a:lnSpc>
              </a:pPr>
              <a:r>
                <a:rPr lang="en-US" sz="31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Shreya Vikas Jhamb - 16014022121</a:t>
              </a:r>
            </a:p>
            <a:p>
              <a:pPr algn="ctr">
                <a:lnSpc>
                  <a:spcPts val="4320"/>
                </a:lnSpc>
              </a:pPr>
              <a:endParaRPr lang="en-US" sz="31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254411" y="8794490"/>
            <a:ext cx="3024311" cy="744736"/>
            <a:chOff x="0" y="0"/>
            <a:chExt cx="4032415" cy="99298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032420" cy="992976"/>
            </a:xfrm>
            <a:custGeom>
              <a:avLst/>
              <a:gdLst/>
              <a:ahLst/>
              <a:cxnLst/>
              <a:rect l="l" t="t" r="r" b="b"/>
              <a:pathLst>
                <a:path w="4032420" h="992976">
                  <a:moveTo>
                    <a:pt x="0" y="0"/>
                  </a:moveTo>
                  <a:lnTo>
                    <a:pt x="4032420" y="0"/>
                  </a:lnTo>
                  <a:lnTo>
                    <a:pt x="4032420" y="992976"/>
                  </a:lnTo>
                  <a:lnTo>
                    <a:pt x="0" y="992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126" b="-29128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4032415" cy="1002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F3F3F"/>
                  </a:solidFill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9" name="Freeform 9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44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286000" y="239039"/>
            <a:ext cx="13716000" cy="1109701"/>
            <a:chOff x="0" y="0"/>
            <a:chExt cx="18288000" cy="147960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88000" cy="1479600"/>
            </a:xfrm>
            <a:custGeom>
              <a:avLst/>
              <a:gdLst/>
              <a:ahLst/>
              <a:cxnLst/>
              <a:rect l="l" t="t" r="r" b="b"/>
              <a:pathLst>
                <a:path w="18288000" h="1479600">
                  <a:moveTo>
                    <a:pt x="0" y="0"/>
                  </a:moveTo>
                  <a:lnTo>
                    <a:pt x="18288000" y="0"/>
                  </a:lnTo>
                  <a:lnTo>
                    <a:pt x="18288000" y="1479600"/>
                  </a:lnTo>
                  <a:lnTo>
                    <a:pt x="0" y="147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0836" b="-19083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38100"/>
              <a:ext cx="18288000" cy="144150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6480"/>
                </a:lnSpc>
              </a:pPr>
              <a:r>
                <a:rPr lang="en-US" sz="6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OUTLINE</a:t>
              </a:r>
            </a:p>
          </p:txBody>
        </p:sp>
      </p:grpSp>
      <p:graphicFrame>
        <p:nvGraphicFramePr>
          <p:cNvPr id="15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493040"/>
              </p:ext>
            </p:extLst>
          </p:nvPr>
        </p:nvGraphicFramePr>
        <p:xfrm>
          <a:off x="6324600" y="1896507"/>
          <a:ext cx="5410201" cy="6985003"/>
        </p:xfrm>
        <a:graphic>
          <a:graphicData uri="http://schemas.openxmlformats.org/drawingml/2006/table">
            <a:tbl>
              <a:tblPr/>
              <a:tblGrid>
                <a:gridCol w="858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5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7423"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Sr. No.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Slide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Slide  No.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58"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Introduction &amp; Background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58"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Problem Statement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58"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Literature Survey 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5-7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58"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Objectives of the project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58"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 &amp; Proposed Approach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 dirty="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lang="en-US" sz="1100" dirty="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7758"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 dirty="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 Architecture and workflow</a:t>
                      </a:r>
                      <a:endParaRPr lang="en-US" sz="1100" dirty="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10-11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7758"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 Done Till Now 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12-13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7758"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Preliminary work (screen shots)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14-15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47758"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Conclusion &amp; QnA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47758"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References</a:t>
                      </a:r>
                      <a:endParaRPr lang="en-US" sz="110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38"/>
                        </a:lnSpc>
                        <a:defRPr/>
                      </a:pPr>
                      <a:r>
                        <a:rPr lang="en-US" sz="1549" dirty="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lang="en-US" sz="1100" dirty="0"/>
                    </a:p>
                  </a:txBody>
                  <a:tcPr marL="99050" marR="99050" marT="99050" marB="99050" anchor="ctr">
                    <a:lnL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16" name="Group 16"/>
          <p:cNvGrpSpPr/>
          <p:nvPr/>
        </p:nvGrpSpPr>
        <p:grpSpPr>
          <a:xfrm>
            <a:off x="15254411" y="8794490"/>
            <a:ext cx="3024311" cy="744736"/>
            <a:chOff x="0" y="0"/>
            <a:chExt cx="4032415" cy="99298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032420" cy="992976"/>
            </a:xfrm>
            <a:custGeom>
              <a:avLst/>
              <a:gdLst/>
              <a:ahLst/>
              <a:cxnLst/>
              <a:rect l="l" t="t" r="r" b="b"/>
              <a:pathLst>
                <a:path w="4032420" h="992976">
                  <a:moveTo>
                    <a:pt x="0" y="0"/>
                  </a:moveTo>
                  <a:lnTo>
                    <a:pt x="4032420" y="0"/>
                  </a:lnTo>
                  <a:lnTo>
                    <a:pt x="4032420" y="992976"/>
                  </a:lnTo>
                  <a:lnTo>
                    <a:pt x="0" y="992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126" b="-29128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4032415" cy="1002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F3F3F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5" name="Freeform 5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44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52400" y="9273540"/>
            <a:ext cx="14110584" cy="1185739"/>
            <a:chOff x="0" y="0"/>
            <a:chExt cx="18814111" cy="15809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814112" cy="1581023"/>
            </a:xfrm>
            <a:custGeom>
              <a:avLst/>
              <a:gdLst/>
              <a:ahLst/>
              <a:cxnLst/>
              <a:rect l="l" t="t" r="r" b="b"/>
              <a:pathLst>
                <a:path w="18814112" h="1581023">
                  <a:moveTo>
                    <a:pt x="0" y="0"/>
                  </a:moveTo>
                  <a:lnTo>
                    <a:pt x="18814112" y="0"/>
                  </a:lnTo>
                  <a:lnTo>
                    <a:pt x="18814112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4126154" y="9273540"/>
            <a:ext cx="4161846" cy="1033339"/>
            <a:chOff x="0" y="0"/>
            <a:chExt cx="5549128" cy="137778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549166" cy="1377823"/>
            </a:xfrm>
            <a:custGeom>
              <a:avLst/>
              <a:gdLst/>
              <a:ahLst/>
              <a:cxnLst/>
              <a:rect l="l" t="t" r="r" b="b"/>
              <a:pathLst>
                <a:path w="5549166" h="1377823">
                  <a:moveTo>
                    <a:pt x="0" y="0"/>
                  </a:moveTo>
                  <a:lnTo>
                    <a:pt x="5549166" y="0"/>
                  </a:lnTo>
                  <a:lnTo>
                    <a:pt x="5549166" y="1377823"/>
                  </a:lnTo>
                  <a:lnTo>
                    <a:pt x="0" y="137782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149980" y="8798081"/>
            <a:ext cx="2274751" cy="475459"/>
            <a:chOff x="0" y="0"/>
            <a:chExt cx="3033001" cy="63394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33000" cy="633941"/>
            </a:xfrm>
            <a:custGeom>
              <a:avLst/>
              <a:gdLst/>
              <a:ahLst/>
              <a:cxnLst/>
              <a:rect l="l" t="t" r="r" b="b"/>
              <a:pathLst>
                <a:path w="3033000" h="633941">
                  <a:moveTo>
                    <a:pt x="0" y="0"/>
                  </a:moveTo>
                  <a:lnTo>
                    <a:pt x="3033000" y="0"/>
                  </a:lnTo>
                  <a:lnTo>
                    <a:pt x="3033000" y="633941"/>
                  </a:lnTo>
                  <a:lnTo>
                    <a:pt x="0" y="6339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0363" b="-4608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3033001" cy="643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F3F3F"/>
                  </a:solidFill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52743" y="496460"/>
            <a:ext cx="14934152" cy="1557914"/>
            <a:chOff x="0" y="0"/>
            <a:chExt cx="19912203" cy="207721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912200" cy="2077219"/>
            </a:xfrm>
            <a:custGeom>
              <a:avLst/>
              <a:gdLst/>
              <a:ahLst/>
              <a:cxnLst/>
              <a:rect l="l" t="t" r="r" b="b"/>
              <a:pathLst>
                <a:path w="19912200" h="2077219">
                  <a:moveTo>
                    <a:pt x="0" y="0"/>
                  </a:moveTo>
                  <a:lnTo>
                    <a:pt x="19912200" y="0"/>
                  </a:lnTo>
                  <a:lnTo>
                    <a:pt x="19912200" y="2077219"/>
                  </a:lnTo>
                  <a:lnTo>
                    <a:pt x="0" y="207721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2523" b="-141043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38100"/>
              <a:ext cx="19912203" cy="203911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452"/>
                </a:lnSpc>
              </a:pPr>
              <a:r>
                <a:rPr lang="en-US" sz="6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Introduction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857118" y="2536977"/>
            <a:ext cx="12725400" cy="6079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5" lvl="1" indent="-302257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Ayurveda is one of the world’s oldest holistic healing systems originating in India over 5,000 years ago. </a:t>
            </a:r>
          </a:p>
          <a:p>
            <a:pPr algn="l">
              <a:lnSpc>
                <a:spcPts val="3359"/>
              </a:lnSpc>
            </a:pPr>
            <a:endParaRPr lang="en-US" sz="27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4515" lvl="1" indent="-302257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Ayurveda industry focuses on natural and herbal products used for healthcare, wellness and preventive medicine. </a:t>
            </a:r>
          </a:p>
          <a:p>
            <a:pPr algn="l">
              <a:lnSpc>
                <a:spcPts val="3359"/>
              </a:lnSpc>
            </a:pPr>
            <a:endParaRPr lang="en-US" sz="27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4515" lvl="1" indent="-302257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recent years the industry has seen rapid global growth due to increasing demand for organic and plant-based solutions.</a:t>
            </a:r>
          </a:p>
          <a:p>
            <a:pPr algn="l">
              <a:lnSpc>
                <a:spcPts val="3359"/>
              </a:lnSpc>
            </a:pPr>
            <a:endParaRPr lang="en-US" sz="27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4515" lvl="1" indent="-302257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systems exist but they are extremely isolated and </a:t>
            </a:r>
            <a:r>
              <a:rPr lang="en-US" sz="27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dont</a:t>
            </a: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 a unified, scalable and export ready solution which the market needs.</a:t>
            </a:r>
          </a:p>
          <a:p>
            <a:pPr algn="l">
              <a:lnSpc>
                <a:spcPts val="3359"/>
              </a:lnSpc>
            </a:pPr>
            <a:endParaRPr lang="en-US" sz="27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4515" lvl="1" indent="-302257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such as lack of standardization, authenticity verification and traceability in the supply chain highlight the need for advanced technological solutions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9" name="Freeform 9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44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837053" y="743888"/>
            <a:ext cx="14934152" cy="1690649"/>
            <a:chOff x="0" y="0"/>
            <a:chExt cx="19912203" cy="225419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912200" cy="2254200"/>
            </a:xfrm>
            <a:custGeom>
              <a:avLst/>
              <a:gdLst/>
              <a:ahLst/>
              <a:cxnLst/>
              <a:rect l="l" t="t" r="r" b="b"/>
              <a:pathLst>
                <a:path w="19912200" h="2254200">
                  <a:moveTo>
                    <a:pt x="0" y="0"/>
                  </a:moveTo>
                  <a:lnTo>
                    <a:pt x="19912200" y="0"/>
                  </a:lnTo>
                  <a:lnTo>
                    <a:pt x="19912200" y="2254200"/>
                  </a:lnTo>
                  <a:lnTo>
                    <a:pt x="0" y="2254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2118" b="-122118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38100"/>
              <a:ext cx="19912203" cy="221609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452"/>
                </a:lnSpc>
              </a:pPr>
              <a:r>
                <a:rPr lang="en-US" sz="6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Problem Statement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149980" y="9019308"/>
            <a:ext cx="2274751" cy="502650"/>
            <a:chOff x="0" y="0"/>
            <a:chExt cx="3033001" cy="670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33000" cy="670196"/>
            </a:xfrm>
            <a:custGeom>
              <a:avLst/>
              <a:gdLst/>
              <a:ahLst/>
              <a:cxnLst/>
              <a:rect l="l" t="t" r="r" b="b"/>
              <a:pathLst>
                <a:path w="3033000" h="670196">
                  <a:moveTo>
                    <a:pt x="0" y="0"/>
                  </a:moveTo>
                  <a:lnTo>
                    <a:pt x="3033000" y="0"/>
                  </a:lnTo>
                  <a:lnTo>
                    <a:pt x="3033000" y="670196"/>
                  </a:lnTo>
                  <a:lnTo>
                    <a:pt x="0" y="6701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179" b="-38181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3033001" cy="679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F3F3F"/>
                  </a:solidFill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2463187" y="6161015"/>
            <a:ext cx="13481879" cy="2858293"/>
          </a:xfrm>
          <a:custGeom>
            <a:avLst/>
            <a:gdLst/>
            <a:ahLst/>
            <a:cxnLst/>
            <a:rect l="l" t="t" r="r" b="b"/>
            <a:pathLst>
              <a:path w="13481879" h="2858293">
                <a:moveTo>
                  <a:pt x="0" y="0"/>
                </a:moveTo>
                <a:lnTo>
                  <a:pt x="13481879" y="0"/>
                </a:lnTo>
                <a:lnTo>
                  <a:pt x="13481879" y="2858293"/>
                </a:lnTo>
                <a:lnTo>
                  <a:pt x="0" y="28582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493" b="-685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28650" y="2698190"/>
            <a:ext cx="17150953" cy="3462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sz="28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Problem statement is “A Blockchain-driven system for authenticity,sustainability and export readiness of ayurvedic herbs” which will answer the following queries:-</a:t>
            </a:r>
          </a:p>
          <a:p>
            <a:pPr algn="l">
              <a:lnSpc>
                <a:spcPts val="2724"/>
              </a:lnSpc>
            </a:pPr>
            <a:endParaRPr lang="en-US" sz="282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96322" lvl="1" indent="-298161" algn="l">
              <a:lnSpc>
                <a:spcPts val="2724"/>
              </a:lnSpc>
              <a:buFont typeface="Arial"/>
              <a:buChar char="•"/>
            </a:pPr>
            <a:r>
              <a:rPr lang="en-US" sz="28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end-to-end traceability system</a:t>
            </a:r>
          </a:p>
          <a:p>
            <a:pPr marL="596322" lvl="1" indent="-298161" algn="l">
              <a:lnSpc>
                <a:spcPts val="2724"/>
              </a:lnSpc>
              <a:buFont typeface="Arial"/>
              <a:buChar char="•"/>
            </a:pPr>
            <a:r>
              <a:rPr lang="en-US" sz="28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Fragmented digital platforms (e-Aushadhi, e-Charak)</a:t>
            </a:r>
          </a:p>
          <a:p>
            <a:pPr marL="596322" lvl="1" indent="-298161" algn="l">
              <a:lnSpc>
                <a:spcPts val="2724"/>
              </a:lnSpc>
              <a:buFont typeface="Arial"/>
              <a:buChar char="•"/>
            </a:pPr>
            <a:r>
              <a:rPr lang="en-US" sz="28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export compliance automation</a:t>
            </a:r>
          </a:p>
          <a:p>
            <a:pPr marL="596322" lvl="1" indent="-298161" algn="l">
              <a:lnSpc>
                <a:spcPts val="2724"/>
              </a:lnSpc>
              <a:buFont typeface="Arial"/>
              <a:buChar char="•"/>
            </a:pPr>
            <a:r>
              <a:rPr lang="en-US" sz="28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real-time sustainability tracking</a:t>
            </a:r>
          </a:p>
          <a:p>
            <a:pPr marL="596322" lvl="1" indent="-298161" algn="l">
              <a:lnSpc>
                <a:spcPts val="2724"/>
              </a:lnSpc>
              <a:buFont typeface="Arial"/>
              <a:buChar char="•"/>
            </a:pPr>
            <a:r>
              <a:rPr lang="en-US" sz="28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inclusion of small farmers</a:t>
            </a:r>
          </a:p>
          <a:p>
            <a:pPr marL="596322" lvl="1" indent="-298161" algn="l">
              <a:lnSpc>
                <a:spcPts val="2724"/>
              </a:lnSpc>
              <a:buFont typeface="Arial"/>
              <a:buChar char="•"/>
            </a:pPr>
            <a:r>
              <a:rPr lang="en-US" sz="28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authenticity and traceability</a:t>
            </a:r>
          </a:p>
          <a:p>
            <a:pPr marL="596322" lvl="1" indent="-298161" algn="l">
              <a:lnSpc>
                <a:spcPts val="2724"/>
              </a:lnSpc>
            </a:pPr>
            <a:endParaRPr lang="en-US" sz="280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9" name="Freeform 9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44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286000" y="908990"/>
            <a:ext cx="13716000" cy="916200"/>
            <a:chOff x="0" y="0"/>
            <a:chExt cx="18288000" cy="1221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88000" cy="1221600"/>
            </a:xfrm>
            <a:custGeom>
              <a:avLst/>
              <a:gdLst/>
              <a:ahLst/>
              <a:cxnLst/>
              <a:rect l="l" t="t" r="r" b="b"/>
              <a:pathLst>
                <a:path w="18288000" h="1221600">
                  <a:moveTo>
                    <a:pt x="0" y="0"/>
                  </a:moveTo>
                  <a:lnTo>
                    <a:pt x="18288000" y="0"/>
                  </a:lnTo>
                  <a:lnTo>
                    <a:pt x="18288000" y="1221600"/>
                  </a:lnTo>
                  <a:lnTo>
                    <a:pt x="0" y="1221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1701" b="-24170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38100"/>
              <a:ext cx="18288000" cy="11835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6480"/>
                </a:lnSpc>
              </a:pPr>
              <a:r>
                <a:rPr lang="en-US" sz="6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Literature Survey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149980" y="9019308"/>
            <a:ext cx="2274751" cy="502650"/>
            <a:chOff x="0" y="0"/>
            <a:chExt cx="3033001" cy="670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33000" cy="670196"/>
            </a:xfrm>
            <a:custGeom>
              <a:avLst/>
              <a:gdLst/>
              <a:ahLst/>
              <a:cxnLst/>
              <a:rect l="l" t="t" r="r" b="b"/>
              <a:pathLst>
                <a:path w="3033000" h="670196">
                  <a:moveTo>
                    <a:pt x="0" y="0"/>
                  </a:moveTo>
                  <a:lnTo>
                    <a:pt x="3033000" y="0"/>
                  </a:lnTo>
                  <a:lnTo>
                    <a:pt x="3033000" y="670196"/>
                  </a:lnTo>
                  <a:lnTo>
                    <a:pt x="0" y="6701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179" b="-38181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3033001" cy="679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F3F3F"/>
                  </a:solidFill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</a:p>
          </p:txBody>
        </p: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AD91C61-7FE1-15EA-0AEC-61FB35957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268080"/>
              </p:ext>
            </p:extLst>
          </p:nvPr>
        </p:nvGraphicFramePr>
        <p:xfrm>
          <a:off x="290789" y="2238574"/>
          <a:ext cx="17488813" cy="6619378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547753">
                  <a:extLst>
                    <a:ext uri="{9D8B030D-6E8A-4147-A177-3AD203B41FA5}">
                      <a16:colId xmlns:a16="http://schemas.microsoft.com/office/drawing/2014/main" val="3840977287"/>
                    </a:ext>
                  </a:extLst>
                </a:gridCol>
                <a:gridCol w="5281852">
                  <a:extLst>
                    <a:ext uri="{9D8B030D-6E8A-4147-A177-3AD203B41FA5}">
                      <a16:colId xmlns:a16="http://schemas.microsoft.com/office/drawing/2014/main" val="545439658"/>
                    </a:ext>
                  </a:extLst>
                </a:gridCol>
                <a:gridCol w="2914802">
                  <a:extLst>
                    <a:ext uri="{9D8B030D-6E8A-4147-A177-3AD203B41FA5}">
                      <a16:colId xmlns:a16="http://schemas.microsoft.com/office/drawing/2014/main" val="2863940628"/>
                    </a:ext>
                  </a:extLst>
                </a:gridCol>
                <a:gridCol w="2914802">
                  <a:extLst>
                    <a:ext uri="{9D8B030D-6E8A-4147-A177-3AD203B41FA5}">
                      <a16:colId xmlns:a16="http://schemas.microsoft.com/office/drawing/2014/main" val="172158802"/>
                    </a:ext>
                  </a:extLst>
                </a:gridCol>
                <a:gridCol w="2914802">
                  <a:extLst>
                    <a:ext uri="{9D8B030D-6E8A-4147-A177-3AD203B41FA5}">
                      <a16:colId xmlns:a16="http://schemas.microsoft.com/office/drawing/2014/main" val="3556602601"/>
                    </a:ext>
                  </a:extLst>
                </a:gridCol>
                <a:gridCol w="2914802">
                  <a:extLst>
                    <a:ext uri="{9D8B030D-6E8A-4147-A177-3AD203B41FA5}">
                      <a16:colId xmlns:a16="http://schemas.microsoft.com/office/drawing/2014/main" val="2954275840"/>
                    </a:ext>
                  </a:extLst>
                </a:gridCol>
              </a:tblGrid>
              <a:tr h="3198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Name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/ Technique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Used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Strengths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1758787"/>
                  </a:ext>
                </a:extLst>
              </a:tr>
              <a:tr h="984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Study of Convolutional Neural Networks for Leaf Classification in Ayurveda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Convolutional Neural Networks (VGG-16, ResNet-50, EfficientNet-V2M)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1,835 images of 30 Ayurvedic plant species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EfficientNet-V2M achieved 98.24% accuracy with fast training time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varies with lighting conditions and complex backgrounds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5443681"/>
                  </a:ext>
                </a:extLst>
              </a:tr>
              <a:tr h="1089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End-to-End Traceability in Ayush Drug Supply Chains: Challenges, Opportunities, and Policy Perspectives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Artificial Intelligence enabled Blockchain with Quick Response Codes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 of e-Aushadhi and e-Charak portals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comprehensive regulatory roadmap for global compliance standards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Largely conceptual and requires significant infrastructure in rural areas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194176"/>
                  </a:ext>
                </a:extLst>
              </a:tr>
              <a:tr h="1617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Leveraging Deep Learning and Blockchain for Enhanced Transparency and Traceability in the Indian Herbal Product Supply Chain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Hyperledger Fabric Blockchain with Sequential Convolutional Neural Network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20-class medicinal plant image dataset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real-time tracking and prevents data tampering through immutable ledger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classification accuracy compared to standalone deep learning models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2865040"/>
                  </a:ext>
                </a:extLst>
              </a:tr>
              <a:tr h="1201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Segmented Encryption: A Quality and Safety Supervisory Model for Herbal Medicine Based on Blockchain Technology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Technology with Smart Contracts and Radio Frequency Identification / Quick Response Codes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Global herbal product lifecycle data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secure seed-to-shelf monitoring with high transparency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implementation cost for small-scale farmers and producers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651033"/>
                  </a:ext>
                </a:extLst>
              </a:tr>
              <a:tr h="1406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MedicLedger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Blockchain-Based Supply Chain Architecture for Ayurvedic Product Authentication and Compliance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Decentralized Ethereum Blockchain Network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Transactional data of herbal raw materials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Eliminates intermediaries and ensures fair pricing for farmers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 challenges and high transaction (gas) fees</a:t>
                      </a:r>
                    </a:p>
                  </a:txBody>
                  <a:tcPr marL="24333" marR="24333" marT="12167" marB="12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03082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7" name="Freeform 7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447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286000" y="715375"/>
            <a:ext cx="13716000" cy="1085402"/>
            <a:chOff x="0" y="0"/>
            <a:chExt cx="18288000" cy="14472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288000" cy="1447200"/>
            </a:xfrm>
            <a:custGeom>
              <a:avLst/>
              <a:gdLst/>
              <a:ahLst/>
              <a:cxnLst/>
              <a:rect l="l" t="t" r="r" b="b"/>
              <a:pathLst>
                <a:path w="18288000" h="1447200">
                  <a:moveTo>
                    <a:pt x="0" y="0"/>
                  </a:moveTo>
                  <a:lnTo>
                    <a:pt x="18288000" y="0"/>
                  </a:lnTo>
                  <a:lnTo>
                    <a:pt x="18288000" y="1447200"/>
                  </a:lnTo>
                  <a:lnTo>
                    <a:pt x="0" y="144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6228" b="-19622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38100"/>
              <a:ext cx="18288000" cy="140910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6480"/>
                </a:lnSpc>
              </a:pPr>
              <a:r>
                <a:rPr lang="en-US" sz="6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Literature Survey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6149980" y="9019308"/>
            <a:ext cx="2274751" cy="502650"/>
            <a:chOff x="0" y="0"/>
            <a:chExt cx="3033001" cy="670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33000" cy="670196"/>
            </a:xfrm>
            <a:custGeom>
              <a:avLst/>
              <a:gdLst/>
              <a:ahLst/>
              <a:cxnLst/>
              <a:rect l="l" t="t" r="r" b="b"/>
              <a:pathLst>
                <a:path w="3033000" h="670196">
                  <a:moveTo>
                    <a:pt x="0" y="0"/>
                  </a:moveTo>
                  <a:lnTo>
                    <a:pt x="3033000" y="0"/>
                  </a:lnTo>
                  <a:lnTo>
                    <a:pt x="3033000" y="670196"/>
                  </a:lnTo>
                  <a:lnTo>
                    <a:pt x="0" y="6701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179" b="-38181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3033001" cy="679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F3F3F"/>
                  </a:solidFill>
                  <a:latin typeface="Fira Sans"/>
                  <a:ea typeface="Fira Sans"/>
                  <a:cs typeface="Fira Sans"/>
                  <a:sym typeface="Fira Sans"/>
                </a:rPr>
                <a:t>6</a:t>
              </a:r>
            </a:p>
          </p:txBody>
        </p: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1304048-0747-36FD-F924-54F0FD193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218193"/>
              </p:ext>
            </p:extLst>
          </p:nvPr>
        </p:nvGraphicFramePr>
        <p:xfrm>
          <a:off x="457201" y="1941992"/>
          <a:ext cx="17322402" cy="6925987"/>
        </p:xfrm>
        <a:graphic>
          <a:graphicData uri="http://schemas.openxmlformats.org/drawingml/2006/table">
            <a:tbl>
              <a:tblPr/>
              <a:tblGrid>
                <a:gridCol w="541514">
                  <a:extLst>
                    <a:ext uri="{9D8B030D-6E8A-4147-A177-3AD203B41FA5}">
                      <a16:colId xmlns:a16="http://schemas.microsoft.com/office/drawing/2014/main" val="167753037"/>
                    </a:ext>
                  </a:extLst>
                </a:gridCol>
                <a:gridCol w="5232620">
                  <a:extLst>
                    <a:ext uri="{9D8B030D-6E8A-4147-A177-3AD203B41FA5}">
                      <a16:colId xmlns:a16="http://schemas.microsoft.com/office/drawing/2014/main" val="2480239732"/>
                    </a:ext>
                  </a:extLst>
                </a:gridCol>
                <a:gridCol w="2887067">
                  <a:extLst>
                    <a:ext uri="{9D8B030D-6E8A-4147-A177-3AD203B41FA5}">
                      <a16:colId xmlns:a16="http://schemas.microsoft.com/office/drawing/2014/main" val="1175820999"/>
                    </a:ext>
                  </a:extLst>
                </a:gridCol>
                <a:gridCol w="2887067">
                  <a:extLst>
                    <a:ext uri="{9D8B030D-6E8A-4147-A177-3AD203B41FA5}">
                      <a16:colId xmlns:a16="http://schemas.microsoft.com/office/drawing/2014/main" val="1618737706"/>
                    </a:ext>
                  </a:extLst>
                </a:gridCol>
                <a:gridCol w="2887067">
                  <a:extLst>
                    <a:ext uri="{9D8B030D-6E8A-4147-A177-3AD203B41FA5}">
                      <a16:colId xmlns:a16="http://schemas.microsoft.com/office/drawing/2014/main" val="123028264"/>
                    </a:ext>
                  </a:extLst>
                </a:gridCol>
                <a:gridCol w="2887067">
                  <a:extLst>
                    <a:ext uri="{9D8B030D-6E8A-4147-A177-3AD203B41FA5}">
                      <a16:colId xmlns:a16="http://schemas.microsoft.com/office/drawing/2014/main" val="1236795692"/>
                    </a:ext>
                  </a:extLst>
                </a:gridCol>
              </a:tblGrid>
              <a:tr h="320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Ref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Paper Name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Model / Technique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Dataset Used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Strengths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Limitations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337957"/>
                  </a:ext>
                </a:extLst>
              </a:tr>
              <a:tr h="1436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6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DNA Barcoding of the Market Samples of Single-Drug Herbal Powders Reveals Adulteration with Taxonomically Unrelated Plant Species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DNA Barcoding using ribulose-bisphosphate carboxylase (rbcL) marker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107 single-drug herbal powder samples covering 65 species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Highly accurate identification of species even in processed powders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Requires expert laboratory setup and high-quality genomic DNA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081382"/>
                  </a:ext>
                </a:extLst>
              </a:tr>
              <a:tr h="1511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7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Traceability System for Rare Chinese Herbal Medicines Based on Blockchain Structure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Double Blockchain Architecture (Private Blockchain and Consortium Blockchain) with InterPlanetary File System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Multi-modal supply chain records including images and transaction logs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Efficient storage of large files off-chain while maintaining secure logs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Increased technical complexity due to dual blockchain architecture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87161"/>
                  </a:ext>
                </a:extLst>
              </a:tr>
              <a:tr h="1236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8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Demystifying Hyperledger Fabric Framework for Distributed Ledgers and Approach to Evaluate Its Performance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Permissioned Blockchain using Hyperledger Fabric Framework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Simulated multi-organization network transactions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Provides high throughput, low latency, and strong privacy control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Requires advanced technical expertise for setup and maintenance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80824"/>
                  </a:ext>
                </a:extLst>
              </a:tr>
              <a:tr h="1135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9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Integrating Artificial Intelligence and Data Analytics for Supply Chain Optimization in the Pharmaceutical Industry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Artificial Intelligence with Predictive Data Analytics and Blockchain Integration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Historical production, demand, and distribution datasets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Enables accurate demand forecasting and secure supply chain optimization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Requires large volumes of high-quality historical data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36913"/>
                  </a:ext>
                </a:extLst>
              </a:tr>
              <a:tr h="1236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10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HerBChain, a Blockchain-Based Informative Platform for Quality Assurance and Quality Control of Herbal Products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Consortium Blockchain using Openchain Framework with Quick Response Codes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Six-stage herbal product manufacturing lifecycle data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Minimizes manipulation of quality records across stakeholders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Faces resistance in adoption among traditional industry participants</a:t>
                      </a:r>
                    </a:p>
                  </a:txBody>
                  <a:tcPr marL="23210" marR="23210" marT="11605" marB="116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7924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9" name="Freeform 9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44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433980" y="253103"/>
            <a:ext cx="13716000" cy="1790995"/>
            <a:chOff x="0" y="0"/>
            <a:chExt cx="18288000" cy="238799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88000" cy="2388000"/>
            </a:xfrm>
            <a:custGeom>
              <a:avLst/>
              <a:gdLst/>
              <a:ahLst/>
              <a:cxnLst/>
              <a:rect l="l" t="t" r="r" b="b"/>
              <a:pathLst>
                <a:path w="18288000" h="23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88000"/>
                  </a:lnTo>
                  <a:lnTo>
                    <a:pt x="0" y="2388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9222" b="-9922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38100"/>
              <a:ext cx="18288000" cy="234989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6480"/>
                </a:lnSpc>
              </a:pPr>
              <a:r>
                <a:rPr lang="en-US" sz="6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Literature review (Summary)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28650" y="3100411"/>
            <a:ext cx="7126948" cy="5930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3"/>
              </a:lnSpc>
            </a:pPr>
            <a:r>
              <a:rPr lang="en-US" sz="29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technologies exist there is no single system to do it all.</a:t>
            </a:r>
          </a:p>
          <a:p>
            <a:pPr algn="l">
              <a:lnSpc>
                <a:spcPts val="2453"/>
              </a:lnSpc>
            </a:pPr>
            <a:endParaRPr lang="en-US" sz="29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329"/>
              </a:lnSpc>
            </a:pPr>
            <a:r>
              <a:rPr lang="en-US" sz="29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System:-</a:t>
            </a:r>
          </a:p>
          <a:p>
            <a:pPr marL="685980" lvl="1" indent="-342990" algn="l">
              <a:lnSpc>
                <a:spcPts val="3329"/>
              </a:lnSpc>
              <a:buFont typeface="Arial"/>
              <a:buChar char="•"/>
            </a:pPr>
            <a:r>
              <a:rPr lang="en-US" sz="29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 traceability systems</a:t>
            </a:r>
          </a:p>
          <a:p>
            <a:pPr marL="685980" lvl="1" indent="-342990" algn="l">
              <a:lnSpc>
                <a:spcPts val="3329"/>
              </a:lnSpc>
              <a:buFont typeface="Arial"/>
              <a:buChar char="•"/>
            </a:pPr>
            <a:r>
              <a:rPr lang="en-US" sz="29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 models (up to 98% accuracy)</a:t>
            </a:r>
          </a:p>
          <a:p>
            <a:pPr marL="685980" lvl="1" indent="-342990" algn="l">
              <a:lnSpc>
                <a:spcPts val="3329"/>
              </a:lnSpc>
              <a:buFont typeface="Arial"/>
              <a:buChar char="•"/>
            </a:pPr>
            <a:r>
              <a:rPr lang="en-US" sz="29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Government portals</a:t>
            </a:r>
          </a:p>
          <a:p>
            <a:pPr algn="l">
              <a:lnSpc>
                <a:spcPts val="3329"/>
              </a:lnSpc>
            </a:pPr>
            <a:endParaRPr lang="en-US" sz="29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329"/>
              </a:lnSpc>
            </a:pPr>
            <a:r>
              <a:rPr lang="en-US" sz="29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Gaps identified:-</a:t>
            </a:r>
          </a:p>
          <a:p>
            <a:pPr marL="685980" lvl="1" indent="-342990" algn="l">
              <a:lnSpc>
                <a:spcPts val="3329"/>
              </a:lnSpc>
              <a:buFont typeface="Arial"/>
              <a:buChar char="•"/>
            </a:pPr>
            <a:r>
              <a:rPr lang="en-US" sz="29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unified system</a:t>
            </a:r>
          </a:p>
          <a:p>
            <a:pPr marL="685980" lvl="1" indent="-342990" algn="l">
              <a:lnSpc>
                <a:spcPts val="3329"/>
              </a:lnSpc>
              <a:buFont typeface="Arial"/>
              <a:buChar char="•"/>
            </a:pPr>
            <a:r>
              <a:rPr lang="en-US" sz="29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export automation</a:t>
            </a:r>
          </a:p>
          <a:p>
            <a:pPr marL="685980" lvl="1" indent="-342990" algn="l">
              <a:lnSpc>
                <a:spcPts val="3329"/>
              </a:lnSpc>
              <a:buFont typeface="Arial"/>
              <a:buChar char="•"/>
            </a:pPr>
            <a:r>
              <a:rPr lang="en-US" sz="29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scalability and authentication</a:t>
            </a:r>
          </a:p>
          <a:p>
            <a:pPr marL="685980" lvl="1" indent="-342990" algn="l">
              <a:lnSpc>
                <a:spcPts val="3329"/>
              </a:lnSpc>
              <a:buFont typeface="Arial"/>
              <a:buChar char="•"/>
            </a:pPr>
            <a:r>
              <a:rPr lang="en-US" sz="29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Weak sustainability tracking </a:t>
            </a:r>
          </a:p>
          <a:p>
            <a:pPr marL="845585" lvl="1" indent="-422792" algn="ctr">
              <a:lnSpc>
                <a:spcPts val="3024"/>
              </a:lnSpc>
            </a:pPr>
            <a:endParaRPr lang="en-US" sz="29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45585" lvl="1" indent="-422792" algn="ctr">
              <a:lnSpc>
                <a:spcPts val="3024"/>
              </a:lnSpc>
            </a:pPr>
            <a:endParaRPr lang="en-US" sz="29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7886214" y="2919889"/>
            <a:ext cx="10112342" cy="5593333"/>
            <a:chOff x="0" y="0"/>
            <a:chExt cx="14352425" cy="793860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352381" cy="7938643"/>
            </a:xfrm>
            <a:custGeom>
              <a:avLst/>
              <a:gdLst/>
              <a:ahLst/>
              <a:cxnLst/>
              <a:rect l="l" t="t" r="r" b="b"/>
              <a:pathLst>
                <a:path w="14352381" h="7938643">
                  <a:moveTo>
                    <a:pt x="0" y="0"/>
                  </a:moveTo>
                  <a:lnTo>
                    <a:pt x="14352381" y="0"/>
                  </a:lnTo>
                  <a:lnTo>
                    <a:pt x="14352381" y="7938643"/>
                  </a:lnTo>
                  <a:lnTo>
                    <a:pt x="0" y="7938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03" r="-703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6149980" y="9019308"/>
            <a:ext cx="2274751" cy="502650"/>
            <a:chOff x="0" y="0"/>
            <a:chExt cx="3033001" cy="670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033000" cy="670196"/>
            </a:xfrm>
            <a:custGeom>
              <a:avLst/>
              <a:gdLst/>
              <a:ahLst/>
              <a:cxnLst/>
              <a:rect l="l" t="t" r="r" b="b"/>
              <a:pathLst>
                <a:path w="3033000" h="670196">
                  <a:moveTo>
                    <a:pt x="0" y="0"/>
                  </a:moveTo>
                  <a:lnTo>
                    <a:pt x="3033000" y="0"/>
                  </a:lnTo>
                  <a:lnTo>
                    <a:pt x="3033000" y="670196"/>
                  </a:lnTo>
                  <a:lnTo>
                    <a:pt x="0" y="6701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179" b="-38181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3033001" cy="679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F3F3F"/>
                  </a:solidFill>
                  <a:latin typeface="Fira Sans"/>
                  <a:ea typeface="Fira Sans"/>
                  <a:cs typeface="Fira Sans"/>
                  <a:sym typeface="Fira Sans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9" name="Freeform 9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44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590453" y="405165"/>
            <a:ext cx="15015296" cy="1537935"/>
            <a:chOff x="-108195" y="-33236"/>
            <a:chExt cx="20020395" cy="22874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912200" cy="2254200"/>
            </a:xfrm>
            <a:custGeom>
              <a:avLst/>
              <a:gdLst/>
              <a:ahLst/>
              <a:cxnLst/>
              <a:rect l="l" t="t" r="r" b="b"/>
              <a:pathLst>
                <a:path w="19912200" h="2254200">
                  <a:moveTo>
                    <a:pt x="0" y="0"/>
                  </a:moveTo>
                  <a:lnTo>
                    <a:pt x="19912200" y="0"/>
                  </a:lnTo>
                  <a:lnTo>
                    <a:pt x="19912200" y="2254200"/>
                  </a:lnTo>
                  <a:lnTo>
                    <a:pt x="0" y="2254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2118" b="-122118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-108195" y="-33236"/>
              <a:ext cx="19912203" cy="221609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6480"/>
                </a:lnSpc>
              </a:pPr>
              <a:r>
                <a:rPr lang="en-US" sz="6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Objectives of the project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826419" y="2175742"/>
            <a:ext cx="14944801" cy="7412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1764" lvl="1" indent="-320882" algn="l">
              <a:lnSpc>
                <a:spcPts val="3388"/>
              </a:lnSpc>
              <a:buAutoNum type="arabicPeriod"/>
            </a:pPr>
            <a:r>
              <a:rPr lang="en-US" sz="29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Implementing blockchain-based traceability using Hyperledger Fabric to ensure security making for a tamper-proof and transparent tracking of Ayurvedic herbs across the supply chain.</a:t>
            </a:r>
          </a:p>
          <a:p>
            <a:pPr marL="641764" lvl="1" indent="-320882" algn="l">
              <a:lnSpc>
                <a:spcPts val="3388"/>
              </a:lnSpc>
              <a:buAutoNum type="arabicPeriod"/>
            </a:pPr>
            <a:r>
              <a:rPr lang="en-US" sz="29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and optimizing system performance using Hyperledger Caliper for benchmarking throughput latency and scalability.</a:t>
            </a:r>
          </a:p>
          <a:p>
            <a:pPr marL="641764" lvl="1" indent="-320882" algn="l">
              <a:lnSpc>
                <a:spcPts val="3388"/>
              </a:lnSpc>
              <a:buAutoNum type="arabicPeriod"/>
            </a:pPr>
            <a:r>
              <a:rPr lang="en-US" sz="29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Developing an AI-based herb authentication system using a CNN model (MobileNetV5) to accurately classify and verify herbal products.</a:t>
            </a:r>
          </a:p>
          <a:p>
            <a:pPr marL="641764" lvl="1" indent="-320882" algn="l">
              <a:lnSpc>
                <a:spcPts val="3388"/>
              </a:lnSpc>
              <a:buAutoNum type="arabicPeriod"/>
            </a:pPr>
            <a:r>
              <a:rPr lang="en-US" sz="29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Enabling software-based geo-tagging using browser Geolocation API to capture real-time herb origin and location data without IoT dependency.</a:t>
            </a:r>
          </a:p>
          <a:p>
            <a:pPr marL="641764" lvl="1" indent="-320882" algn="l">
              <a:lnSpc>
                <a:spcPts val="3388"/>
              </a:lnSpc>
              <a:buAutoNum type="arabicPeriod"/>
            </a:pPr>
            <a:r>
              <a:rPr lang="en-US" sz="29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Implementing a QR code-based verification system to allow consumers to instantly verify product authenticity and traceability.</a:t>
            </a:r>
          </a:p>
          <a:p>
            <a:pPr marL="641764" lvl="1" indent="-320882" algn="l">
              <a:lnSpc>
                <a:spcPts val="3388"/>
              </a:lnSpc>
              <a:buAutoNum type="arabicPeriod"/>
            </a:pPr>
            <a:r>
              <a:rPr lang="en-US" sz="29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Designing a mobile-first, multilingual web platform for accessibility across diverse users including farmers, regulators, and consumers.</a:t>
            </a:r>
          </a:p>
          <a:p>
            <a:pPr marL="641764" lvl="1" indent="-320882" algn="l">
              <a:lnSpc>
                <a:spcPts val="3388"/>
              </a:lnSpc>
              <a:buAutoNum type="arabicPeriod"/>
            </a:pPr>
            <a:r>
              <a:rPr lang="en-US" sz="297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Incorporating export compliance support aligned with global regulations such as EU Falsified Medicines Directive and Drug Supply Chain Security Act to facilitate international trade readiness.</a:t>
            </a:r>
          </a:p>
          <a:p>
            <a:pPr algn="l">
              <a:lnSpc>
                <a:spcPts val="3388"/>
              </a:lnSpc>
            </a:pPr>
            <a:endParaRPr lang="en-US" sz="2972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16149980" y="9019308"/>
            <a:ext cx="2274751" cy="502650"/>
            <a:chOff x="0" y="0"/>
            <a:chExt cx="3033001" cy="670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33000" cy="670196"/>
            </a:xfrm>
            <a:custGeom>
              <a:avLst/>
              <a:gdLst/>
              <a:ahLst/>
              <a:cxnLst/>
              <a:rect l="l" t="t" r="r" b="b"/>
              <a:pathLst>
                <a:path w="3033000" h="670196">
                  <a:moveTo>
                    <a:pt x="0" y="0"/>
                  </a:moveTo>
                  <a:lnTo>
                    <a:pt x="3033000" y="0"/>
                  </a:lnTo>
                  <a:lnTo>
                    <a:pt x="3033000" y="670196"/>
                  </a:lnTo>
                  <a:lnTo>
                    <a:pt x="0" y="6701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179" b="-3818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3033001" cy="679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F3F3F"/>
                  </a:solidFill>
                  <a:latin typeface="Fira Sans"/>
                  <a:ea typeface="Fira Sans"/>
                  <a:cs typeface="Fira Sans"/>
                  <a:sym typeface="Fira Sans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9" name="Freeform 9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44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257300" y="303276"/>
            <a:ext cx="14934152" cy="1690649"/>
            <a:chOff x="0" y="0"/>
            <a:chExt cx="19912203" cy="225419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912200" cy="2254200"/>
            </a:xfrm>
            <a:custGeom>
              <a:avLst/>
              <a:gdLst/>
              <a:ahLst/>
              <a:cxnLst/>
              <a:rect l="l" t="t" r="r" b="b"/>
              <a:pathLst>
                <a:path w="19912200" h="2254200">
                  <a:moveTo>
                    <a:pt x="0" y="0"/>
                  </a:moveTo>
                  <a:lnTo>
                    <a:pt x="19912200" y="0"/>
                  </a:lnTo>
                  <a:lnTo>
                    <a:pt x="19912200" y="2254200"/>
                  </a:lnTo>
                  <a:lnTo>
                    <a:pt x="0" y="2254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2118" b="-122118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38100"/>
              <a:ext cx="19912203" cy="2216099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6480"/>
                </a:lnSpc>
              </a:pPr>
              <a:r>
                <a:rPr lang="en-US" sz="6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Methodology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90789" y="2372487"/>
            <a:ext cx="10529611" cy="5725851"/>
            <a:chOff x="0" y="0"/>
            <a:chExt cx="18213146" cy="92124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213197" cy="9212501"/>
            </a:xfrm>
            <a:custGeom>
              <a:avLst/>
              <a:gdLst/>
              <a:ahLst/>
              <a:cxnLst/>
              <a:rect l="l" t="t" r="r" b="b"/>
              <a:pathLst>
                <a:path w="18213197" h="9212501">
                  <a:moveTo>
                    <a:pt x="0" y="0"/>
                  </a:moveTo>
                  <a:lnTo>
                    <a:pt x="18213197" y="0"/>
                  </a:lnTo>
                  <a:lnTo>
                    <a:pt x="18213197" y="9212501"/>
                  </a:lnTo>
                  <a:lnTo>
                    <a:pt x="0" y="9212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364" r="-3364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6149980" y="9019308"/>
            <a:ext cx="2274751" cy="502650"/>
            <a:chOff x="0" y="0"/>
            <a:chExt cx="3033001" cy="670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033000" cy="670196"/>
            </a:xfrm>
            <a:custGeom>
              <a:avLst/>
              <a:gdLst/>
              <a:ahLst/>
              <a:cxnLst/>
              <a:rect l="l" t="t" r="r" b="b"/>
              <a:pathLst>
                <a:path w="3033000" h="670196">
                  <a:moveTo>
                    <a:pt x="0" y="0"/>
                  </a:moveTo>
                  <a:lnTo>
                    <a:pt x="3033000" y="0"/>
                  </a:lnTo>
                  <a:lnTo>
                    <a:pt x="3033000" y="670196"/>
                  </a:lnTo>
                  <a:lnTo>
                    <a:pt x="0" y="6701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179" b="-3818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3033001" cy="679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F3F3F"/>
                  </a:solidFill>
                  <a:latin typeface="Fira Sans"/>
                  <a:ea typeface="Fira Sans"/>
                  <a:cs typeface="Fira Sans"/>
                  <a:sym typeface="Fira Sans"/>
                </a:rPr>
                <a:t>9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972801" y="2205561"/>
            <a:ext cx="6553200" cy="6668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41"/>
              </a:lnSpc>
            </a:pPr>
            <a:r>
              <a:rPr lang="en-US" sz="244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Capture &amp; Collect</a:t>
            </a:r>
          </a:p>
          <a:p>
            <a:pPr algn="just">
              <a:lnSpc>
                <a:spcPts val="2641"/>
              </a:lnSpc>
            </a:pPr>
            <a:r>
              <a:rPr lang="en-US" sz="244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Farmers or users simply scan, click, or upload through the website and add their input in the system with images, location, and product data.</a:t>
            </a:r>
          </a:p>
          <a:p>
            <a:pPr algn="just">
              <a:lnSpc>
                <a:spcPts val="2641"/>
              </a:lnSpc>
            </a:pPr>
            <a:endParaRPr lang="en-US" sz="244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2641"/>
              </a:lnSpc>
            </a:pPr>
            <a:r>
              <a:rPr lang="en-US" sz="244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2)Verify &amp; Validate</a:t>
            </a:r>
          </a:p>
          <a:p>
            <a:pPr algn="just">
              <a:lnSpc>
                <a:spcPts val="2641"/>
              </a:lnSpc>
            </a:pPr>
            <a:r>
              <a:rPr lang="en-US" sz="244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acts like a digital inspector making sure checking images and data for authenticity before anything moves forward.</a:t>
            </a:r>
          </a:p>
          <a:p>
            <a:pPr algn="just">
              <a:lnSpc>
                <a:spcPts val="2641"/>
              </a:lnSpc>
            </a:pPr>
            <a:endParaRPr lang="en-US" sz="244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2641"/>
              </a:lnSpc>
            </a:pPr>
            <a:r>
              <a:rPr lang="en-US" sz="244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3)Seal with Trust</a:t>
            </a:r>
          </a:p>
          <a:p>
            <a:pPr algn="just">
              <a:lnSpc>
                <a:spcPts val="2641"/>
              </a:lnSpc>
            </a:pPr>
            <a:r>
              <a:rPr lang="en-US" sz="244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 locks each verified record, giving it a tamper-proof stamp of authenticity and sustainability.</a:t>
            </a:r>
          </a:p>
          <a:p>
            <a:pPr algn="just">
              <a:lnSpc>
                <a:spcPts val="2641"/>
              </a:lnSpc>
            </a:pPr>
            <a:endParaRPr lang="en-US" sz="244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2641"/>
              </a:lnSpc>
            </a:pPr>
            <a:r>
              <a:rPr lang="en-US" sz="244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4)Store &amp; Share Transparently</a:t>
            </a:r>
          </a:p>
          <a:p>
            <a:pPr algn="just">
              <a:lnSpc>
                <a:spcPts val="2641"/>
              </a:lnSpc>
            </a:pPr>
            <a:r>
              <a:rPr lang="en-US" sz="244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Metadata and images are safely stored in databases and IPFS (interplanetary file system) making the system auditable, scalable, and ready for global exports.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9" name="Freeform 9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44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433980" y="635965"/>
            <a:ext cx="13716000" cy="1278903"/>
            <a:chOff x="0" y="0"/>
            <a:chExt cx="18288000" cy="17052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88000" cy="1705200"/>
            </a:xfrm>
            <a:custGeom>
              <a:avLst/>
              <a:gdLst/>
              <a:ahLst/>
              <a:cxnLst/>
              <a:rect l="l" t="t" r="r" b="b"/>
              <a:pathLst>
                <a:path w="18288000" h="1705200">
                  <a:moveTo>
                    <a:pt x="0" y="0"/>
                  </a:moveTo>
                  <a:lnTo>
                    <a:pt x="18288000" y="0"/>
                  </a:lnTo>
                  <a:lnTo>
                    <a:pt x="18288000" y="1705200"/>
                  </a:lnTo>
                  <a:lnTo>
                    <a:pt x="0" y="1705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8973" b="-158974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38100"/>
              <a:ext cx="18288000" cy="166710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6480"/>
                </a:lnSpc>
              </a:pPr>
              <a:r>
                <a:rPr lang="en-US" sz="6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 workflow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90789" y="2684621"/>
            <a:ext cx="17997211" cy="5969927"/>
            <a:chOff x="0" y="0"/>
            <a:chExt cx="23996282" cy="795990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996224" cy="7959852"/>
            </a:xfrm>
            <a:custGeom>
              <a:avLst/>
              <a:gdLst/>
              <a:ahLst/>
              <a:cxnLst/>
              <a:rect l="l" t="t" r="r" b="b"/>
              <a:pathLst>
                <a:path w="23996224" h="7959852">
                  <a:moveTo>
                    <a:pt x="0" y="0"/>
                  </a:moveTo>
                  <a:lnTo>
                    <a:pt x="23996224" y="0"/>
                  </a:lnTo>
                  <a:lnTo>
                    <a:pt x="23996224" y="7959852"/>
                  </a:lnTo>
                  <a:lnTo>
                    <a:pt x="0" y="7959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4" r="-264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6149980" y="9019308"/>
            <a:ext cx="2274751" cy="502650"/>
            <a:chOff x="0" y="0"/>
            <a:chExt cx="3033001" cy="670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033000" cy="670196"/>
            </a:xfrm>
            <a:custGeom>
              <a:avLst/>
              <a:gdLst/>
              <a:ahLst/>
              <a:cxnLst/>
              <a:rect l="l" t="t" r="r" b="b"/>
              <a:pathLst>
                <a:path w="3033000" h="670196">
                  <a:moveTo>
                    <a:pt x="0" y="0"/>
                  </a:moveTo>
                  <a:lnTo>
                    <a:pt x="3033000" y="0"/>
                  </a:lnTo>
                  <a:lnTo>
                    <a:pt x="3033000" y="670196"/>
                  </a:lnTo>
                  <a:lnTo>
                    <a:pt x="0" y="6701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179" b="-3818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3033001" cy="679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F3F3F"/>
                  </a:solidFill>
                  <a:latin typeface="Fira Sans"/>
                  <a:ea typeface="Fira Sans"/>
                  <a:cs typeface="Fira Sans"/>
                  <a:sym typeface="Fira Sans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9" name="Freeform 9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44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286000" y="734068"/>
            <a:ext cx="13716000" cy="1082697"/>
            <a:chOff x="0" y="0"/>
            <a:chExt cx="18288000" cy="144359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88000" cy="1443600"/>
            </a:xfrm>
            <a:custGeom>
              <a:avLst/>
              <a:gdLst/>
              <a:ahLst/>
              <a:cxnLst/>
              <a:rect l="l" t="t" r="r" b="b"/>
              <a:pathLst>
                <a:path w="18288000" h="1443600">
                  <a:moveTo>
                    <a:pt x="0" y="0"/>
                  </a:moveTo>
                  <a:lnTo>
                    <a:pt x="18288000" y="0"/>
                  </a:lnTo>
                  <a:lnTo>
                    <a:pt x="18288000" y="1443600"/>
                  </a:lnTo>
                  <a:lnTo>
                    <a:pt x="0" y="1443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6843" b="-196842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38100"/>
              <a:ext cx="18288000" cy="140549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6480"/>
                </a:lnSpc>
              </a:pPr>
              <a:r>
                <a:rPr lang="en-US" sz="6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 Architecture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16577" y="2476500"/>
            <a:ext cx="15816672" cy="6082351"/>
            <a:chOff x="0" y="0"/>
            <a:chExt cx="21088896" cy="8109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088858" cy="8109839"/>
            </a:xfrm>
            <a:custGeom>
              <a:avLst/>
              <a:gdLst/>
              <a:ahLst/>
              <a:cxnLst/>
              <a:rect l="l" t="t" r="r" b="b"/>
              <a:pathLst>
                <a:path w="21088858" h="8109839">
                  <a:moveTo>
                    <a:pt x="0" y="0"/>
                  </a:moveTo>
                  <a:lnTo>
                    <a:pt x="21088858" y="0"/>
                  </a:lnTo>
                  <a:lnTo>
                    <a:pt x="21088858" y="8109839"/>
                  </a:lnTo>
                  <a:lnTo>
                    <a:pt x="0" y="810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6149980" y="9019308"/>
            <a:ext cx="2274751" cy="502650"/>
            <a:chOff x="0" y="0"/>
            <a:chExt cx="3033001" cy="670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033000" cy="670196"/>
            </a:xfrm>
            <a:custGeom>
              <a:avLst/>
              <a:gdLst/>
              <a:ahLst/>
              <a:cxnLst/>
              <a:rect l="l" t="t" r="r" b="b"/>
              <a:pathLst>
                <a:path w="3033000" h="670196">
                  <a:moveTo>
                    <a:pt x="0" y="0"/>
                  </a:moveTo>
                  <a:lnTo>
                    <a:pt x="3033000" y="0"/>
                  </a:lnTo>
                  <a:lnTo>
                    <a:pt x="3033000" y="670196"/>
                  </a:lnTo>
                  <a:lnTo>
                    <a:pt x="0" y="6701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179" b="-3818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3033001" cy="679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F3F3F"/>
                  </a:solidFill>
                  <a:latin typeface="Fira Sans"/>
                  <a:ea typeface="Fira Sans"/>
                  <a:cs typeface="Fira Sans"/>
                  <a:sym typeface="Fira Sans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9" name="Freeform 9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44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837053" y="430092"/>
            <a:ext cx="14934152" cy="1690650"/>
            <a:chOff x="0" y="0"/>
            <a:chExt cx="19912203" cy="2254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912200" cy="2254201"/>
            </a:xfrm>
            <a:custGeom>
              <a:avLst/>
              <a:gdLst/>
              <a:ahLst/>
              <a:cxnLst/>
              <a:rect l="l" t="t" r="r" b="b"/>
              <a:pathLst>
                <a:path w="19912200" h="2254201">
                  <a:moveTo>
                    <a:pt x="0" y="0"/>
                  </a:moveTo>
                  <a:lnTo>
                    <a:pt x="19912200" y="0"/>
                  </a:lnTo>
                  <a:lnTo>
                    <a:pt x="19912200" y="2254201"/>
                  </a:lnTo>
                  <a:lnTo>
                    <a:pt x="0" y="22542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2118" b="-122118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38100"/>
              <a:ext cx="19912203" cy="22161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6480"/>
                </a:lnSpc>
              </a:pPr>
              <a:r>
                <a:rPr lang="en-US" sz="6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Work done till now ( frontend part)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149980" y="9019308"/>
            <a:ext cx="2274751" cy="502650"/>
            <a:chOff x="0" y="0"/>
            <a:chExt cx="3033001" cy="670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33000" cy="670196"/>
            </a:xfrm>
            <a:custGeom>
              <a:avLst/>
              <a:gdLst/>
              <a:ahLst/>
              <a:cxnLst/>
              <a:rect l="l" t="t" r="r" b="b"/>
              <a:pathLst>
                <a:path w="3033000" h="670196">
                  <a:moveTo>
                    <a:pt x="0" y="0"/>
                  </a:moveTo>
                  <a:lnTo>
                    <a:pt x="3033000" y="0"/>
                  </a:lnTo>
                  <a:lnTo>
                    <a:pt x="3033000" y="670196"/>
                  </a:lnTo>
                  <a:lnTo>
                    <a:pt x="0" y="6701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179" b="-38181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3033001" cy="679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F3F3F"/>
                  </a:solidFill>
                  <a:latin typeface="Fira Sans"/>
                  <a:ea typeface="Fira Sans"/>
                  <a:cs typeface="Fira Sans"/>
                  <a:sym typeface="Fira Sans"/>
                </a:rPr>
                <a:t>12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52744" y="2564853"/>
            <a:ext cx="14934151" cy="7018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mobile-first, multilingual Single Page Application (SPA) using React 18, TypeScript, Vite, and Tailwind CSS for Ayurvedic herb traceability.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internationalization using react-i18next, supporting 10 languages with automatic browser language detection and persistent user preference via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modern, responsive UI/UX with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glassmorphism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dark mode, and smooth animations using Framer Motion, ensuring accessibility with ARIA labels and keyboard navigation.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QR-based verification system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jsQR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real-time camera scanning, image upload-based scanning, and manual batch ID verification.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complete herb traceability workflow: Upload → AI Verification → Blockchain Record → QR Code Generation → Consumer Verification.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the application using a modular and scalable architecture, including reusable components, custom hooks, and an organized directory structure.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styling and class management using Tailwind CSS,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clsx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tailwind-merge.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Built and configured the application using Vite for fast development, hot module replacement, and optimized production builds.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Implemented a feature-rich upload system with drag-and-drop image upload, automatic geo-tagging using the browser Geolocation API, batch metadata input (herb name, location, harvest date, quantity, farmer ID), and real-time progress indicators with success and error states.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Developed a verification module displaying herb details and origin, AI confidence score, verification timestamp, and blockchain hash to ensure transparency.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Created a consumer dashboard featuring user-specific statistics, upload history tracking, and activity monitoring.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Integrated an AI chatbot interface for user assistance and interaction. 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5104" lvl="1" algn="l">
              <a:lnSpc>
                <a:spcPts val="2279"/>
              </a:lnSpc>
            </a:pPr>
            <a:endParaRPr lang="en-US" sz="18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536646" y="2101692"/>
            <a:ext cx="8019026" cy="265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160"/>
              </a:lnSpc>
              <a:buAutoNum type="arabicPeriod"/>
            </a:pPr>
            <a:endParaRPr lang="en-US" sz="1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9" name="Freeform 9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44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599498" y="540451"/>
            <a:ext cx="13941904" cy="1469931"/>
            <a:chOff x="0" y="0"/>
            <a:chExt cx="18589206" cy="19599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589200" cy="1959912"/>
            </a:xfrm>
            <a:custGeom>
              <a:avLst/>
              <a:gdLst/>
              <a:ahLst/>
              <a:cxnLst/>
              <a:rect l="l" t="t" r="r" b="b"/>
              <a:pathLst>
                <a:path w="18589200" h="1959912">
                  <a:moveTo>
                    <a:pt x="0" y="0"/>
                  </a:moveTo>
                  <a:lnTo>
                    <a:pt x="18589200" y="0"/>
                  </a:lnTo>
                  <a:lnTo>
                    <a:pt x="18589200" y="1959912"/>
                  </a:lnTo>
                  <a:lnTo>
                    <a:pt x="0" y="1959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991" b="-250628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38100"/>
              <a:ext cx="18589206" cy="192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6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Work done till now ( CNN part)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14956" y="2010382"/>
            <a:ext cx="7234868" cy="3474563"/>
            <a:chOff x="0" y="0"/>
            <a:chExt cx="20209947" cy="970587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209949" cy="9705868"/>
            </a:xfrm>
            <a:custGeom>
              <a:avLst/>
              <a:gdLst/>
              <a:ahLst/>
              <a:cxnLst/>
              <a:rect l="l" t="t" r="r" b="b"/>
              <a:pathLst>
                <a:path w="20209949" h="9705868">
                  <a:moveTo>
                    <a:pt x="0" y="0"/>
                  </a:moveTo>
                  <a:lnTo>
                    <a:pt x="20209949" y="0"/>
                  </a:lnTo>
                  <a:lnTo>
                    <a:pt x="20209949" y="9705868"/>
                  </a:lnTo>
                  <a:lnTo>
                    <a:pt x="0" y="97058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882" r="-20181" b="2236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0209947" cy="97249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u="sng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Preprocessing &amp; Augmentation</a:t>
              </a:r>
            </a:p>
            <a:p>
              <a:pPr marL="431810" lvl="1" indent="-215905" algn="l">
                <a:lnSpc>
                  <a:spcPts val="240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Applied </a:t>
              </a:r>
              <a:r>
                <a:rPr lang="en-US" sz="20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ImageDataGenerator</a:t>
              </a:r>
              <a:r>
                <a:rPr lang="en-US" sz="2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for preprocessing and augmentation:</a:t>
              </a:r>
            </a:p>
            <a:p>
              <a:pPr marL="863621" lvl="2" indent="-287874" algn="l">
                <a:lnSpc>
                  <a:spcPts val="2400"/>
                </a:lnSpc>
                <a:buFont typeface="Arial"/>
                <a:buChar char="⚬"/>
              </a:pPr>
              <a:r>
                <a:rPr lang="en-US" sz="2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Rescaling pixel values (1./255 normalization)</a:t>
              </a:r>
            </a:p>
            <a:p>
              <a:pPr marL="863621" lvl="2" indent="-287874" algn="l">
                <a:lnSpc>
                  <a:spcPts val="2400"/>
                </a:lnSpc>
                <a:buFont typeface="Arial"/>
                <a:buChar char="⚬"/>
              </a:pPr>
              <a:r>
                <a:rPr lang="en-US" sz="2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Rotation (30°)</a:t>
              </a:r>
            </a:p>
            <a:p>
              <a:pPr marL="863621" lvl="2" indent="-287874" algn="l">
                <a:lnSpc>
                  <a:spcPts val="2400"/>
                </a:lnSpc>
                <a:buFont typeface="Arial"/>
                <a:buChar char="⚬"/>
              </a:pPr>
              <a:r>
                <a:rPr lang="en-US" sz="2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Zoom (0.3)</a:t>
              </a:r>
            </a:p>
            <a:p>
              <a:pPr marL="863621" lvl="2" indent="-287874" algn="l">
                <a:lnSpc>
                  <a:spcPts val="2400"/>
                </a:lnSpc>
                <a:buFont typeface="Arial"/>
                <a:buChar char="⚬"/>
              </a:pPr>
              <a:r>
                <a:rPr lang="en-US" sz="2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Horizontal flipping</a:t>
              </a:r>
            </a:p>
            <a:p>
              <a:pPr marL="863621" lvl="2" indent="-287874" algn="l">
                <a:lnSpc>
                  <a:spcPts val="2400"/>
                </a:lnSpc>
                <a:buFont typeface="Arial"/>
                <a:buChar char="⚬"/>
              </a:pPr>
              <a:r>
                <a:rPr lang="en-US" sz="2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Shear transformation (0.2)</a:t>
              </a:r>
            </a:p>
            <a:p>
              <a:pPr marL="863621" lvl="2" indent="-287874" algn="l">
                <a:lnSpc>
                  <a:spcPts val="2400"/>
                </a:lnSpc>
                <a:buFont typeface="Arial"/>
                <a:buChar char="⚬"/>
              </a:pPr>
              <a:r>
                <a:rPr lang="en-US" sz="2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Brightness variation (0.8–1.2)</a:t>
              </a:r>
            </a:p>
            <a:p>
              <a:pPr marL="431810" lvl="1" indent="-215905" algn="l">
                <a:lnSpc>
                  <a:spcPts val="240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Split dataset using 80% training / 20% validation</a:t>
              </a:r>
            </a:p>
            <a:p>
              <a:pPr marL="431810" lvl="1" indent="-215905" algn="l">
                <a:lnSpc>
                  <a:spcPts val="2400"/>
                </a:lnSpc>
                <a:buFont typeface="Arial"/>
                <a:buChar char="•"/>
              </a:pPr>
              <a:r>
                <a:rPr lang="en-US" sz="2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Dataset contains 1300+ images across 10 herb classes</a:t>
              </a:r>
            </a:p>
            <a:p>
              <a:pPr algn="l">
                <a:lnSpc>
                  <a:spcPts val="2400"/>
                </a:lnSpc>
              </a:pPr>
              <a:endPara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254411" y="8794490"/>
            <a:ext cx="3024311" cy="744736"/>
            <a:chOff x="0" y="0"/>
            <a:chExt cx="4032415" cy="99298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032420" cy="992976"/>
            </a:xfrm>
            <a:custGeom>
              <a:avLst/>
              <a:gdLst/>
              <a:ahLst/>
              <a:cxnLst/>
              <a:rect l="l" t="t" r="r" b="b"/>
              <a:pathLst>
                <a:path w="4032420" h="992976">
                  <a:moveTo>
                    <a:pt x="0" y="0"/>
                  </a:moveTo>
                  <a:lnTo>
                    <a:pt x="4032420" y="0"/>
                  </a:lnTo>
                  <a:lnTo>
                    <a:pt x="4032420" y="992976"/>
                  </a:lnTo>
                  <a:lnTo>
                    <a:pt x="0" y="992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126" b="-29128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4032415" cy="1002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F3F3F"/>
                  </a:solidFill>
                  <a:latin typeface="Fira Sans"/>
                  <a:ea typeface="Fira Sans"/>
                  <a:cs typeface="Fira Sans"/>
                  <a:sym typeface="Fira Sans"/>
                </a:rPr>
                <a:t>13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614956" y="5608156"/>
            <a:ext cx="7234868" cy="2811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u="sng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Model Architecture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Base model: MobileNetV5 (feature extractor)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Fine-tuned by freezing all layers except last ~30 layers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Custom classification head:</a:t>
            </a:r>
          </a:p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     - GlobalAveragePooling2D (reduces spatial dimensions)</a:t>
            </a:r>
          </a:p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     - Dense layer (256 units, </a:t>
            </a:r>
            <a:r>
              <a:rPr lang="en-US" sz="1800" dirty="0" err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ReLU</a:t>
            </a: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activation)</a:t>
            </a:r>
          </a:p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     - Dropout (0.5) for regularization</a:t>
            </a:r>
          </a:p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     - Dense layer (128 units, </a:t>
            </a:r>
            <a:r>
              <a:rPr lang="en-US" sz="1800" dirty="0" err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ReLU</a:t>
            </a: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activation)</a:t>
            </a:r>
          </a:p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     - Dropout (0.3)</a:t>
            </a:r>
          </a:p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     - Output layer with </a:t>
            </a:r>
            <a:r>
              <a:rPr lang="en-US" sz="1800" dirty="0" err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Softmax</a:t>
            </a: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activation (multi-class classification)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70450" y="2000857"/>
            <a:ext cx="6395258" cy="2811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u="sng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Training Configuration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Epochs: 50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Batch size: 16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Optimizer: Adam (learning rate = 0.0001)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Loss function: Categorical </a:t>
            </a:r>
            <a:r>
              <a:rPr lang="en-US" sz="1800" dirty="0" err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Crossentropy</a:t>
            </a:r>
            <a:endParaRPr lang="en-US" sz="1800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Metrics: Accuracy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Implemented Early Stopping:</a:t>
            </a:r>
          </a:p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     - Monitors validation loss</a:t>
            </a:r>
          </a:p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     - Patience = 5</a:t>
            </a:r>
          </a:p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     - Restores best model weights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70450" y="5036865"/>
            <a:ext cx="6395258" cy="3940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u="sng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Model Evaluation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Generated predictions on validation dataset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Evaluated using:</a:t>
            </a:r>
          </a:p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     - Confusion Matrix (visualized using Seaborn heatmap)</a:t>
            </a:r>
          </a:p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     - Classification Report (Precision, Recall, F1-score)</a:t>
            </a:r>
          </a:p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     - Achieved approximately:</a:t>
            </a:r>
          </a:p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     - ~85% validation accuracy</a:t>
            </a:r>
          </a:p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     - Strong performance across most herb categories</a:t>
            </a:r>
          </a:p>
          <a:p>
            <a:pPr algn="ctr">
              <a:lnSpc>
                <a:spcPts val="2160"/>
              </a:lnSpc>
            </a:pPr>
            <a:endParaRPr lang="en-US" sz="1800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u="sng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Visualization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Plotted: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     - Training vs Validation Accuracy curves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     - Training vs Validation Loss curves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     - Used Matplotlib for performance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848761" y="339185"/>
            <a:ext cx="930842" cy="689515"/>
            <a:chOff x="0" y="0"/>
            <a:chExt cx="1456944" cy="1079221"/>
          </a:xfrm>
        </p:grpSpPr>
        <p:sp>
          <p:nvSpPr>
            <p:cNvPr id="9" name="Freeform 9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44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90789" y="212360"/>
            <a:ext cx="2920809" cy="893679"/>
            <a:chOff x="0" y="0"/>
            <a:chExt cx="4632516" cy="14174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533130" y="659199"/>
            <a:ext cx="13941904" cy="1469931"/>
            <a:chOff x="0" y="0"/>
            <a:chExt cx="18589206" cy="19599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589200" cy="1959912"/>
            </a:xfrm>
            <a:custGeom>
              <a:avLst/>
              <a:gdLst/>
              <a:ahLst/>
              <a:cxnLst/>
              <a:rect l="l" t="t" r="r" b="b"/>
              <a:pathLst>
                <a:path w="18589200" h="1959912">
                  <a:moveTo>
                    <a:pt x="0" y="0"/>
                  </a:moveTo>
                  <a:lnTo>
                    <a:pt x="18589200" y="0"/>
                  </a:lnTo>
                  <a:lnTo>
                    <a:pt x="18589200" y="1959912"/>
                  </a:lnTo>
                  <a:lnTo>
                    <a:pt x="0" y="1959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991" b="-250628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38100"/>
              <a:ext cx="18589206" cy="192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38"/>
                </a:lnSpc>
              </a:pPr>
              <a:r>
                <a:rPr lang="en-US" sz="73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Implementation (Screenshots)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254411" y="8794490"/>
            <a:ext cx="3024311" cy="744736"/>
            <a:chOff x="0" y="0"/>
            <a:chExt cx="4032415" cy="9929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032420" cy="992976"/>
            </a:xfrm>
            <a:custGeom>
              <a:avLst/>
              <a:gdLst/>
              <a:ahLst/>
              <a:cxnLst/>
              <a:rect l="l" t="t" r="r" b="b"/>
              <a:pathLst>
                <a:path w="4032420" h="992976">
                  <a:moveTo>
                    <a:pt x="0" y="0"/>
                  </a:moveTo>
                  <a:lnTo>
                    <a:pt x="4032420" y="0"/>
                  </a:lnTo>
                  <a:lnTo>
                    <a:pt x="4032420" y="992976"/>
                  </a:lnTo>
                  <a:lnTo>
                    <a:pt x="0" y="9929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126" b="-29128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4032415" cy="10025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F3F3F"/>
                  </a:solidFill>
                  <a:latin typeface="Fira Sans"/>
                  <a:ea typeface="Fira Sans"/>
                  <a:cs typeface="Fira Sans"/>
                  <a:sym typeface="Fira Sans"/>
                </a:rPr>
                <a:t>14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47650" y="9273540"/>
            <a:ext cx="1257300" cy="1185739"/>
            <a:chOff x="0" y="0"/>
            <a:chExt cx="1676400" cy="15809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1028700" y="5195995"/>
            <a:ext cx="5875683" cy="3049058"/>
          </a:xfrm>
          <a:custGeom>
            <a:avLst/>
            <a:gdLst/>
            <a:ahLst/>
            <a:cxnLst/>
            <a:rect l="l" t="t" r="r" b="b"/>
            <a:pathLst>
              <a:path w="5875683" h="3049058">
                <a:moveTo>
                  <a:pt x="0" y="0"/>
                </a:moveTo>
                <a:lnTo>
                  <a:pt x="5875683" y="0"/>
                </a:lnTo>
                <a:lnTo>
                  <a:pt x="5875683" y="3049059"/>
                </a:lnTo>
                <a:lnTo>
                  <a:pt x="0" y="30490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559" b="-4559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335405" y="2318171"/>
            <a:ext cx="3838013" cy="5926882"/>
          </a:xfrm>
          <a:custGeom>
            <a:avLst/>
            <a:gdLst/>
            <a:ahLst/>
            <a:cxnLst/>
            <a:rect l="l" t="t" r="r" b="b"/>
            <a:pathLst>
              <a:path w="3838013" h="5926882">
                <a:moveTo>
                  <a:pt x="0" y="0"/>
                </a:moveTo>
                <a:lnTo>
                  <a:pt x="3838013" y="0"/>
                </a:lnTo>
                <a:lnTo>
                  <a:pt x="3838013" y="5926883"/>
                </a:lnTo>
                <a:lnTo>
                  <a:pt x="0" y="59268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7256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7012799" y="2304059"/>
            <a:ext cx="5863260" cy="2763713"/>
          </a:xfrm>
          <a:custGeom>
            <a:avLst/>
            <a:gdLst/>
            <a:ahLst/>
            <a:cxnLst/>
            <a:rect l="l" t="t" r="r" b="b"/>
            <a:pathLst>
              <a:path w="5863260" h="2763713">
                <a:moveTo>
                  <a:pt x="0" y="0"/>
                </a:moveTo>
                <a:lnTo>
                  <a:pt x="5863260" y="0"/>
                </a:lnTo>
                <a:lnTo>
                  <a:pt x="5863260" y="2763713"/>
                </a:lnTo>
                <a:lnTo>
                  <a:pt x="0" y="27637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2895" b="-3417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7012799" y="5195995"/>
            <a:ext cx="5863260" cy="3049058"/>
          </a:xfrm>
          <a:custGeom>
            <a:avLst/>
            <a:gdLst/>
            <a:ahLst/>
            <a:cxnLst/>
            <a:rect l="l" t="t" r="r" b="b"/>
            <a:pathLst>
              <a:path w="5863260" h="3049058">
                <a:moveTo>
                  <a:pt x="0" y="0"/>
                </a:moveTo>
                <a:lnTo>
                  <a:pt x="5863260" y="0"/>
                </a:lnTo>
                <a:lnTo>
                  <a:pt x="5863260" y="3049059"/>
                </a:lnTo>
                <a:lnTo>
                  <a:pt x="0" y="30490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469" r="-5469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028700" y="2318171"/>
            <a:ext cx="5875683" cy="2776260"/>
          </a:xfrm>
          <a:custGeom>
            <a:avLst/>
            <a:gdLst/>
            <a:ahLst/>
            <a:cxnLst/>
            <a:rect l="l" t="t" r="r" b="b"/>
            <a:pathLst>
              <a:path w="5875683" h="2776260">
                <a:moveTo>
                  <a:pt x="0" y="0"/>
                </a:moveTo>
                <a:lnTo>
                  <a:pt x="5875683" y="0"/>
                </a:lnTo>
                <a:lnTo>
                  <a:pt x="5875683" y="2776261"/>
                </a:lnTo>
                <a:lnTo>
                  <a:pt x="0" y="27762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013249" y="8618490"/>
            <a:ext cx="2274751" cy="502650"/>
            <a:chOff x="0" y="0"/>
            <a:chExt cx="3033001" cy="670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33000" cy="670196"/>
            </a:xfrm>
            <a:custGeom>
              <a:avLst/>
              <a:gdLst/>
              <a:ahLst/>
              <a:cxnLst/>
              <a:rect l="l" t="t" r="r" b="b"/>
              <a:pathLst>
                <a:path w="3033000" h="670196">
                  <a:moveTo>
                    <a:pt x="0" y="0"/>
                  </a:moveTo>
                  <a:lnTo>
                    <a:pt x="3033000" y="0"/>
                  </a:lnTo>
                  <a:lnTo>
                    <a:pt x="3033000" y="670196"/>
                  </a:lnTo>
                  <a:lnTo>
                    <a:pt x="0" y="6701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234" b="-1923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3033001" cy="679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F3F3F"/>
                  </a:solidFill>
                  <a:latin typeface="Fira Sans"/>
                  <a:ea typeface="Fira Sans"/>
                  <a:cs typeface="Fira Sans"/>
                  <a:sym typeface="Fira Sans"/>
                </a:rPr>
                <a:t>15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247650" y="9273540"/>
            <a:ext cx="16588325" cy="1185739"/>
            <a:chOff x="0" y="0"/>
            <a:chExt cx="22117767" cy="15809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17766" cy="1581023"/>
            </a:xfrm>
            <a:custGeom>
              <a:avLst/>
              <a:gdLst/>
              <a:ahLst/>
              <a:cxnLst/>
              <a:rect l="l" t="t" r="r" b="b"/>
              <a:pathLst>
                <a:path w="22117766" h="1581023">
                  <a:moveTo>
                    <a:pt x="0" y="0"/>
                  </a:moveTo>
                  <a:lnTo>
                    <a:pt x="22117766" y="0"/>
                  </a:lnTo>
                  <a:lnTo>
                    <a:pt x="22117766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5254411" y="9273540"/>
            <a:ext cx="3033589" cy="1033339"/>
            <a:chOff x="0" y="0"/>
            <a:chExt cx="4044785" cy="13777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44823" cy="1377823"/>
            </a:xfrm>
            <a:custGeom>
              <a:avLst/>
              <a:gdLst/>
              <a:ahLst/>
              <a:cxnLst/>
              <a:rect l="l" t="t" r="r" b="b"/>
              <a:pathLst>
                <a:path w="4044823" h="1377823">
                  <a:moveTo>
                    <a:pt x="0" y="0"/>
                  </a:moveTo>
                  <a:lnTo>
                    <a:pt x="4044823" y="0"/>
                  </a:lnTo>
                  <a:lnTo>
                    <a:pt x="4044823" y="1377823"/>
                  </a:lnTo>
                  <a:lnTo>
                    <a:pt x="0" y="137782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290789" y="212360"/>
            <a:ext cx="2920809" cy="893679"/>
            <a:chOff x="0" y="0"/>
            <a:chExt cx="4632516" cy="141740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 b="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6848761" y="339185"/>
            <a:ext cx="930842" cy="689515"/>
            <a:chOff x="0" y="0"/>
            <a:chExt cx="1456944" cy="1079221"/>
          </a:xfrm>
        </p:grpSpPr>
        <p:sp>
          <p:nvSpPr>
            <p:cNvPr id="14" name="Freeform 14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447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2533130" y="659199"/>
            <a:ext cx="13941904" cy="1469931"/>
            <a:chOff x="0" y="0"/>
            <a:chExt cx="18589206" cy="195990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89200" cy="1959912"/>
            </a:xfrm>
            <a:custGeom>
              <a:avLst/>
              <a:gdLst/>
              <a:ahLst/>
              <a:cxnLst/>
              <a:rect l="l" t="t" r="r" b="b"/>
              <a:pathLst>
                <a:path w="18589200" h="1959912">
                  <a:moveTo>
                    <a:pt x="0" y="0"/>
                  </a:moveTo>
                  <a:lnTo>
                    <a:pt x="18589200" y="0"/>
                  </a:lnTo>
                  <a:lnTo>
                    <a:pt x="18589200" y="1959912"/>
                  </a:lnTo>
                  <a:lnTo>
                    <a:pt x="0" y="1959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991" b="-250628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38100"/>
              <a:ext cx="18589206" cy="1921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38"/>
                </a:lnSpc>
              </a:pPr>
              <a:r>
                <a:rPr lang="en-US" sz="73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Implementation (Screenshots)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2535588" y="2259220"/>
            <a:ext cx="3747811" cy="3290818"/>
          </a:xfrm>
          <a:custGeom>
            <a:avLst/>
            <a:gdLst/>
            <a:ahLst/>
            <a:cxnLst/>
            <a:rect l="l" t="t" r="r" b="b"/>
            <a:pathLst>
              <a:path w="6986812" h="6740685">
                <a:moveTo>
                  <a:pt x="0" y="0"/>
                </a:moveTo>
                <a:lnTo>
                  <a:pt x="6986812" y="0"/>
                </a:lnTo>
                <a:lnTo>
                  <a:pt x="6986812" y="6740685"/>
                </a:lnTo>
                <a:lnTo>
                  <a:pt x="0" y="67406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69" r="-186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9" name="Freeform 19"/>
          <p:cNvSpPr/>
          <p:nvPr/>
        </p:nvSpPr>
        <p:spPr>
          <a:xfrm>
            <a:off x="6661038" y="2157705"/>
            <a:ext cx="4410100" cy="3477934"/>
          </a:xfrm>
          <a:custGeom>
            <a:avLst/>
            <a:gdLst/>
            <a:ahLst/>
            <a:cxnLst/>
            <a:rect l="l" t="t" r="r" b="b"/>
            <a:pathLst>
              <a:path w="4410100" h="3477934">
                <a:moveTo>
                  <a:pt x="0" y="0"/>
                </a:moveTo>
                <a:lnTo>
                  <a:pt x="4410100" y="0"/>
                </a:lnTo>
                <a:lnTo>
                  <a:pt x="4410100" y="3477934"/>
                </a:lnTo>
                <a:lnTo>
                  <a:pt x="0" y="34779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37" r="-437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807816" y="5711028"/>
            <a:ext cx="4265780" cy="3243942"/>
          </a:xfrm>
          <a:custGeom>
            <a:avLst/>
            <a:gdLst/>
            <a:ahLst/>
            <a:cxnLst/>
            <a:rect l="l" t="t" r="r" b="b"/>
            <a:pathLst>
              <a:path w="4265780" h="2983814">
                <a:moveTo>
                  <a:pt x="0" y="0"/>
                </a:moveTo>
                <a:lnTo>
                  <a:pt x="4265780" y="0"/>
                </a:lnTo>
                <a:lnTo>
                  <a:pt x="4265780" y="2983814"/>
                </a:lnTo>
                <a:lnTo>
                  <a:pt x="0" y="29838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642" b="-11880"/>
            </a:stretch>
          </a:blipFill>
        </p:spPr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2B2E803-8551-9ADB-FAC4-E12115B0D1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818" y="5529147"/>
            <a:ext cx="5407698" cy="350406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3A7426C-E18B-A96C-33D0-099332374E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26963" y="2280301"/>
            <a:ext cx="5687219" cy="322942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215E71C-EEFF-030C-6CCC-451945AD1F6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26963" y="5731368"/>
            <a:ext cx="5687219" cy="33018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9" name="Freeform 9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44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529739" y="894964"/>
            <a:ext cx="14934152" cy="2707763"/>
            <a:chOff x="0" y="0"/>
            <a:chExt cx="19912203" cy="361035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912200" cy="3610351"/>
            </a:xfrm>
            <a:custGeom>
              <a:avLst/>
              <a:gdLst/>
              <a:ahLst/>
              <a:cxnLst/>
              <a:rect l="l" t="t" r="r" b="b"/>
              <a:pathLst>
                <a:path w="19912200" h="3610351">
                  <a:moveTo>
                    <a:pt x="0" y="0"/>
                  </a:moveTo>
                  <a:lnTo>
                    <a:pt x="19912200" y="0"/>
                  </a:lnTo>
                  <a:lnTo>
                    <a:pt x="19912200" y="3610351"/>
                  </a:lnTo>
                  <a:lnTo>
                    <a:pt x="0" y="36103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6247" b="-38684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38100"/>
              <a:ext cx="19912203" cy="35722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452"/>
                </a:lnSpc>
              </a:pPr>
              <a:r>
                <a:rPr lang="en-US" sz="6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Conclusion and QnA</a:t>
              </a:r>
            </a:p>
            <a:p>
              <a:pPr algn="ctr">
                <a:lnSpc>
                  <a:spcPts val="9720"/>
                </a:lnSpc>
              </a:pPr>
              <a:endParaRPr lang="en-US" sz="6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621165" y="3840851"/>
            <a:ext cx="14751301" cy="5466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6"/>
              </a:lnSpc>
            </a:pPr>
            <a:r>
              <a:rPr lang="en-US" sz="333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Our vision is to create a trusted and globally scalable ecosystem which is able to:-</a:t>
            </a:r>
          </a:p>
          <a:p>
            <a:pPr marL="848630" lvl="1" indent="-424315" algn="l">
              <a:lnSpc>
                <a:spcPts val="3676"/>
              </a:lnSpc>
              <a:buFont typeface="Arial"/>
              <a:buChar char="•"/>
            </a:pPr>
            <a:r>
              <a:rPr lang="en-US" sz="333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authentication for herbs and validate its purity</a:t>
            </a:r>
          </a:p>
          <a:p>
            <a:pPr marL="848630" lvl="1" indent="-424315" algn="l">
              <a:lnSpc>
                <a:spcPts val="3676"/>
              </a:lnSpc>
              <a:buFont typeface="Arial"/>
              <a:buChar char="•"/>
            </a:pPr>
            <a:r>
              <a:rPr lang="en-US" sz="333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transparent supply chain network</a:t>
            </a:r>
          </a:p>
          <a:p>
            <a:pPr marL="848630" lvl="1" indent="-424315" algn="l">
              <a:lnSpc>
                <a:spcPts val="3676"/>
              </a:lnSpc>
              <a:buFont typeface="Arial"/>
              <a:buChar char="•"/>
            </a:pPr>
            <a:r>
              <a:rPr lang="en-US" sz="333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 SDGs and create a system for sustainable farming</a:t>
            </a:r>
          </a:p>
          <a:p>
            <a:pPr marL="848630" lvl="1" indent="-424315" algn="l">
              <a:lnSpc>
                <a:spcPts val="3676"/>
              </a:lnSpc>
              <a:buFont typeface="Arial"/>
              <a:buChar char="•"/>
            </a:pPr>
            <a:r>
              <a:rPr lang="en-US" sz="333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Export ready ecosystem</a:t>
            </a:r>
          </a:p>
          <a:p>
            <a:pPr marL="848630" lvl="1" indent="-424315" algn="l">
              <a:lnSpc>
                <a:spcPts val="3676"/>
              </a:lnSpc>
              <a:buFont typeface="Arial"/>
              <a:buChar char="•"/>
            </a:pPr>
            <a:r>
              <a:rPr lang="en-US" sz="333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Inclusive for farmers</a:t>
            </a:r>
          </a:p>
          <a:p>
            <a:pPr marL="848630" lvl="1" indent="-424315" algn="ctr">
              <a:lnSpc>
                <a:spcPts val="3676"/>
              </a:lnSpc>
            </a:pPr>
            <a:endParaRPr lang="en-US" sz="333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01384" lvl="1" indent="-500692" algn="ctr">
              <a:lnSpc>
                <a:spcPts val="4338"/>
              </a:lnSpc>
            </a:pPr>
            <a:r>
              <a:rPr lang="en-US" sz="392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</a:p>
          <a:p>
            <a:pPr marL="848630" lvl="1" indent="-424315" algn="ctr">
              <a:lnSpc>
                <a:spcPts val="2877"/>
              </a:lnSpc>
            </a:pPr>
            <a:endParaRPr lang="en-US" sz="392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16149980" y="9019308"/>
            <a:ext cx="2274751" cy="502650"/>
            <a:chOff x="0" y="0"/>
            <a:chExt cx="3033001" cy="670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33000" cy="670196"/>
            </a:xfrm>
            <a:custGeom>
              <a:avLst/>
              <a:gdLst/>
              <a:ahLst/>
              <a:cxnLst/>
              <a:rect l="l" t="t" r="r" b="b"/>
              <a:pathLst>
                <a:path w="3033000" h="670196">
                  <a:moveTo>
                    <a:pt x="0" y="0"/>
                  </a:moveTo>
                  <a:lnTo>
                    <a:pt x="3033000" y="0"/>
                  </a:lnTo>
                  <a:lnTo>
                    <a:pt x="3033000" y="670196"/>
                  </a:lnTo>
                  <a:lnTo>
                    <a:pt x="0" y="6701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179" b="-3818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3033001" cy="679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F3F3F"/>
                  </a:solidFill>
                  <a:latin typeface="Fira Sans"/>
                  <a:ea typeface="Fira Sans"/>
                  <a:cs typeface="Fira Sans"/>
                  <a:sym typeface="Fira Sans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1140"/>
            <a:ext cx="1257300" cy="1185739"/>
            <a:chOff x="0" y="0"/>
            <a:chExt cx="1676400" cy="1580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6400" cy="1581023"/>
            </a:xfrm>
            <a:custGeom>
              <a:avLst/>
              <a:gdLst/>
              <a:ahLst/>
              <a:cxnLst/>
              <a:rect l="l" t="t" r="r" b="b"/>
              <a:pathLst>
                <a:path w="1676400" h="1581023">
                  <a:moveTo>
                    <a:pt x="0" y="0"/>
                  </a:moveTo>
                  <a:lnTo>
                    <a:pt x="1676400" y="0"/>
                  </a:lnTo>
                  <a:lnTo>
                    <a:pt x="1676400" y="1581023"/>
                  </a:lnTo>
                  <a:lnTo>
                    <a:pt x="0" y="158102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254411" y="9534525"/>
            <a:ext cx="3033589" cy="772354"/>
            <a:chOff x="0" y="0"/>
            <a:chExt cx="4044785" cy="10298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44823" cy="1029843"/>
            </a:xfrm>
            <a:custGeom>
              <a:avLst/>
              <a:gdLst/>
              <a:ahLst/>
              <a:cxnLst/>
              <a:rect l="l" t="t" r="r" b="b"/>
              <a:pathLst>
                <a:path w="4044823" h="1029843">
                  <a:moveTo>
                    <a:pt x="0" y="0"/>
                  </a:moveTo>
                  <a:lnTo>
                    <a:pt x="4044823" y="0"/>
                  </a:lnTo>
                  <a:lnTo>
                    <a:pt x="4044823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D9222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7300" y="9534525"/>
            <a:ext cx="13997121" cy="772354"/>
            <a:chOff x="0" y="0"/>
            <a:chExt cx="18662828" cy="10298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62777" cy="1029843"/>
            </a:xfrm>
            <a:custGeom>
              <a:avLst/>
              <a:gdLst/>
              <a:ahLst/>
              <a:cxnLst/>
              <a:rect l="l" t="t" r="r" b="b"/>
              <a:pathLst>
                <a:path w="18662777" h="1029843">
                  <a:moveTo>
                    <a:pt x="0" y="0"/>
                  </a:moveTo>
                  <a:lnTo>
                    <a:pt x="18662777" y="0"/>
                  </a:lnTo>
                  <a:lnTo>
                    <a:pt x="18662777" y="1029843"/>
                  </a:lnTo>
                  <a:lnTo>
                    <a:pt x="0" y="1029843"/>
                  </a:lnTo>
                  <a:close/>
                </a:path>
              </a:pathLst>
            </a:custGeom>
            <a:solidFill>
              <a:srgbClr val="A425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86895" y="339185"/>
            <a:ext cx="1092708" cy="809415"/>
            <a:chOff x="0" y="0"/>
            <a:chExt cx="1456944" cy="1079221"/>
          </a:xfrm>
        </p:grpSpPr>
        <p:sp>
          <p:nvSpPr>
            <p:cNvPr id="9" name="Freeform 9" descr="Graphical user interface, text, application  Description automatically generated"/>
            <p:cNvSpPr/>
            <p:nvPr/>
          </p:nvSpPr>
          <p:spPr>
            <a:xfrm>
              <a:off x="0" y="0"/>
              <a:ext cx="1456944" cy="1079246"/>
            </a:xfrm>
            <a:custGeom>
              <a:avLst/>
              <a:gdLst/>
              <a:ahLst/>
              <a:cxnLst/>
              <a:rect l="l" t="t" r="r" b="b"/>
              <a:pathLst>
                <a:path w="1456944" h="1079246">
                  <a:moveTo>
                    <a:pt x="0" y="0"/>
                  </a:moveTo>
                  <a:lnTo>
                    <a:pt x="1456944" y="0"/>
                  </a:lnTo>
                  <a:lnTo>
                    <a:pt x="1456944" y="1079246"/>
                  </a:lnTo>
                  <a:lnTo>
                    <a:pt x="0" y="1079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44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90789" y="212360"/>
            <a:ext cx="3474387" cy="1063057"/>
            <a:chOff x="0" y="0"/>
            <a:chExt cx="4632516" cy="141740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32452" cy="1417447"/>
            </a:xfrm>
            <a:custGeom>
              <a:avLst/>
              <a:gdLst/>
              <a:ahLst/>
              <a:cxnLst/>
              <a:rect l="l" t="t" r="r" b="b"/>
              <a:pathLst>
                <a:path w="4632452" h="1417447">
                  <a:moveTo>
                    <a:pt x="0" y="0"/>
                  </a:moveTo>
                  <a:lnTo>
                    <a:pt x="4632452" y="0"/>
                  </a:lnTo>
                  <a:lnTo>
                    <a:pt x="4632452" y="1417447"/>
                  </a:lnTo>
                  <a:lnTo>
                    <a:pt x="0" y="1417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368839" y="710346"/>
            <a:ext cx="13716000" cy="1020604"/>
            <a:chOff x="0" y="0"/>
            <a:chExt cx="18288000" cy="136080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88000" cy="1360800"/>
            </a:xfrm>
            <a:custGeom>
              <a:avLst/>
              <a:gdLst/>
              <a:ahLst/>
              <a:cxnLst/>
              <a:rect l="l" t="t" r="r" b="b"/>
              <a:pathLst>
                <a:path w="18288000" h="1360800">
                  <a:moveTo>
                    <a:pt x="0" y="0"/>
                  </a:moveTo>
                  <a:lnTo>
                    <a:pt x="18288000" y="0"/>
                  </a:lnTo>
                  <a:lnTo>
                    <a:pt x="18288000" y="1360800"/>
                  </a:lnTo>
                  <a:lnTo>
                    <a:pt x="0" y="1360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1862" b="-211862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38100"/>
              <a:ext cx="18288000" cy="132270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6480"/>
                </a:lnSpc>
              </a:pPr>
              <a:r>
                <a:rPr lang="en-US" sz="6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149980" y="9019308"/>
            <a:ext cx="2274751" cy="502650"/>
            <a:chOff x="0" y="0"/>
            <a:chExt cx="3033001" cy="670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33000" cy="670196"/>
            </a:xfrm>
            <a:custGeom>
              <a:avLst/>
              <a:gdLst/>
              <a:ahLst/>
              <a:cxnLst/>
              <a:rect l="l" t="t" r="r" b="b"/>
              <a:pathLst>
                <a:path w="3033000" h="670196">
                  <a:moveTo>
                    <a:pt x="0" y="0"/>
                  </a:moveTo>
                  <a:lnTo>
                    <a:pt x="3033000" y="0"/>
                  </a:lnTo>
                  <a:lnTo>
                    <a:pt x="3033000" y="670196"/>
                  </a:lnTo>
                  <a:lnTo>
                    <a:pt x="0" y="6701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179" b="-38181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3033001" cy="679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3F3F3F"/>
                  </a:solidFill>
                  <a:latin typeface="Fira Sans"/>
                  <a:ea typeface="Fira Sans"/>
                  <a:cs typeface="Fira Sans"/>
                  <a:sym typeface="Fira Sans"/>
                </a:rPr>
                <a:t>17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28650" y="2274741"/>
            <a:ext cx="17259300" cy="620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399"/>
              </a:lnSpc>
              <a:buAutoNum type="arabicPeriod"/>
            </a:pPr>
            <a:r>
              <a:rPr lang="en-US" sz="1999" dirty="0" err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Kunjachan</a:t>
            </a:r>
            <a:r>
              <a:rPr lang="en-US" sz="1999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, S., Remya, R., Kumar, S., Asish, G. R., Sheela, K., &amp; Kala, S. (2023). Comparative Study of Convolutional Neural Networks for Leaf Classification in Ayurveda. International Conference on Green Energy, Computing and Intelligent Technology (</a:t>
            </a:r>
            <a:r>
              <a:rPr lang="en-US" sz="1999" dirty="0" err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GEn-CITy</a:t>
            </a:r>
            <a:r>
              <a:rPr lang="en-US" sz="1999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2023), 10–12 July 2023.</a:t>
            </a:r>
          </a:p>
          <a:p>
            <a:pPr marL="431799" lvl="1" indent="-215899" algn="l">
              <a:lnSpc>
                <a:spcPts val="2399"/>
              </a:lnSpc>
              <a:buAutoNum type="arabicPeriod"/>
            </a:pPr>
            <a:r>
              <a:rPr lang="en-US" sz="1999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Kaushik, R., Kumar, S., &amp; Pathak, S. (2025). End-to-end traceability in Ayush drug supply chains: Challenges, opportunities, and policy perspectives. International Journal of Ayurveda Research, 6(4), 379–386. https://doi.org/10.4103/ijar.ijar_318_25</a:t>
            </a:r>
          </a:p>
          <a:p>
            <a:pPr marL="431799" lvl="1" indent="-215899" algn="l">
              <a:lnSpc>
                <a:spcPts val="2399"/>
              </a:lnSpc>
              <a:buAutoNum type="arabicPeriod"/>
            </a:pPr>
            <a:r>
              <a:rPr lang="en-US" sz="1999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Uniyal, P., Singh, C., &amp; Dinesh, G. (n.d.). Leveraging Deep Learning and Blockchain for Enhanced Transparency and Traceability in the Indian Herbal Product Supply Chain. Dept of Computational Intelligence, School of Computing, SRM Institute of Science and Technology.</a:t>
            </a:r>
          </a:p>
          <a:p>
            <a:pPr marL="431799" lvl="1" indent="-215899" algn="l">
              <a:lnSpc>
                <a:spcPts val="2399"/>
              </a:lnSpc>
              <a:buAutoNum type="arabicPeriod"/>
            </a:pPr>
            <a:r>
              <a:rPr lang="en-US" sz="1999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Liu, J., Peng, S., Luo, J., Tang, Z., &amp; Liu, H. (2021). Segmented Encryption: A Quality and Safety Supervisory Model for Herbal Medicine Based on Blockchain Technology. IEEE International Conference on E-health Networking, Application &amp; Services (HEALTHCOM).</a:t>
            </a:r>
          </a:p>
          <a:p>
            <a:pPr marL="431799" lvl="1" indent="-215899" algn="l">
              <a:lnSpc>
                <a:spcPts val="2399"/>
              </a:lnSpc>
              <a:buAutoNum type="arabicPeriod"/>
            </a:pPr>
            <a:r>
              <a:rPr lang="en-US" sz="1999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Rout, S. K. (2025). </a:t>
            </a:r>
            <a:r>
              <a:rPr lang="en-US" sz="1999" dirty="0" err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MedicLedger</a:t>
            </a:r>
            <a:r>
              <a:rPr lang="en-US" sz="1999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: Blockchain-Based Supply Chain Architecture for Ayurvedic Product Authentication and Compliance. International Journal of Computer Engineering and Technology (IJCET), 16(1), 1706–1721. https://doi.org/10.34218/IJCET_16_01_125</a:t>
            </a:r>
          </a:p>
          <a:p>
            <a:pPr marL="431799" lvl="1" indent="-215899" algn="l">
              <a:lnSpc>
                <a:spcPts val="2399"/>
              </a:lnSpc>
              <a:buAutoNum type="arabicPeriod"/>
            </a:pPr>
            <a:r>
              <a:rPr lang="en-US" sz="1999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Balaji, R., &amp; Parani, M. (2022). DNA Barcoding of the Market Samples of Single-Drug Herbal Powders Reveals Adulteration with Taxonomically Unrelated Plant Species. Diversity, 14(495). https://doi.org/10.3390/d14060495</a:t>
            </a:r>
          </a:p>
          <a:p>
            <a:pPr marL="431799" lvl="1" indent="-215899" algn="l">
              <a:lnSpc>
                <a:spcPts val="2399"/>
              </a:lnSpc>
              <a:buAutoNum type="arabicPeriod"/>
            </a:pPr>
            <a:r>
              <a:rPr lang="en-US" sz="1999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Liu, H., Dong, J., &amp; Ge, S. (2021). Traceability System for Rare Chinese Herbal Medicines Based on Blockchain Structure. 3rd International Conference on Artificial Intelligence and Advanced Manufacture (AIAM), 382–385.</a:t>
            </a:r>
          </a:p>
          <a:p>
            <a:pPr marL="431799" lvl="1" indent="-215899" algn="l">
              <a:lnSpc>
                <a:spcPts val="2399"/>
              </a:lnSpc>
              <a:buAutoNum type="arabicPeriod"/>
            </a:pPr>
            <a:r>
              <a:rPr lang="en-US" sz="1999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Kaushal, R. K., Kumar, N., Makka, S., &amp; Saluja, K. (2023). Demystifying Hyperledger Fabric Framework for Distributed Ledgers and Approach to Evaluate Its Performance. International Conference on Sustainable Emerging Innovations in Engineering and Technology (ICSEIET), 116–120. https://doi.org/10.1109/ICSEIET58677.2023.10303377</a:t>
            </a:r>
          </a:p>
          <a:p>
            <a:pPr marL="431799" lvl="1" indent="-215899" algn="l">
              <a:lnSpc>
                <a:spcPts val="2399"/>
              </a:lnSpc>
              <a:buAutoNum type="arabicPeriod"/>
            </a:pPr>
            <a:r>
              <a:rPr lang="en-US" sz="1999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Reddy, P. K., Mane, A., Islam, A., Singh, R., &amp; Khatoon, F. (2024). Integrating artificial intelligence and data analytics for supply chain optimization in the pharmaceutical industry. International Journal of Intelligent Systems and Applications in Engineering, 12, 934–941.</a:t>
            </a:r>
          </a:p>
          <a:p>
            <a:pPr marL="431799" lvl="1" indent="-215899" algn="l">
              <a:lnSpc>
                <a:spcPts val="2399"/>
              </a:lnSpc>
              <a:buAutoNum type="arabicPeriod"/>
            </a:pPr>
            <a:r>
              <a:rPr lang="en-US" sz="1999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Yik, M. H.-Y., Wong, V. C.-W. T., Wong, T.-H., &amp; Shaw, P.-C. (2021). </a:t>
            </a:r>
            <a:r>
              <a:rPr lang="en-US" sz="1999" dirty="0" err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HerBChain</a:t>
            </a:r>
            <a:r>
              <a:rPr lang="en-US" sz="1999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, a blockchain-based informative platform for quality assurance and quality control of herbal products. Journal of Traditional and Complementary Medicine, 11(6), 598–600. https://doi.org/10.1016/j.jtcme.2021.07.005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2246</Words>
  <Application>Microsoft Office PowerPoint</Application>
  <PresentationFormat>Custom</PresentationFormat>
  <Paragraphs>266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</vt:lpstr>
      <vt:lpstr>Fira Sans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&amp; Background</dc:title>
  <dc:creator>Aditya</dc:creator>
  <cp:lastModifiedBy>Aditya srinivas</cp:lastModifiedBy>
  <cp:revision>4</cp:revision>
  <dcterms:created xsi:type="dcterms:W3CDTF">2006-08-16T00:00:00Z</dcterms:created>
  <dcterms:modified xsi:type="dcterms:W3CDTF">2026-05-17T14:36:08Z</dcterms:modified>
  <dc:identifier>DAHGKWqUwh4</dc:identifier>
</cp:coreProperties>
</file>