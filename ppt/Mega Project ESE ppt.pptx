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60" r:id="rId5"/>
    <p:sldId id="262" r:id="rId6"/>
    <p:sldId id="259" r:id="rId7"/>
    <p:sldId id="263" r:id="rId8"/>
    <p:sldId id="264" r:id="rId9"/>
    <p:sldId id="275" r:id="rId10"/>
    <p:sldId id="265" r:id="rId11"/>
    <p:sldId id="266" r:id="rId12"/>
    <p:sldId id="267" r:id="rId13"/>
    <p:sldId id="268" r:id="rId14"/>
    <p:sldId id="270" r:id="rId15"/>
    <p:sldId id="274" r:id="rId16"/>
    <p:sldId id="271" r:id="rId17"/>
    <p:sldId id="273"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67DA13-7160-4DCC-B48F-E02D887C4039}" v="1" dt="2026-08-14T02:16:45.5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204" autoAdjust="0"/>
    <p:restoredTop sz="94660"/>
  </p:normalViewPr>
  <p:slideViewPr>
    <p:cSldViewPr snapToGrid="0" snapToObjects="1">
      <p:cViewPr varScale="1">
        <p:scale>
          <a:sx n="78" d="100"/>
          <a:sy n="78" d="100"/>
        </p:scale>
        <p:origin x="869"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ditya srinivas" userId="c8d410ddf7cb73ff" providerId="LiveId" clId="{76A080BB-AD6E-48B2-A789-BE7D00AF391F}"/>
    <pc:docChg chg="modSld">
      <pc:chgData name="Aditya srinivas" userId="c8d410ddf7cb73ff" providerId="LiveId" clId="{76A080BB-AD6E-48B2-A789-BE7D00AF391F}" dt="2026-08-14T02:20:04.964" v="5" actId="14100"/>
      <pc:docMkLst>
        <pc:docMk/>
      </pc:docMkLst>
      <pc:sldChg chg="modSp mod">
        <pc:chgData name="Aditya srinivas" userId="c8d410ddf7cb73ff" providerId="LiveId" clId="{76A080BB-AD6E-48B2-A789-BE7D00AF391F}" dt="2026-08-14T02:20:04.964" v="5" actId="14100"/>
        <pc:sldMkLst>
          <pc:docMk/>
          <pc:sldMk cId="0" sldId="267"/>
        </pc:sldMkLst>
        <pc:spChg chg="mod">
          <ac:chgData name="Aditya srinivas" userId="c8d410ddf7cb73ff" providerId="LiveId" clId="{76A080BB-AD6E-48B2-A789-BE7D00AF391F}" dt="2026-08-14T02:20:04.964" v="5" actId="14100"/>
          <ac:spMkLst>
            <pc:docMk/>
            <pc:sldMk cId="0" sldId="267"/>
            <ac:spMk id="5" creationId="{00000000-0000-0000-0000-000000000000}"/>
          </ac:spMkLst>
        </pc:spChg>
      </pc:sldChg>
      <pc:sldChg chg="addSp modSp">
        <pc:chgData name="Aditya srinivas" userId="c8d410ddf7cb73ff" providerId="LiveId" clId="{76A080BB-AD6E-48B2-A789-BE7D00AF391F}" dt="2026-08-14T02:16:45.563" v="0" actId="571"/>
        <pc:sldMkLst>
          <pc:docMk/>
          <pc:sldMk cId="0" sldId="270"/>
        </pc:sldMkLst>
        <pc:spChg chg="mod">
          <ac:chgData name="Aditya srinivas" userId="c8d410ddf7cb73ff" providerId="LiveId" clId="{76A080BB-AD6E-48B2-A789-BE7D00AF391F}" dt="2026-08-14T02:16:45.563" v="0" actId="571"/>
          <ac:spMkLst>
            <pc:docMk/>
            <pc:sldMk cId="0" sldId="270"/>
            <ac:spMk id="3" creationId="{5EB90AB6-4F02-939E-B642-E8730CA01E0E}"/>
          </ac:spMkLst>
        </pc:spChg>
        <pc:grpChg chg="add mod">
          <ac:chgData name="Aditya srinivas" userId="c8d410ddf7cb73ff" providerId="LiveId" clId="{76A080BB-AD6E-48B2-A789-BE7D00AF391F}" dt="2026-08-14T02:16:45.563" v="0" actId="571"/>
          <ac:grpSpMkLst>
            <pc:docMk/>
            <pc:sldMk cId="0" sldId="270"/>
            <ac:grpSpMk id="2" creationId="{462F5BED-B473-0B9F-58AE-3A39794755B0}"/>
          </ac:grpSpMkLst>
        </pc:gr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692EDC-8C61-49A8-953B-E9B265C3D9CD}" type="datetimeFigureOut">
              <a:rPr lang="en-IN" smtClean="0"/>
              <a:t>14-08-2026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A464D4-25F6-48A3-8591-6503D554C4C9}" type="slidenum">
              <a:rPr lang="en-IN" smtClean="0"/>
              <a:t>‹#›</a:t>
            </a:fld>
            <a:endParaRPr lang="en-IN"/>
          </a:p>
        </p:txBody>
      </p:sp>
    </p:spTree>
    <p:extLst>
      <p:ext uri="{BB962C8B-B14F-4D97-AF65-F5344CB8AC3E}">
        <p14:creationId xmlns:p14="http://schemas.microsoft.com/office/powerpoint/2010/main" val="3888076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8A464D4-25F6-48A3-8591-6503D554C4C9}" type="slidenum">
              <a:rPr lang="en-IN" smtClean="0"/>
              <a:t>1</a:t>
            </a:fld>
            <a:endParaRPr lang="en-IN"/>
          </a:p>
        </p:txBody>
      </p:sp>
    </p:spTree>
    <p:extLst>
      <p:ext uri="{BB962C8B-B14F-4D97-AF65-F5344CB8AC3E}">
        <p14:creationId xmlns:p14="http://schemas.microsoft.com/office/powerpoint/2010/main" val="20832031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6624000"/>
            <a:ext cx="12191695" cy="234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5093" y="2282014"/>
            <a:ext cx="10988543" cy="1661993"/>
          </a:xfrm>
          <a:prstGeom prst="rect">
            <a:avLst/>
          </a:prstGeom>
          <a:noFill/>
        </p:spPr>
        <p:txBody>
          <a:bodyPr wrap="square" lIns="0" tIns="0" rIns="0" bIns="0">
            <a:spAutoFit/>
          </a:bodyPr>
          <a:lstStyle/>
          <a:p>
            <a:pPr algn="l"/>
            <a:r>
              <a:rPr sz="3600" b="1" dirty="0" err="1">
                <a:latin typeface="Times New Roman"/>
              </a:rPr>
              <a:t>A</a:t>
            </a:r>
            <a:r>
              <a:rPr lang="en-US" sz="3600" b="1" dirty="0" err="1">
                <a:latin typeface="Times New Roman"/>
              </a:rPr>
              <a:t>yurAuth</a:t>
            </a:r>
            <a:r>
              <a:rPr lang="en-US" sz="3600" b="1" dirty="0">
                <a:latin typeface="Times New Roman"/>
              </a:rPr>
              <a:t> - A</a:t>
            </a:r>
            <a:r>
              <a:rPr sz="3600" b="1" dirty="0">
                <a:latin typeface="Times New Roman"/>
              </a:rPr>
              <a:t> Blockchain-Driven System for Authenticity,</a:t>
            </a:r>
            <a:r>
              <a:rPr lang="en-US" sz="3600" b="1" dirty="0">
                <a:latin typeface="Times New Roman"/>
              </a:rPr>
              <a:t> </a:t>
            </a:r>
            <a:r>
              <a:rPr sz="3600" b="1" dirty="0">
                <a:latin typeface="Times New Roman"/>
              </a:rPr>
              <a:t>Sustainability and Export Readiness of Ayurvedic Herbs</a:t>
            </a:r>
          </a:p>
        </p:txBody>
      </p:sp>
      <p:sp>
        <p:nvSpPr>
          <p:cNvPr id="8" name="TextBox 7"/>
          <p:cNvSpPr txBox="1"/>
          <p:nvPr/>
        </p:nvSpPr>
        <p:spPr>
          <a:xfrm>
            <a:off x="775092" y="4476480"/>
            <a:ext cx="6644473" cy="1015663"/>
          </a:xfrm>
          <a:prstGeom prst="rect">
            <a:avLst/>
          </a:prstGeom>
          <a:noFill/>
        </p:spPr>
        <p:txBody>
          <a:bodyPr wrap="square" lIns="0" tIns="0" rIns="0" bIns="0" anchor="ctr">
            <a:spAutoFit/>
          </a:bodyPr>
          <a:lstStyle/>
          <a:p>
            <a:pPr algn="l">
              <a:spcBef>
                <a:spcPts val="200"/>
              </a:spcBef>
              <a:spcAft>
                <a:spcPts val="200"/>
              </a:spcAft>
            </a:pPr>
            <a:r>
              <a:rPr sz="1400" b="0" i="0" dirty="0">
                <a:solidFill>
                  <a:srgbClr val="1A0A00"/>
                </a:solidFill>
                <a:latin typeface="Times New Roman"/>
              </a:rPr>
              <a:t>Under the guidance of: Prof. Jayesh Rane and </a:t>
            </a:r>
            <a:r>
              <a:rPr sz="1400" b="0" i="0" dirty="0" err="1">
                <a:solidFill>
                  <a:srgbClr val="1A0A00"/>
                </a:solidFill>
                <a:latin typeface="Times New Roman"/>
              </a:rPr>
              <a:t>Vijen</a:t>
            </a:r>
            <a:r>
              <a:rPr sz="1400" b="0" i="0" dirty="0">
                <a:solidFill>
                  <a:srgbClr val="1A0A00"/>
                </a:solidFill>
                <a:latin typeface="Times New Roman"/>
              </a:rPr>
              <a:t> Gala</a:t>
            </a:r>
          </a:p>
          <a:p>
            <a:pPr algn="l">
              <a:spcBef>
                <a:spcPts val="200"/>
              </a:spcBef>
              <a:spcAft>
                <a:spcPts val="200"/>
              </a:spcAft>
            </a:pPr>
            <a:r>
              <a:rPr sz="1400" b="0" i="0" dirty="0">
                <a:solidFill>
                  <a:srgbClr val="1A0A00"/>
                </a:solidFill>
                <a:latin typeface="Times New Roman"/>
              </a:rPr>
              <a:t>Aditya Rajesh Srinivas — 16014022115</a:t>
            </a:r>
          </a:p>
          <a:p>
            <a:pPr algn="l">
              <a:spcBef>
                <a:spcPts val="200"/>
              </a:spcBef>
              <a:spcAft>
                <a:spcPts val="200"/>
              </a:spcAft>
            </a:pPr>
            <a:r>
              <a:rPr sz="1400" b="0" i="0" dirty="0">
                <a:solidFill>
                  <a:srgbClr val="1A0A00"/>
                </a:solidFill>
                <a:latin typeface="Times New Roman"/>
              </a:rPr>
              <a:t>Shreya Vikas Jhamb   — 16014022121</a:t>
            </a:r>
          </a:p>
          <a:p>
            <a:pPr algn="l">
              <a:spcBef>
                <a:spcPts val="200"/>
              </a:spcBef>
              <a:spcAft>
                <a:spcPts val="200"/>
              </a:spcAft>
            </a:pPr>
            <a:endParaRPr sz="1400" b="0" i="0" dirty="0">
              <a:solidFill>
                <a:srgbClr val="1A0A00"/>
              </a:solidFill>
              <a:latin typeface="Times New Roman"/>
            </a:endParaRPr>
          </a:p>
        </p:txBody>
      </p:sp>
      <p:sp>
        <p:nvSpPr>
          <p:cNvPr id="9" name="TextBox 8"/>
          <p:cNvSpPr txBox="1"/>
          <p:nvPr/>
        </p:nvSpPr>
        <p:spPr>
          <a:xfrm>
            <a:off x="1067115" y="6265145"/>
            <a:ext cx="11327695" cy="324000"/>
          </a:xfrm>
          <a:prstGeom prst="rect">
            <a:avLst/>
          </a:prstGeom>
          <a:noFill/>
        </p:spPr>
        <p:txBody>
          <a:bodyPr wrap="none" lIns="0" tIns="0" rIns="0" bIns="0" anchor="ctr">
            <a:spAutoFit/>
          </a:bodyPr>
          <a:lstStyle/>
          <a:p>
            <a:pPr algn="ctr"/>
            <a:r>
              <a:rPr lang="en-IN" sz="1100" b="0" i="0" dirty="0">
                <a:solidFill>
                  <a:srgbClr val="FDF6E3"/>
                </a:solidFill>
                <a:latin typeface="Times New Roman"/>
              </a:rPr>
              <a:t>Slide  1  of  18     </a:t>
            </a:r>
            <a:r>
              <a:rPr lang="en-IN" sz="1100" b="0" i="0" dirty="0" err="1">
                <a:solidFill>
                  <a:srgbClr val="FDF6E3"/>
                </a:solidFill>
                <a:latin typeface="Times New Roman"/>
              </a:rPr>
              <a:t>AyurAuth</a:t>
            </a:r>
            <a:r>
              <a:rPr lang="en-IN" sz="1100" b="0" i="0" dirty="0">
                <a:solidFill>
                  <a:srgbClr val="FDF6E3"/>
                </a:solidFill>
                <a:latin typeface="Times New Roman"/>
              </a:rPr>
              <a:t>  |  Aditya Rajesh Srinivas &amp; Shreya Vikas Jhamb</a:t>
            </a:r>
          </a:p>
        </p:txBody>
      </p:sp>
      <p:grpSp>
        <p:nvGrpSpPr>
          <p:cNvPr id="10" name="Group 10">
            <a:extLst>
              <a:ext uri="{FF2B5EF4-FFF2-40B4-BE49-F238E27FC236}">
                <a16:creationId xmlns:a16="http://schemas.microsoft.com/office/drawing/2014/main" id="{5F81DBA9-9D8A-EA8B-A354-D2C29BE297B3}"/>
              </a:ext>
            </a:extLst>
          </p:cNvPr>
          <p:cNvGrpSpPr/>
          <p:nvPr/>
        </p:nvGrpSpPr>
        <p:grpSpPr>
          <a:xfrm>
            <a:off x="103977" y="112064"/>
            <a:ext cx="2088617" cy="711872"/>
            <a:chOff x="0" y="0"/>
            <a:chExt cx="2784823" cy="949162"/>
          </a:xfrm>
        </p:grpSpPr>
        <p:sp>
          <p:nvSpPr>
            <p:cNvPr id="11" name="Freeform 11">
              <a:extLst>
                <a:ext uri="{FF2B5EF4-FFF2-40B4-BE49-F238E27FC236}">
                  <a16:creationId xmlns:a16="http://schemas.microsoft.com/office/drawing/2014/main" id="{8A7F9E34-9E63-BD57-FB61-52A7DFEF324E}"/>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3"/>
              <a:stretch>
                <a:fillRect r="-1" b="2"/>
              </a:stretch>
            </a:blipFill>
          </p:spPr>
        </p:sp>
      </p:grpSp>
      <p:grpSp>
        <p:nvGrpSpPr>
          <p:cNvPr id="12" name="Group 8">
            <a:extLst>
              <a:ext uri="{FF2B5EF4-FFF2-40B4-BE49-F238E27FC236}">
                <a16:creationId xmlns:a16="http://schemas.microsoft.com/office/drawing/2014/main" id="{F1419E5A-CC0A-D9C4-B106-E4E48C1D641A}"/>
              </a:ext>
            </a:extLst>
          </p:cNvPr>
          <p:cNvGrpSpPr/>
          <p:nvPr/>
        </p:nvGrpSpPr>
        <p:grpSpPr>
          <a:xfrm>
            <a:off x="11289761" y="59993"/>
            <a:ext cx="798262" cy="600013"/>
            <a:chOff x="0" y="0"/>
            <a:chExt cx="1456944" cy="1079221"/>
          </a:xfrm>
        </p:grpSpPr>
        <p:sp>
          <p:nvSpPr>
            <p:cNvPr id="13" name="Freeform 9" descr="Graphical user interface, text, application  Description automatically generated">
              <a:extLst>
                <a:ext uri="{FF2B5EF4-FFF2-40B4-BE49-F238E27FC236}">
                  <a16:creationId xmlns:a16="http://schemas.microsoft.com/office/drawing/2014/main" id="{9E5CFA4C-95E1-B8AE-309E-06CF1A86F9DE}"/>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4"/>
              <a:stretch>
                <a:fillRect b="-1447"/>
              </a:stretch>
            </a:blipFill>
          </p:spPr>
        </p:sp>
      </p:grpSp>
      <p:grpSp>
        <p:nvGrpSpPr>
          <p:cNvPr id="14" name="Group 2">
            <a:extLst>
              <a:ext uri="{FF2B5EF4-FFF2-40B4-BE49-F238E27FC236}">
                <a16:creationId xmlns:a16="http://schemas.microsoft.com/office/drawing/2014/main" id="{531D3953-4ABF-F04C-030F-294F07DA6A32}"/>
              </a:ext>
            </a:extLst>
          </p:cNvPr>
          <p:cNvGrpSpPr/>
          <p:nvPr/>
        </p:nvGrpSpPr>
        <p:grpSpPr>
          <a:xfrm>
            <a:off x="-49161" y="6020668"/>
            <a:ext cx="824253" cy="837332"/>
            <a:chOff x="0" y="0"/>
            <a:chExt cx="1676400" cy="1580985"/>
          </a:xfrm>
        </p:grpSpPr>
        <p:sp>
          <p:nvSpPr>
            <p:cNvPr id="15" name="Freeform 3">
              <a:extLst>
                <a:ext uri="{FF2B5EF4-FFF2-40B4-BE49-F238E27FC236}">
                  <a16:creationId xmlns:a16="http://schemas.microsoft.com/office/drawing/2014/main" id="{94E9C689-EB0F-D11D-BFC9-B21700EF72B1}"/>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16" name="Group 4">
            <a:extLst>
              <a:ext uri="{FF2B5EF4-FFF2-40B4-BE49-F238E27FC236}">
                <a16:creationId xmlns:a16="http://schemas.microsoft.com/office/drawing/2014/main" id="{62A95E31-271B-4BBF-C1E2-1CC15BDE8CC1}"/>
              </a:ext>
            </a:extLst>
          </p:cNvPr>
          <p:cNvGrpSpPr/>
          <p:nvPr/>
        </p:nvGrpSpPr>
        <p:grpSpPr>
          <a:xfrm>
            <a:off x="9783605" y="6265094"/>
            <a:ext cx="2408090" cy="592906"/>
            <a:chOff x="0" y="0"/>
            <a:chExt cx="4044785" cy="1029805"/>
          </a:xfrm>
        </p:grpSpPr>
        <p:sp>
          <p:nvSpPr>
            <p:cNvPr id="17" name="Freeform 5">
              <a:extLst>
                <a:ext uri="{FF2B5EF4-FFF2-40B4-BE49-F238E27FC236}">
                  <a16:creationId xmlns:a16="http://schemas.microsoft.com/office/drawing/2014/main" id="{89155197-A467-FCF5-8E1E-1FE569B6F93B}"/>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grpSp>
        <p:nvGrpSpPr>
          <p:cNvPr id="18" name="Group 6">
            <a:extLst>
              <a:ext uri="{FF2B5EF4-FFF2-40B4-BE49-F238E27FC236}">
                <a16:creationId xmlns:a16="http://schemas.microsoft.com/office/drawing/2014/main" id="{A0656141-6DF0-DC65-123B-3E06545F18B7}"/>
              </a:ext>
            </a:extLst>
          </p:cNvPr>
          <p:cNvGrpSpPr/>
          <p:nvPr/>
        </p:nvGrpSpPr>
        <p:grpSpPr>
          <a:xfrm>
            <a:off x="775093" y="6265116"/>
            <a:ext cx="9024002" cy="592884"/>
            <a:chOff x="0" y="0"/>
            <a:chExt cx="18662828" cy="1029805"/>
          </a:xfrm>
        </p:grpSpPr>
        <p:sp>
          <p:nvSpPr>
            <p:cNvPr id="19" name="Freeform 7">
              <a:extLst>
                <a:ext uri="{FF2B5EF4-FFF2-40B4-BE49-F238E27FC236}">
                  <a16:creationId xmlns:a16="http://schemas.microsoft.com/office/drawing/2014/main" id="{49D23EA8-10A2-10B6-751D-26E825966DA6}"/>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sp>
        <p:nvSpPr>
          <p:cNvPr id="27" name="TextBox 26">
            <a:extLst>
              <a:ext uri="{FF2B5EF4-FFF2-40B4-BE49-F238E27FC236}">
                <a16:creationId xmlns:a16="http://schemas.microsoft.com/office/drawing/2014/main" id="{00330FAB-3893-90AB-9C67-F78C4E11FB9C}"/>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1  of  1</a:t>
            </a:r>
            <a:r>
              <a:rPr lang="en-IN" sz="1400" dirty="0">
                <a:solidFill>
                  <a:srgbClr val="FDF6E3"/>
                </a:solidFill>
                <a:latin typeface="Times New Roman"/>
              </a:rPr>
              <a:t>7</a:t>
            </a:r>
            <a:endParaRPr lang="en-IN" sz="1400" b="0" i="0" dirty="0">
              <a:solidFill>
                <a:srgbClr val="FDF6E3"/>
              </a:solidFill>
              <a:latin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12601"/>
            <a:ext cx="11219695" cy="553998"/>
          </a:xfrm>
          <a:prstGeom prst="rect">
            <a:avLst/>
          </a:prstGeom>
          <a:noFill/>
        </p:spPr>
        <p:txBody>
          <a:bodyPr wrap="square" lIns="0" tIns="0" rIns="0" bIns="0" anchor="ctr">
            <a:spAutoFit/>
          </a:bodyPr>
          <a:lstStyle/>
          <a:p>
            <a:pPr algn="ctr"/>
            <a:r>
              <a:rPr sz="3600" b="1" i="0" dirty="0">
                <a:latin typeface="Times New Roman"/>
              </a:rPr>
              <a:t>Outline</a:t>
            </a:r>
          </a:p>
        </p:txBody>
      </p:sp>
      <p:grpSp>
        <p:nvGrpSpPr>
          <p:cNvPr id="11" name="Group 10">
            <a:extLst>
              <a:ext uri="{FF2B5EF4-FFF2-40B4-BE49-F238E27FC236}">
                <a16:creationId xmlns:a16="http://schemas.microsoft.com/office/drawing/2014/main" id="{5BD8F0F3-B184-B664-F720-7A65A1AF243F}"/>
              </a:ext>
            </a:extLst>
          </p:cNvPr>
          <p:cNvGrpSpPr/>
          <p:nvPr/>
        </p:nvGrpSpPr>
        <p:grpSpPr>
          <a:xfrm>
            <a:off x="211672" y="4070"/>
            <a:ext cx="2088617" cy="711872"/>
            <a:chOff x="0" y="0"/>
            <a:chExt cx="2784823" cy="949162"/>
          </a:xfrm>
        </p:grpSpPr>
        <p:sp>
          <p:nvSpPr>
            <p:cNvPr id="12" name="Freeform 11">
              <a:extLst>
                <a:ext uri="{FF2B5EF4-FFF2-40B4-BE49-F238E27FC236}">
                  <a16:creationId xmlns:a16="http://schemas.microsoft.com/office/drawing/2014/main" id="{222239D4-15C9-3C7C-1703-B6918139130D}"/>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2"/>
              <a:stretch>
                <a:fillRect r="-1" b="2"/>
              </a:stretch>
            </a:blipFill>
          </p:spPr>
        </p:sp>
      </p:grpSp>
      <p:grpSp>
        <p:nvGrpSpPr>
          <p:cNvPr id="13" name="Group 8">
            <a:extLst>
              <a:ext uri="{FF2B5EF4-FFF2-40B4-BE49-F238E27FC236}">
                <a16:creationId xmlns:a16="http://schemas.microsoft.com/office/drawing/2014/main" id="{4A9D6185-4167-0D6E-A622-897C498DFE7D}"/>
              </a:ext>
            </a:extLst>
          </p:cNvPr>
          <p:cNvGrpSpPr/>
          <p:nvPr/>
        </p:nvGrpSpPr>
        <p:grpSpPr>
          <a:xfrm>
            <a:off x="11289761" y="59993"/>
            <a:ext cx="798262" cy="600013"/>
            <a:chOff x="0" y="0"/>
            <a:chExt cx="1456944" cy="1079221"/>
          </a:xfrm>
        </p:grpSpPr>
        <p:sp>
          <p:nvSpPr>
            <p:cNvPr id="14" name="Freeform 9" descr="Graphical user interface, text, application  Description automatically generated">
              <a:extLst>
                <a:ext uri="{FF2B5EF4-FFF2-40B4-BE49-F238E27FC236}">
                  <a16:creationId xmlns:a16="http://schemas.microsoft.com/office/drawing/2014/main" id="{87514391-D1AB-52C9-9BD7-AB2AA18A7F5D}"/>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3"/>
              <a:stretch>
                <a:fillRect b="-1447"/>
              </a:stretch>
            </a:blipFill>
          </p:spPr>
        </p:sp>
      </p:grpSp>
      <p:grpSp>
        <p:nvGrpSpPr>
          <p:cNvPr id="21" name="Group 2">
            <a:extLst>
              <a:ext uri="{FF2B5EF4-FFF2-40B4-BE49-F238E27FC236}">
                <a16:creationId xmlns:a16="http://schemas.microsoft.com/office/drawing/2014/main" id="{4BB744D9-9B37-C064-8526-18832CF363E2}"/>
              </a:ext>
            </a:extLst>
          </p:cNvPr>
          <p:cNvGrpSpPr/>
          <p:nvPr/>
        </p:nvGrpSpPr>
        <p:grpSpPr>
          <a:xfrm>
            <a:off x="0" y="6020688"/>
            <a:ext cx="824253" cy="837332"/>
            <a:chOff x="0" y="0"/>
            <a:chExt cx="1676400" cy="1580985"/>
          </a:xfrm>
        </p:grpSpPr>
        <p:sp>
          <p:nvSpPr>
            <p:cNvPr id="22" name="Freeform 3">
              <a:extLst>
                <a:ext uri="{FF2B5EF4-FFF2-40B4-BE49-F238E27FC236}">
                  <a16:creationId xmlns:a16="http://schemas.microsoft.com/office/drawing/2014/main" id="{EBF96CC0-3471-F132-E656-05050EA57C0B}"/>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23" name="Group 6">
            <a:extLst>
              <a:ext uri="{FF2B5EF4-FFF2-40B4-BE49-F238E27FC236}">
                <a16:creationId xmlns:a16="http://schemas.microsoft.com/office/drawing/2014/main" id="{AB0A3A38-F367-BACF-97F4-2ABE2E78AE46}"/>
              </a:ext>
            </a:extLst>
          </p:cNvPr>
          <p:cNvGrpSpPr/>
          <p:nvPr/>
        </p:nvGrpSpPr>
        <p:grpSpPr>
          <a:xfrm>
            <a:off x="775093" y="6348188"/>
            <a:ext cx="9024002" cy="509811"/>
            <a:chOff x="0" y="0"/>
            <a:chExt cx="18662828" cy="1029805"/>
          </a:xfrm>
        </p:grpSpPr>
        <p:sp>
          <p:nvSpPr>
            <p:cNvPr id="24" name="Freeform 7">
              <a:extLst>
                <a:ext uri="{FF2B5EF4-FFF2-40B4-BE49-F238E27FC236}">
                  <a16:creationId xmlns:a16="http://schemas.microsoft.com/office/drawing/2014/main" id="{526A11B8-C65D-8428-BD3A-89E680C2D637}"/>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5" name="Group 4">
            <a:extLst>
              <a:ext uri="{FF2B5EF4-FFF2-40B4-BE49-F238E27FC236}">
                <a16:creationId xmlns:a16="http://schemas.microsoft.com/office/drawing/2014/main" id="{47A2F92E-811D-61BF-DFD7-8E772571B114}"/>
              </a:ext>
            </a:extLst>
          </p:cNvPr>
          <p:cNvGrpSpPr/>
          <p:nvPr/>
        </p:nvGrpSpPr>
        <p:grpSpPr>
          <a:xfrm>
            <a:off x="9783605" y="6348148"/>
            <a:ext cx="2408090" cy="509851"/>
            <a:chOff x="0" y="0"/>
            <a:chExt cx="4044785" cy="1029805"/>
          </a:xfrm>
        </p:grpSpPr>
        <p:sp>
          <p:nvSpPr>
            <p:cNvPr id="26" name="Freeform 5">
              <a:extLst>
                <a:ext uri="{FF2B5EF4-FFF2-40B4-BE49-F238E27FC236}">
                  <a16:creationId xmlns:a16="http://schemas.microsoft.com/office/drawing/2014/main" id="{23062A6F-00C8-D10B-1034-660E3ABD916C}"/>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32" name="TextBox 31">
            <a:extLst>
              <a:ext uri="{FF2B5EF4-FFF2-40B4-BE49-F238E27FC236}">
                <a16:creationId xmlns:a16="http://schemas.microsoft.com/office/drawing/2014/main" id="{A0BDBD63-9A7B-F3CF-B740-2C250709B828}"/>
              </a:ext>
            </a:extLst>
          </p:cNvPr>
          <p:cNvSpPr txBox="1"/>
          <p:nvPr/>
        </p:nvSpPr>
        <p:spPr>
          <a:xfrm>
            <a:off x="9111665" y="6454727"/>
            <a:ext cx="3767436" cy="307777"/>
          </a:xfrm>
          <a:prstGeom prst="rect">
            <a:avLst/>
          </a:prstGeom>
          <a:noFill/>
        </p:spPr>
        <p:txBody>
          <a:bodyPr wrap="square">
            <a:spAutoFit/>
          </a:bodyPr>
          <a:lstStyle/>
          <a:p>
            <a:pPr algn="ctr"/>
            <a:r>
              <a:rPr lang="en-IN" sz="1400" b="0" i="0" dirty="0">
                <a:solidFill>
                  <a:srgbClr val="FDF6E3"/>
                </a:solidFill>
                <a:latin typeface="Times New Roman"/>
              </a:rPr>
              <a:t>Slide  2  of  1</a:t>
            </a:r>
            <a:r>
              <a:rPr lang="en-IN" sz="1400" dirty="0">
                <a:solidFill>
                  <a:srgbClr val="FDF6E3"/>
                </a:solidFill>
                <a:latin typeface="Times New Roman"/>
              </a:rPr>
              <a:t>7</a:t>
            </a:r>
            <a:endParaRPr lang="en-IN" sz="1400" b="0" i="0" dirty="0">
              <a:solidFill>
                <a:srgbClr val="FDF6E3"/>
              </a:solidFill>
              <a:latin typeface="Times New Roman"/>
            </a:endParaRPr>
          </a:p>
        </p:txBody>
      </p:sp>
      <p:graphicFrame>
        <p:nvGraphicFramePr>
          <p:cNvPr id="8" name="Table 7">
            <a:extLst>
              <a:ext uri="{FF2B5EF4-FFF2-40B4-BE49-F238E27FC236}">
                <a16:creationId xmlns:a16="http://schemas.microsoft.com/office/drawing/2014/main" id="{60CC7FA3-D676-4BBB-3F34-13F7CA2BF431}"/>
              </a:ext>
            </a:extLst>
          </p:cNvPr>
          <p:cNvGraphicFramePr>
            <a:graphicFrameLocks noGrp="1"/>
          </p:cNvGraphicFramePr>
          <p:nvPr>
            <p:extLst>
              <p:ext uri="{D42A27DB-BD31-4B8C-83A1-F6EECF244321}">
                <p14:modId xmlns:p14="http://schemas.microsoft.com/office/powerpoint/2010/main" val="3248268042"/>
              </p:ext>
            </p:extLst>
          </p:nvPr>
        </p:nvGraphicFramePr>
        <p:xfrm>
          <a:off x="3618271" y="1148601"/>
          <a:ext cx="5360658" cy="4865218"/>
        </p:xfrm>
        <a:graphic>
          <a:graphicData uri="http://schemas.openxmlformats.org/drawingml/2006/table">
            <a:tbl>
              <a:tblPr/>
              <a:tblGrid>
                <a:gridCol w="810357">
                  <a:extLst>
                    <a:ext uri="{9D8B030D-6E8A-4147-A177-3AD203B41FA5}">
                      <a16:colId xmlns:a16="http://schemas.microsoft.com/office/drawing/2014/main" val="672532961"/>
                    </a:ext>
                  </a:extLst>
                </a:gridCol>
                <a:gridCol w="3549610">
                  <a:extLst>
                    <a:ext uri="{9D8B030D-6E8A-4147-A177-3AD203B41FA5}">
                      <a16:colId xmlns:a16="http://schemas.microsoft.com/office/drawing/2014/main" val="4180020445"/>
                    </a:ext>
                  </a:extLst>
                </a:gridCol>
                <a:gridCol w="1000691">
                  <a:extLst>
                    <a:ext uri="{9D8B030D-6E8A-4147-A177-3AD203B41FA5}">
                      <a16:colId xmlns:a16="http://schemas.microsoft.com/office/drawing/2014/main" val="941355849"/>
                    </a:ext>
                  </a:extLst>
                </a:gridCol>
              </a:tblGrid>
              <a:tr h="330774">
                <a:tc>
                  <a:txBody>
                    <a:bodyPr/>
                    <a:lstStyle/>
                    <a:p>
                      <a:pPr>
                        <a:buNone/>
                      </a:pPr>
                      <a:r>
                        <a:rPr lang="en-IN" sz="1600">
                          <a:latin typeface="Times New Roman" panose="02020603050405020304" pitchFamily="18" charset="0"/>
                          <a:cs typeface="Times New Roman" panose="02020603050405020304" pitchFamily="18" charset="0"/>
                        </a:rPr>
                        <a:t>Sr. No.</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Topic / Chapter Title</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Page No.</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33907245"/>
                  </a:ext>
                </a:extLst>
              </a:tr>
              <a:tr h="330774">
                <a:tc>
                  <a:txBody>
                    <a:bodyPr/>
                    <a:lstStyle/>
                    <a:p>
                      <a:pPr>
                        <a:buNone/>
                      </a:pPr>
                      <a:r>
                        <a:rPr lang="en-IN" sz="1600">
                          <a:latin typeface="Times New Roman" panose="02020603050405020304" pitchFamily="18" charset="0"/>
                          <a:cs typeface="Times New Roman" panose="02020603050405020304" pitchFamily="18" charset="0"/>
                        </a:rPr>
                        <a:t>1</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Introduction &amp; Background</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3</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3937249"/>
                  </a:ext>
                </a:extLst>
              </a:tr>
              <a:tr h="330774">
                <a:tc>
                  <a:txBody>
                    <a:bodyPr/>
                    <a:lstStyle/>
                    <a:p>
                      <a:pPr>
                        <a:buNone/>
                      </a:pPr>
                      <a:r>
                        <a:rPr lang="en-IN" sz="1600">
                          <a:latin typeface="Times New Roman" panose="02020603050405020304" pitchFamily="18" charset="0"/>
                          <a:cs typeface="Times New Roman" panose="02020603050405020304" pitchFamily="18" charset="0"/>
                        </a:rPr>
                        <a:t>2</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Literature Survey</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4-5</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59240796"/>
                  </a:ext>
                </a:extLst>
              </a:tr>
              <a:tr h="330774">
                <a:tc>
                  <a:txBody>
                    <a:bodyPr/>
                    <a:lstStyle/>
                    <a:p>
                      <a:pPr>
                        <a:buNone/>
                      </a:pPr>
                      <a:r>
                        <a:rPr lang="en-IN" sz="1600">
                          <a:latin typeface="Times New Roman" panose="02020603050405020304" pitchFamily="18" charset="0"/>
                          <a:cs typeface="Times New Roman" panose="02020603050405020304" pitchFamily="18" charset="0"/>
                        </a:rPr>
                        <a:t>3</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Problem Statement</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6</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3572105"/>
                  </a:ext>
                </a:extLst>
              </a:tr>
              <a:tr h="330774">
                <a:tc>
                  <a:txBody>
                    <a:bodyPr/>
                    <a:lstStyle/>
                    <a:p>
                      <a:pPr>
                        <a:buNone/>
                      </a:pPr>
                      <a:r>
                        <a:rPr lang="en-IN" sz="1600">
                          <a:latin typeface="Times New Roman" panose="02020603050405020304" pitchFamily="18" charset="0"/>
                          <a:cs typeface="Times New Roman" panose="02020603050405020304" pitchFamily="18" charset="0"/>
                        </a:rPr>
                        <a:t>4</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Objectives of the Project</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7</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03424986"/>
                  </a:ext>
                </a:extLst>
              </a:tr>
              <a:tr h="330774">
                <a:tc>
                  <a:txBody>
                    <a:bodyPr/>
                    <a:lstStyle/>
                    <a:p>
                      <a:pPr>
                        <a:buNone/>
                      </a:pPr>
                      <a:r>
                        <a:rPr lang="en-IN" sz="1600">
                          <a:latin typeface="Times New Roman" panose="02020603050405020304" pitchFamily="18" charset="0"/>
                          <a:cs typeface="Times New Roman" panose="02020603050405020304" pitchFamily="18" charset="0"/>
                        </a:rPr>
                        <a:t>5</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System Architecture</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8</a:t>
                      </a:r>
                      <a:endParaRPr lang="en-IN" sz="1600" dirty="0">
                        <a:latin typeface="Times New Roman" panose="02020603050405020304" pitchFamily="18" charset="0"/>
                        <a:cs typeface="Times New Roman" panose="02020603050405020304" pitchFamily="18" charset="0"/>
                      </a:endParaRP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28654775"/>
                  </a:ext>
                </a:extLst>
              </a:tr>
              <a:tr h="330774">
                <a:tc>
                  <a:txBody>
                    <a:bodyPr/>
                    <a:lstStyle/>
                    <a:p>
                      <a:pPr>
                        <a:buNone/>
                      </a:pPr>
                      <a:r>
                        <a:rPr lang="en-IN" sz="1600" dirty="0">
                          <a:latin typeface="Times New Roman" panose="02020603050405020304" pitchFamily="18" charset="0"/>
                          <a:cs typeface="Times New Roman" panose="02020603050405020304" pitchFamily="18" charset="0"/>
                        </a:rPr>
                        <a:t>6</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Tech stack</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9</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09881910"/>
                  </a:ext>
                </a:extLst>
              </a:tr>
              <a:tr h="262407">
                <a:tc>
                  <a:txBody>
                    <a:bodyPr/>
                    <a:lstStyle/>
                    <a:p>
                      <a:pPr>
                        <a:buNone/>
                      </a:pPr>
                      <a:r>
                        <a:rPr lang="en-IN" sz="1600" dirty="0">
                          <a:latin typeface="Times New Roman" panose="02020603050405020304" pitchFamily="18" charset="0"/>
                          <a:cs typeface="Times New Roman" panose="02020603050405020304" pitchFamily="18" charset="0"/>
                        </a:rPr>
                        <a:t>7</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System Workflow</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10</a:t>
                      </a:r>
                      <a:endParaRPr lang="en-IN" sz="1600" dirty="0">
                        <a:latin typeface="Times New Roman" panose="02020603050405020304" pitchFamily="18" charset="0"/>
                        <a:cs typeface="Times New Roman" panose="02020603050405020304" pitchFamily="18" charset="0"/>
                      </a:endParaRP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787558749"/>
                  </a:ext>
                </a:extLst>
              </a:tr>
              <a:tr h="430717">
                <a:tc>
                  <a:txBody>
                    <a:bodyPr/>
                    <a:lstStyle/>
                    <a:p>
                      <a:pPr>
                        <a:buNone/>
                      </a:pPr>
                      <a:r>
                        <a:rPr lang="en-IN" sz="1600" dirty="0">
                          <a:latin typeface="Times New Roman" panose="02020603050405020304" pitchFamily="18" charset="0"/>
                          <a:cs typeface="Times New Roman" panose="02020603050405020304" pitchFamily="18" charset="0"/>
                        </a:rPr>
                        <a:t>8</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Methodology and Proposed Approach</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11</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0240758"/>
                  </a:ext>
                </a:extLst>
              </a:tr>
              <a:tr h="330774">
                <a:tc>
                  <a:txBody>
                    <a:bodyPr/>
                    <a:lstStyle/>
                    <a:p>
                      <a:pPr>
                        <a:buNone/>
                      </a:pPr>
                      <a:r>
                        <a:rPr lang="en-IN" sz="1600" dirty="0">
                          <a:latin typeface="Times New Roman" panose="02020603050405020304" pitchFamily="18" charset="0"/>
                          <a:cs typeface="Times New Roman" panose="02020603050405020304" pitchFamily="18" charset="0"/>
                        </a:rPr>
                        <a:t>9</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4 Stage Pipeline</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12</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6492479"/>
                  </a:ext>
                </a:extLst>
              </a:tr>
              <a:tr h="330774">
                <a:tc>
                  <a:txBody>
                    <a:bodyPr/>
                    <a:lstStyle/>
                    <a:p>
                      <a:pPr>
                        <a:buNone/>
                      </a:pPr>
                      <a:r>
                        <a:rPr lang="en-IN" sz="1600" dirty="0">
                          <a:latin typeface="Times New Roman" panose="02020603050405020304" pitchFamily="18" charset="0"/>
                          <a:cs typeface="Times New Roman" panose="02020603050405020304" pitchFamily="18" charset="0"/>
                        </a:rPr>
                        <a:t>10</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it-IT" sz="1600">
                          <a:latin typeface="Times New Roman" panose="02020603050405020304" pitchFamily="18" charset="0"/>
                          <a:cs typeface="Times New Roman" panose="02020603050405020304" pitchFamily="18" charset="0"/>
                        </a:rPr>
                        <a:t>AI Chatbot and CNN Model</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13</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4657509"/>
                  </a:ext>
                </a:extLst>
              </a:tr>
              <a:tr h="439665">
                <a:tc>
                  <a:txBody>
                    <a:bodyPr/>
                    <a:lstStyle/>
                    <a:p>
                      <a:pPr>
                        <a:buNone/>
                      </a:pPr>
                      <a:r>
                        <a:rPr lang="en-IN" sz="1600" dirty="0">
                          <a:latin typeface="Times New Roman" panose="02020603050405020304" pitchFamily="18" charset="0"/>
                          <a:cs typeface="Times New Roman" panose="02020603050405020304" pitchFamily="18" charset="0"/>
                        </a:rPr>
                        <a:t>11</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a:latin typeface="Times New Roman" panose="02020603050405020304" pitchFamily="18" charset="0"/>
                          <a:cs typeface="Times New Roman" panose="02020603050405020304" pitchFamily="18" charset="0"/>
                        </a:rPr>
                        <a:t>Work Done (Frontend + Full Stack)</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14</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70373951"/>
                  </a:ext>
                </a:extLst>
              </a:tr>
              <a:tr h="373626">
                <a:tc>
                  <a:txBody>
                    <a:bodyPr/>
                    <a:lstStyle/>
                    <a:p>
                      <a:pPr>
                        <a:buNone/>
                      </a:pPr>
                      <a:r>
                        <a:rPr lang="en-IN" sz="1600" dirty="0">
                          <a:latin typeface="Times New Roman" panose="02020603050405020304" pitchFamily="18" charset="0"/>
                          <a:cs typeface="Times New Roman" panose="02020603050405020304" pitchFamily="18" charset="0"/>
                        </a:rPr>
                        <a:t>12</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Implementation Screenshots</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600" dirty="0">
                          <a:latin typeface="Times New Roman" panose="02020603050405020304" pitchFamily="18" charset="0"/>
                          <a:cs typeface="Times New Roman" panose="02020603050405020304" pitchFamily="18" charset="0"/>
                        </a:rPr>
                        <a:t>1</a:t>
                      </a:r>
                      <a:r>
                        <a:rPr lang="en-IN" sz="1600" dirty="0">
                          <a:latin typeface="Times New Roman" panose="02020603050405020304" pitchFamily="18" charset="0"/>
                          <a:cs typeface="Times New Roman" panose="02020603050405020304" pitchFamily="18" charset="0"/>
                        </a:rPr>
                        <a:t>5-16</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48340953"/>
                  </a:ext>
                </a:extLst>
              </a:tr>
              <a:tr h="330774">
                <a:tc>
                  <a:txBody>
                    <a:bodyPr/>
                    <a:lstStyle/>
                    <a:p>
                      <a:pPr>
                        <a:buNone/>
                      </a:pPr>
                      <a:r>
                        <a:rPr lang="en-IN" sz="1600" dirty="0">
                          <a:latin typeface="Times New Roman" panose="02020603050405020304" pitchFamily="18" charset="0"/>
                          <a:cs typeface="Times New Roman" panose="02020603050405020304" pitchFamily="18" charset="0"/>
                        </a:rPr>
                        <a:t>13</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a:latin typeface="Times New Roman" panose="02020603050405020304" pitchFamily="18" charset="0"/>
                          <a:cs typeface="Times New Roman" panose="02020603050405020304" pitchFamily="18" charset="0"/>
                        </a:rPr>
                        <a:t>References</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1600" dirty="0">
                          <a:latin typeface="Times New Roman" panose="02020603050405020304" pitchFamily="18" charset="0"/>
                          <a:cs typeface="Times New Roman" panose="02020603050405020304" pitchFamily="18" charset="0"/>
                        </a:rPr>
                        <a:t>17</a:t>
                      </a:r>
                    </a:p>
                  </a:txBody>
                  <a:tcPr marL="69630" marR="69630" marT="34815" marB="348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178152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12601"/>
            <a:ext cx="11219695" cy="553998"/>
          </a:xfrm>
          <a:prstGeom prst="rect">
            <a:avLst/>
          </a:prstGeom>
          <a:noFill/>
        </p:spPr>
        <p:txBody>
          <a:bodyPr wrap="square" lIns="0" tIns="0" rIns="0" bIns="0" anchor="ctr">
            <a:spAutoFit/>
          </a:bodyPr>
          <a:lstStyle/>
          <a:p>
            <a:pPr algn="ctr"/>
            <a:r>
              <a:rPr sz="3600" b="1" i="0" dirty="0">
                <a:latin typeface="Times New Roman"/>
              </a:rPr>
              <a:t>Introduction</a:t>
            </a:r>
          </a:p>
        </p:txBody>
      </p:sp>
      <p:sp>
        <p:nvSpPr>
          <p:cNvPr id="8" name="TextBox 7"/>
          <p:cNvSpPr txBox="1"/>
          <p:nvPr/>
        </p:nvSpPr>
        <p:spPr>
          <a:xfrm>
            <a:off x="620177" y="1271596"/>
            <a:ext cx="11147695" cy="4616648"/>
          </a:xfrm>
          <a:prstGeom prst="rect">
            <a:avLst/>
          </a:prstGeom>
          <a:noFill/>
        </p:spPr>
        <p:txBody>
          <a:bodyPr wrap="square" lIns="0" tIns="0" rIns="0" bIns="0" anchor="t">
            <a:spAutoFit/>
          </a:bodyPr>
          <a:lstStyle/>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Ayurveda is one of the world’s oldest holistic healing systems existing in India for more than 5000 years ago. Today as the global Ayurvedic industry is expanding rapidly it is constantly driven by increasing demand for organic, natural and plant-based healthcare solutions.</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Despite this growth, existing platforms such as e-</a:t>
            </a:r>
            <a:r>
              <a:rPr lang="en-US" sz="2000" dirty="0" err="1">
                <a:latin typeface="Times New Roman" panose="02020603050405020304" pitchFamily="18" charset="0"/>
                <a:cs typeface="Times New Roman" panose="02020603050405020304" pitchFamily="18" charset="0"/>
              </a:rPr>
              <a:t>Aushadhi</a:t>
            </a:r>
            <a:r>
              <a:rPr lang="en-US" sz="2000" dirty="0">
                <a:latin typeface="Times New Roman" panose="02020603050405020304" pitchFamily="18" charset="0"/>
                <a:cs typeface="Times New Roman" panose="02020603050405020304" pitchFamily="18" charset="0"/>
              </a:rPr>
              <a:t> and e-Charak remain fragmented and it is seen that there exists a lack a unified ecosystem. Currently, there is no scalable, technology-driven and export-ready solution that ensures transparency, authenticity and traceability within the Ayurvedic supply chain.</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Recognizing this gap, we began exploring the intersection of technology and Ayurveda. Our research focused on identifying how modern technologies such as Artificial Intelligence, QR-based traceability and blockchain-inspired verification systems could be integrated to create a smarter and more reliable Ayurvedic ecosystem. </a:t>
            </a: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order to build a strong foundation for our work we analyzed and reviewed multiple research papers and existing solutions in this domain</a:t>
            </a:r>
          </a:p>
        </p:txBody>
      </p:sp>
      <p:sp>
        <p:nvSpPr>
          <p:cNvPr id="9" name="TextBox 8"/>
          <p:cNvSpPr txBox="1"/>
          <p:nvPr/>
        </p:nvSpPr>
        <p:spPr>
          <a:xfrm>
            <a:off x="432000"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3  of  18     AyurAuth  |  Aditya Rajesh Srinivas &amp; Shreya Vikas Jhamb</a:t>
            </a:r>
          </a:p>
        </p:txBody>
      </p:sp>
      <p:grpSp>
        <p:nvGrpSpPr>
          <p:cNvPr id="10" name="Group 10">
            <a:extLst>
              <a:ext uri="{FF2B5EF4-FFF2-40B4-BE49-F238E27FC236}">
                <a16:creationId xmlns:a16="http://schemas.microsoft.com/office/drawing/2014/main" id="{AC8C2750-3888-287E-975B-A1442D4EBB59}"/>
              </a:ext>
            </a:extLst>
          </p:cNvPr>
          <p:cNvGrpSpPr/>
          <p:nvPr/>
        </p:nvGrpSpPr>
        <p:grpSpPr>
          <a:xfrm>
            <a:off x="162000" y="4070"/>
            <a:ext cx="2088617" cy="711872"/>
            <a:chOff x="0" y="0"/>
            <a:chExt cx="2784823" cy="949162"/>
          </a:xfrm>
        </p:grpSpPr>
        <p:sp>
          <p:nvSpPr>
            <p:cNvPr id="11" name="Freeform 11">
              <a:extLst>
                <a:ext uri="{FF2B5EF4-FFF2-40B4-BE49-F238E27FC236}">
                  <a16:creationId xmlns:a16="http://schemas.microsoft.com/office/drawing/2014/main" id="{EFA466BA-499F-921C-1E5D-258842631874}"/>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2"/>
              <a:stretch>
                <a:fillRect r="-1" b="2"/>
              </a:stretch>
            </a:blipFill>
          </p:spPr>
        </p:sp>
      </p:grpSp>
      <p:grpSp>
        <p:nvGrpSpPr>
          <p:cNvPr id="12" name="Group 8">
            <a:extLst>
              <a:ext uri="{FF2B5EF4-FFF2-40B4-BE49-F238E27FC236}">
                <a16:creationId xmlns:a16="http://schemas.microsoft.com/office/drawing/2014/main" id="{5941C1F6-6CEB-BCCD-8024-2F9A010A552D}"/>
              </a:ext>
            </a:extLst>
          </p:cNvPr>
          <p:cNvGrpSpPr/>
          <p:nvPr/>
        </p:nvGrpSpPr>
        <p:grpSpPr>
          <a:xfrm>
            <a:off x="11289761" y="59993"/>
            <a:ext cx="798262" cy="600013"/>
            <a:chOff x="0" y="0"/>
            <a:chExt cx="1456944" cy="1079221"/>
          </a:xfrm>
        </p:grpSpPr>
        <p:sp>
          <p:nvSpPr>
            <p:cNvPr id="13" name="Freeform 9" descr="Graphical user interface, text, application  Description automatically generated">
              <a:extLst>
                <a:ext uri="{FF2B5EF4-FFF2-40B4-BE49-F238E27FC236}">
                  <a16:creationId xmlns:a16="http://schemas.microsoft.com/office/drawing/2014/main" id="{92EE3C04-1692-7D11-75B6-522CC43BD4A5}"/>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3"/>
              <a:stretch>
                <a:fillRect b="-1447"/>
              </a:stretch>
            </a:blipFill>
          </p:spPr>
        </p:sp>
      </p:grpSp>
      <p:grpSp>
        <p:nvGrpSpPr>
          <p:cNvPr id="20" name="Group 2">
            <a:extLst>
              <a:ext uri="{FF2B5EF4-FFF2-40B4-BE49-F238E27FC236}">
                <a16:creationId xmlns:a16="http://schemas.microsoft.com/office/drawing/2014/main" id="{46126F91-1AC1-BC0B-CE56-B91A9A8B60FD}"/>
              </a:ext>
            </a:extLst>
          </p:cNvPr>
          <p:cNvGrpSpPr/>
          <p:nvPr/>
        </p:nvGrpSpPr>
        <p:grpSpPr>
          <a:xfrm>
            <a:off x="0" y="6020688"/>
            <a:ext cx="824253" cy="837332"/>
            <a:chOff x="0" y="0"/>
            <a:chExt cx="1676400" cy="1580985"/>
          </a:xfrm>
        </p:grpSpPr>
        <p:sp>
          <p:nvSpPr>
            <p:cNvPr id="21" name="Freeform 3">
              <a:extLst>
                <a:ext uri="{FF2B5EF4-FFF2-40B4-BE49-F238E27FC236}">
                  <a16:creationId xmlns:a16="http://schemas.microsoft.com/office/drawing/2014/main" id="{7AF17595-BC83-D3E0-8382-309A3485DC77}"/>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22" name="Group 6">
            <a:extLst>
              <a:ext uri="{FF2B5EF4-FFF2-40B4-BE49-F238E27FC236}">
                <a16:creationId xmlns:a16="http://schemas.microsoft.com/office/drawing/2014/main" id="{B777CDE3-40B3-858B-D17B-1A4366F28400}"/>
              </a:ext>
            </a:extLst>
          </p:cNvPr>
          <p:cNvGrpSpPr/>
          <p:nvPr/>
        </p:nvGrpSpPr>
        <p:grpSpPr>
          <a:xfrm>
            <a:off x="775093" y="6265116"/>
            <a:ext cx="9024002" cy="592884"/>
            <a:chOff x="0" y="0"/>
            <a:chExt cx="18662828" cy="1029805"/>
          </a:xfrm>
        </p:grpSpPr>
        <p:sp>
          <p:nvSpPr>
            <p:cNvPr id="23" name="Freeform 7">
              <a:extLst>
                <a:ext uri="{FF2B5EF4-FFF2-40B4-BE49-F238E27FC236}">
                  <a16:creationId xmlns:a16="http://schemas.microsoft.com/office/drawing/2014/main" id="{54CD94A2-B4ED-5E75-5EF3-F79C57707D52}"/>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4" name="Group 4">
            <a:extLst>
              <a:ext uri="{FF2B5EF4-FFF2-40B4-BE49-F238E27FC236}">
                <a16:creationId xmlns:a16="http://schemas.microsoft.com/office/drawing/2014/main" id="{8CE75E10-C2AE-104B-5FE1-DECCC625BBF9}"/>
              </a:ext>
            </a:extLst>
          </p:cNvPr>
          <p:cNvGrpSpPr/>
          <p:nvPr/>
        </p:nvGrpSpPr>
        <p:grpSpPr>
          <a:xfrm>
            <a:off x="9783605" y="6265094"/>
            <a:ext cx="2408090" cy="592906"/>
            <a:chOff x="0" y="0"/>
            <a:chExt cx="4044785" cy="1029805"/>
          </a:xfrm>
        </p:grpSpPr>
        <p:sp>
          <p:nvSpPr>
            <p:cNvPr id="25" name="Freeform 5">
              <a:extLst>
                <a:ext uri="{FF2B5EF4-FFF2-40B4-BE49-F238E27FC236}">
                  <a16:creationId xmlns:a16="http://schemas.microsoft.com/office/drawing/2014/main" id="{C2FE600E-80D5-9B4C-29CC-42DDB42F76F2}"/>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27" name="TextBox 26">
            <a:extLst>
              <a:ext uri="{FF2B5EF4-FFF2-40B4-BE49-F238E27FC236}">
                <a16:creationId xmlns:a16="http://schemas.microsoft.com/office/drawing/2014/main" id="{A865C260-DE70-1E94-A456-6D49156152DE}"/>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3  of  17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5999" y="214138"/>
            <a:ext cx="11219695" cy="553998"/>
          </a:xfrm>
          <a:prstGeom prst="rect">
            <a:avLst/>
          </a:prstGeom>
          <a:noFill/>
        </p:spPr>
        <p:txBody>
          <a:bodyPr wrap="square" lIns="0" tIns="0" rIns="0" bIns="0" anchor="ctr">
            <a:spAutoFit/>
          </a:bodyPr>
          <a:lstStyle/>
          <a:p>
            <a:pPr algn="ctr"/>
            <a:r>
              <a:rPr sz="3600" b="1" i="0" dirty="0">
                <a:latin typeface="Times New Roman"/>
              </a:rPr>
              <a:t>Literature Survey</a:t>
            </a:r>
          </a:p>
        </p:txBody>
      </p:sp>
      <p:sp>
        <p:nvSpPr>
          <p:cNvPr id="9" name="TextBox 8"/>
          <p:cNvSpPr txBox="1"/>
          <p:nvPr/>
        </p:nvSpPr>
        <p:spPr>
          <a:xfrm>
            <a:off x="432000"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5  of  18     AyurAuth  |  Aditya Rajesh Srinivas &amp; Shreya Vikas Jhamb</a:t>
            </a:r>
          </a:p>
        </p:txBody>
      </p:sp>
      <p:grpSp>
        <p:nvGrpSpPr>
          <p:cNvPr id="10" name="Group 10">
            <a:extLst>
              <a:ext uri="{FF2B5EF4-FFF2-40B4-BE49-F238E27FC236}">
                <a16:creationId xmlns:a16="http://schemas.microsoft.com/office/drawing/2014/main" id="{94FE3F84-02D3-814C-B44C-EBDDA179EC12}"/>
              </a:ext>
            </a:extLst>
          </p:cNvPr>
          <p:cNvGrpSpPr/>
          <p:nvPr/>
        </p:nvGrpSpPr>
        <p:grpSpPr>
          <a:xfrm>
            <a:off x="162000" y="30074"/>
            <a:ext cx="2088617" cy="711872"/>
            <a:chOff x="0" y="0"/>
            <a:chExt cx="2784823" cy="949162"/>
          </a:xfrm>
        </p:grpSpPr>
        <p:sp>
          <p:nvSpPr>
            <p:cNvPr id="11" name="Freeform 11">
              <a:extLst>
                <a:ext uri="{FF2B5EF4-FFF2-40B4-BE49-F238E27FC236}">
                  <a16:creationId xmlns:a16="http://schemas.microsoft.com/office/drawing/2014/main" id="{490018F2-2C2C-F625-B1FF-C64297650A73}"/>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2"/>
              <a:stretch>
                <a:fillRect r="-1" b="2"/>
              </a:stretch>
            </a:blipFill>
          </p:spPr>
        </p:sp>
      </p:grpSp>
      <p:grpSp>
        <p:nvGrpSpPr>
          <p:cNvPr id="12" name="Group 8">
            <a:extLst>
              <a:ext uri="{FF2B5EF4-FFF2-40B4-BE49-F238E27FC236}">
                <a16:creationId xmlns:a16="http://schemas.microsoft.com/office/drawing/2014/main" id="{B9E3F574-320A-5B99-4BB9-978AE1DE35D4}"/>
              </a:ext>
            </a:extLst>
          </p:cNvPr>
          <p:cNvGrpSpPr/>
          <p:nvPr/>
        </p:nvGrpSpPr>
        <p:grpSpPr>
          <a:xfrm>
            <a:off x="11289761" y="59993"/>
            <a:ext cx="798262" cy="600013"/>
            <a:chOff x="0" y="0"/>
            <a:chExt cx="1456944" cy="1079221"/>
          </a:xfrm>
        </p:grpSpPr>
        <p:sp>
          <p:nvSpPr>
            <p:cNvPr id="13" name="Freeform 9" descr="Graphical user interface, text, application  Description automatically generated">
              <a:extLst>
                <a:ext uri="{FF2B5EF4-FFF2-40B4-BE49-F238E27FC236}">
                  <a16:creationId xmlns:a16="http://schemas.microsoft.com/office/drawing/2014/main" id="{6CE37742-8306-276A-B9D7-4CBAFDD2BBFD}"/>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3"/>
              <a:stretch>
                <a:fillRect b="-1447"/>
              </a:stretch>
            </a:blipFill>
          </p:spPr>
        </p:sp>
      </p:grpSp>
      <p:graphicFrame>
        <p:nvGraphicFramePr>
          <p:cNvPr id="14" name="Table 13">
            <a:extLst>
              <a:ext uri="{FF2B5EF4-FFF2-40B4-BE49-F238E27FC236}">
                <a16:creationId xmlns:a16="http://schemas.microsoft.com/office/drawing/2014/main" id="{C75BB7A4-7824-CAB4-6895-7DE89413F5FE}"/>
              </a:ext>
            </a:extLst>
          </p:cNvPr>
          <p:cNvGraphicFramePr>
            <a:graphicFrameLocks noGrp="1"/>
          </p:cNvGraphicFramePr>
          <p:nvPr>
            <p:extLst>
              <p:ext uri="{D42A27DB-BD31-4B8C-83A1-F6EECF244321}">
                <p14:modId xmlns:p14="http://schemas.microsoft.com/office/powerpoint/2010/main" val="885165808"/>
              </p:ext>
            </p:extLst>
          </p:nvPr>
        </p:nvGraphicFramePr>
        <p:xfrm>
          <a:off x="362965" y="1084064"/>
          <a:ext cx="11573395" cy="4925518"/>
        </p:xfrm>
        <a:graphic>
          <a:graphicData uri="http://schemas.openxmlformats.org/drawingml/2006/table">
            <a:tbl>
              <a:tblPr>
                <a:tableStyleId>{793D81CF-94F2-401A-BA57-92F5A7B2D0C5}</a:tableStyleId>
              </a:tblPr>
              <a:tblGrid>
                <a:gridCol w="362480">
                  <a:extLst>
                    <a:ext uri="{9D8B030D-6E8A-4147-A177-3AD203B41FA5}">
                      <a16:colId xmlns:a16="http://schemas.microsoft.com/office/drawing/2014/main" val="3795431459"/>
                    </a:ext>
                  </a:extLst>
                </a:gridCol>
                <a:gridCol w="3495319">
                  <a:extLst>
                    <a:ext uri="{9D8B030D-6E8A-4147-A177-3AD203B41FA5}">
                      <a16:colId xmlns:a16="http://schemas.microsoft.com/office/drawing/2014/main" val="1561229605"/>
                    </a:ext>
                  </a:extLst>
                </a:gridCol>
                <a:gridCol w="1928899">
                  <a:extLst>
                    <a:ext uri="{9D8B030D-6E8A-4147-A177-3AD203B41FA5}">
                      <a16:colId xmlns:a16="http://schemas.microsoft.com/office/drawing/2014/main" val="3121690182"/>
                    </a:ext>
                  </a:extLst>
                </a:gridCol>
                <a:gridCol w="1928899">
                  <a:extLst>
                    <a:ext uri="{9D8B030D-6E8A-4147-A177-3AD203B41FA5}">
                      <a16:colId xmlns:a16="http://schemas.microsoft.com/office/drawing/2014/main" val="1441127073"/>
                    </a:ext>
                  </a:extLst>
                </a:gridCol>
                <a:gridCol w="1928899">
                  <a:extLst>
                    <a:ext uri="{9D8B030D-6E8A-4147-A177-3AD203B41FA5}">
                      <a16:colId xmlns:a16="http://schemas.microsoft.com/office/drawing/2014/main" val="3765597129"/>
                    </a:ext>
                  </a:extLst>
                </a:gridCol>
                <a:gridCol w="1928899">
                  <a:extLst>
                    <a:ext uri="{9D8B030D-6E8A-4147-A177-3AD203B41FA5}">
                      <a16:colId xmlns:a16="http://schemas.microsoft.com/office/drawing/2014/main" val="3564191368"/>
                    </a:ext>
                  </a:extLst>
                </a:gridCol>
              </a:tblGrid>
              <a:tr h="253053">
                <a:tc>
                  <a:txBody>
                    <a:bodyPr/>
                    <a:lstStyle/>
                    <a:p>
                      <a:pPr>
                        <a:buNone/>
                      </a:pPr>
                      <a:r>
                        <a:rPr lang="en-IN" sz="1400" dirty="0">
                          <a:latin typeface="Times New Roman" panose="02020603050405020304" pitchFamily="18" charset="0"/>
                          <a:cs typeface="Times New Roman" panose="02020603050405020304" pitchFamily="18" charset="0"/>
                        </a:rPr>
                        <a:t>Ref</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latin typeface="Times New Roman" panose="02020603050405020304" pitchFamily="18" charset="0"/>
                          <a:cs typeface="Times New Roman" panose="02020603050405020304" pitchFamily="18" charset="0"/>
                        </a:rPr>
                        <a:t>Paper Name</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latin typeface="Times New Roman" panose="02020603050405020304" pitchFamily="18" charset="0"/>
                          <a:cs typeface="Times New Roman" panose="02020603050405020304" pitchFamily="18" charset="0"/>
                        </a:rPr>
                        <a:t>Model / Technique</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latin typeface="Times New Roman" panose="02020603050405020304" pitchFamily="18" charset="0"/>
                          <a:cs typeface="Times New Roman" panose="02020603050405020304" pitchFamily="18" charset="0"/>
                        </a:rPr>
                        <a:t>Dataset Used</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latin typeface="Times New Roman" panose="02020603050405020304" pitchFamily="18" charset="0"/>
                          <a:cs typeface="Times New Roman" panose="02020603050405020304" pitchFamily="18" charset="0"/>
                        </a:rPr>
                        <a:t>Strengths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latin typeface="Times New Roman" panose="02020603050405020304" pitchFamily="18" charset="0"/>
                          <a:cs typeface="Times New Roman" panose="02020603050405020304" pitchFamily="18" charset="0"/>
                        </a:rPr>
                        <a:t>Limitations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25852930"/>
                  </a:ext>
                </a:extLst>
              </a:tr>
              <a:tr h="934493">
                <a:tc>
                  <a:txBody>
                    <a:bodyPr/>
                    <a:lstStyle/>
                    <a:p>
                      <a:pPr>
                        <a:buNone/>
                      </a:pPr>
                      <a:r>
                        <a:rPr lang="en-IN" sz="1400" dirty="0">
                          <a:latin typeface="Times New Roman" panose="02020603050405020304" pitchFamily="18" charset="0"/>
                          <a:cs typeface="Times New Roman" panose="02020603050405020304" pitchFamily="18" charset="0"/>
                        </a:rPr>
                        <a:t>1</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Comparative Study of Convolutional Neural Networks for Leaf Classification in Ayurveda</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dirty="0">
                          <a:latin typeface="Times New Roman" panose="02020603050405020304" pitchFamily="18" charset="0"/>
                          <a:cs typeface="Times New Roman" panose="02020603050405020304" pitchFamily="18" charset="0"/>
                        </a:rPr>
                        <a:t>Convolutional Neural Networks (VGG-16, ResNet-50, EfficientNet-V2M)</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1,835 images of 30 Ayurvedic plant species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EfficientNet-V2M achieved 98.24% accuracy with fast training time</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Performance varies with lighting conditions and complex backgrounds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45631051"/>
                  </a:ext>
                </a:extLst>
              </a:tr>
              <a:tr h="934493">
                <a:tc>
                  <a:txBody>
                    <a:bodyPr/>
                    <a:lstStyle/>
                    <a:p>
                      <a:pPr>
                        <a:buNone/>
                      </a:pPr>
                      <a:r>
                        <a:rPr lang="en-IN" sz="1400">
                          <a:latin typeface="Times New Roman" panose="02020603050405020304" pitchFamily="18" charset="0"/>
                          <a:cs typeface="Times New Roman" panose="02020603050405020304" pitchFamily="18" charset="0"/>
                        </a:rPr>
                        <a:t>2</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End-to-End Traceability in Ayush Drug Supply Chains: Challenges, Opportunities, and Policy Perspectives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Artificial Intelligence enabled Blockchain with Quick Response Codes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Analysis of e-Aushadhi and e-Charak portals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Provides comprehensive regulatory roadmap for global compliance standards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Largely conceptual and requires significant infrastructure in rural areas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6516455"/>
                  </a:ext>
                </a:extLst>
              </a:tr>
              <a:tr h="934493">
                <a:tc>
                  <a:txBody>
                    <a:bodyPr/>
                    <a:lstStyle/>
                    <a:p>
                      <a:pPr>
                        <a:buNone/>
                      </a:pPr>
                      <a:r>
                        <a:rPr lang="en-IN" sz="1400" dirty="0">
                          <a:latin typeface="Times New Roman" panose="02020603050405020304" pitchFamily="18" charset="0"/>
                          <a:cs typeface="Times New Roman" panose="02020603050405020304" pitchFamily="18" charset="0"/>
                        </a:rPr>
                        <a:t>3</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Leveraging Deep Learning and Blockchain for Enhanced Transparency and Traceability in the Indian Herbal Product Supply Chain</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Hyperledger Fabric Blockchain with Sequential Convolutional Neural Network</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20-class medicinal plant image dataset</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Enables real-time tracking and prevents data tampering through immutable ledger</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Lower classification accuracy compared to standalone deep learning models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7952853"/>
                  </a:ext>
                </a:extLst>
              </a:tr>
              <a:tr h="1161640">
                <a:tc>
                  <a:txBody>
                    <a:bodyPr/>
                    <a:lstStyle/>
                    <a:p>
                      <a:pPr>
                        <a:buNone/>
                      </a:pPr>
                      <a:r>
                        <a:rPr lang="en-IN" sz="1400">
                          <a:latin typeface="Times New Roman" panose="02020603050405020304" pitchFamily="18" charset="0"/>
                          <a:cs typeface="Times New Roman" panose="02020603050405020304" pitchFamily="18" charset="0"/>
                        </a:rPr>
                        <a:t>4</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Segmented Encryption: A Quality and Safety Supervisory Model for Herbal Medicine Based on Blockchain Technology</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Blockchain Technology with Smart Contracts and Radio Frequency Identification / Quick Response Codes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Global herbal product lifecycle data</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Provides secure seed-to-shelf monitoring with high transparency</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High implementation cost for small-scale farmers and producers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75307829"/>
                  </a:ext>
                </a:extLst>
              </a:tr>
              <a:tr h="707346">
                <a:tc>
                  <a:txBody>
                    <a:bodyPr/>
                    <a:lstStyle/>
                    <a:p>
                      <a:pPr>
                        <a:buNone/>
                      </a:pPr>
                      <a:r>
                        <a:rPr lang="en-IN" sz="1400">
                          <a:latin typeface="Times New Roman" panose="02020603050405020304" pitchFamily="18" charset="0"/>
                          <a:cs typeface="Times New Roman" panose="02020603050405020304" pitchFamily="18" charset="0"/>
                        </a:rPr>
                        <a:t>5</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err="1">
                          <a:latin typeface="Times New Roman" panose="02020603050405020304" pitchFamily="18" charset="0"/>
                          <a:cs typeface="Times New Roman" panose="02020603050405020304" pitchFamily="18" charset="0"/>
                        </a:rPr>
                        <a:t>MedicLedger</a:t>
                      </a:r>
                      <a:r>
                        <a:rPr lang="en-US" sz="1400" dirty="0">
                          <a:latin typeface="Times New Roman" panose="02020603050405020304" pitchFamily="18" charset="0"/>
                          <a:cs typeface="Times New Roman" panose="02020603050405020304" pitchFamily="18" charset="0"/>
                        </a:rPr>
                        <a:t>: Blockchain-Based Supply Chain Architecture for Ayurvedic Product Authentication and Compliance</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IN" sz="1400">
                          <a:latin typeface="Times New Roman" panose="02020603050405020304" pitchFamily="18" charset="0"/>
                          <a:cs typeface="Times New Roman" panose="02020603050405020304" pitchFamily="18" charset="0"/>
                        </a:rPr>
                        <a:t>Decentralized Ethereum Blockchain Network</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Transactional data of herbal raw materials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a:latin typeface="Times New Roman" panose="02020603050405020304" pitchFamily="18" charset="0"/>
                          <a:cs typeface="Times New Roman" panose="02020603050405020304" pitchFamily="18" charset="0"/>
                        </a:rPr>
                        <a:t>Eliminates intermediaries and ensures fair pricing for farmers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buNone/>
                      </a:pPr>
                      <a:r>
                        <a:rPr lang="en-US" sz="1400" dirty="0">
                          <a:latin typeface="Times New Roman" panose="02020603050405020304" pitchFamily="18" charset="0"/>
                          <a:cs typeface="Times New Roman" panose="02020603050405020304" pitchFamily="18" charset="0"/>
                        </a:rPr>
                        <a:t>Scalability challenges and high transaction (gas) fees</a:t>
                      </a:r>
                    </a:p>
                  </a:txBody>
                  <a:tcPr marL="24333" marR="24333" marT="12167" marB="1216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01045349"/>
                  </a:ext>
                </a:extLst>
              </a:tr>
            </a:tbl>
          </a:graphicData>
        </a:graphic>
      </p:graphicFrame>
      <p:grpSp>
        <p:nvGrpSpPr>
          <p:cNvPr id="17" name="Group 6">
            <a:extLst>
              <a:ext uri="{FF2B5EF4-FFF2-40B4-BE49-F238E27FC236}">
                <a16:creationId xmlns:a16="http://schemas.microsoft.com/office/drawing/2014/main" id="{C2889BF9-D85A-D424-9123-62B7493BE0A2}"/>
              </a:ext>
            </a:extLst>
          </p:cNvPr>
          <p:cNvGrpSpPr/>
          <p:nvPr/>
        </p:nvGrpSpPr>
        <p:grpSpPr>
          <a:xfrm>
            <a:off x="775093" y="6426000"/>
            <a:ext cx="9024002" cy="432000"/>
            <a:chOff x="0" y="0"/>
            <a:chExt cx="18662828" cy="1029805"/>
          </a:xfrm>
        </p:grpSpPr>
        <p:sp>
          <p:nvSpPr>
            <p:cNvPr id="18" name="Freeform 7">
              <a:extLst>
                <a:ext uri="{FF2B5EF4-FFF2-40B4-BE49-F238E27FC236}">
                  <a16:creationId xmlns:a16="http://schemas.microsoft.com/office/drawing/2014/main" id="{F02E4AB7-754F-D014-EC1B-1571BEA5AED0}"/>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1" name="Group 2">
            <a:extLst>
              <a:ext uri="{FF2B5EF4-FFF2-40B4-BE49-F238E27FC236}">
                <a16:creationId xmlns:a16="http://schemas.microsoft.com/office/drawing/2014/main" id="{80EC8FCC-4EA7-11DB-50A4-FF9CFA6168A3}"/>
              </a:ext>
            </a:extLst>
          </p:cNvPr>
          <p:cNvGrpSpPr/>
          <p:nvPr/>
        </p:nvGrpSpPr>
        <p:grpSpPr>
          <a:xfrm>
            <a:off x="0" y="6193646"/>
            <a:ext cx="824253" cy="664374"/>
            <a:chOff x="0" y="0"/>
            <a:chExt cx="1676400" cy="1580985"/>
          </a:xfrm>
        </p:grpSpPr>
        <p:sp>
          <p:nvSpPr>
            <p:cNvPr id="22" name="Freeform 3">
              <a:extLst>
                <a:ext uri="{FF2B5EF4-FFF2-40B4-BE49-F238E27FC236}">
                  <a16:creationId xmlns:a16="http://schemas.microsoft.com/office/drawing/2014/main" id="{5FF92C45-2E68-7805-9C26-00A6197A6072}"/>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23" name="Group 6">
            <a:extLst>
              <a:ext uri="{FF2B5EF4-FFF2-40B4-BE49-F238E27FC236}">
                <a16:creationId xmlns:a16="http://schemas.microsoft.com/office/drawing/2014/main" id="{6ED7A72C-9F5B-496E-AC52-AED08013FEB9}"/>
              </a:ext>
            </a:extLst>
          </p:cNvPr>
          <p:cNvGrpSpPr/>
          <p:nvPr/>
        </p:nvGrpSpPr>
        <p:grpSpPr>
          <a:xfrm>
            <a:off x="775093" y="6265116"/>
            <a:ext cx="9024002" cy="592884"/>
            <a:chOff x="0" y="0"/>
            <a:chExt cx="18662828" cy="1029805"/>
          </a:xfrm>
        </p:grpSpPr>
        <p:sp>
          <p:nvSpPr>
            <p:cNvPr id="24" name="Freeform 7">
              <a:extLst>
                <a:ext uri="{FF2B5EF4-FFF2-40B4-BE49-F238E27FC236}">
                  <a16:creationId xmlns:a16="http://schemas.microsoft.com/office/drawing/2014/main" id="{15A1048B-DD61-C689-5712-72D3E27B230D}"/>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5" name="Group 4">
            <a:extLst>
              <a:ext uri="{FF2B5EF4-FFF2-40B4-BE49-F238E27FC236}">
                <a16:creationId xmlns:a16="http://schemas.microsoft.com/office/drawing/2014/main" id="{67FB22EE-4410-27B6-04C4-B9E170C4F09E}"/>
              </a:ext>
            </a:extLst>
          </p:cNvPr>
          <p:cNvGrpSpPr/>
          <p:nvPr/>
        </p:nvGrpSpPr>
        <p:grpSpPr>
          <a:xfrm>
            <a:off x="9783605" y="6265094"/>
            <a:ext cx="2408090" cy="592906"/>
            <a:chOff x="0" y="0"/>
            <a:chExt cx="4044785" cy="1029805"/>
          </a:xfrm>
        </p:grpSpPr>
        <p:sp>
          <p:nvSpPr>
            <p:cNvPr id="26" name="Freeform 5">
              <a:extLst>
                <a:ext uri="{FF2B5EF4-FFF2-40B4-BE49-F238E27FC236}">
                  <a16:creationId xmlns:a16="http://schemas.microsoft.com/office/drawing/2014/main" id="{4EEA8ADC-D766-D6D6-CC42-D49650669B1D}"/>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28" name="TextBox 27">
            <a:extLst>
              <a:ext uri="{FF2B5EF4-FFF2-40B4-BE49-F238E27FC236}">
                <a16:creationId xmlns:a16="http://schemas.microsoft.com/office/drawing/2014/main" id="{F8EE6EAB-C393-B597-C685-134D6BE6EE42}"/>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4  of  1</a:t>
            </a:r>
            <a:r>
              <a:rPr lang="en-IN" sz="1400" dirty="0">
                <a:solidFill>
                  <a:srgbClr val="FDF6E3"/>
                </a:solidFill>
                <a:latin typeface="Times New Roman"/>
              </a:rPr>
              <a:t>7</a:t>
            </a:r>
            <a:endParaRPr lang="en-IN" sz="1400" b="0" i="0" dirty="0">
              <a:solidFill>
                <a:srgbClr val="FDF6E3"/>
              </a:solidFill>
              <a:latin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90878"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86152" y="212601"/>
            <a:ext cx="11219695" cy="553998"/>
          </a:xfrm>
          <a:prstGeom prst="rect">
            <a:avLst/>
          </a:prstGeom>
          <a:noFill/>
        </p:spPr>
        <p:txBody>
          <a:bodyPr wrap="square" lIns="0" tIns="0" rIns="0" bIns="0" anchor="ctr">
            <a:spAutoFit/>
          </a:bodyPr>
          <a:lstStyle/>
          <a:p>
            <a:pPr algn="ctr"/>
            <a:r>
              <a:rPr sz="3600" b="1" i="0" dirty="0">
                <a:latin typeface="Times New Roman"/>
              </a:rPr>
              <a:t>Literature Review</a:t>
            </a:r>
          </a:p>
        </p:txBody>
      </p:sp>
      <p:sp>
        <p:nvSpPr>
          <p:cNvPr id="9" name="TextBox 8"/>
          <p:cNvSpPr txBox="1"/>
          <p:nvPr/>
        </p:nvSpPr>
        <p:spPr>
          <a:xfrm>
            <a:off x="432000"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7  of  18     AyurAuth  |  Aditya Rajesh Srinivas &amp; Shreya Vikas Jhamb</a:t>
            </a:r>
          </a:p>
        </p:txBody>
      </p:sp>
      <p:grpSp>
        <p:nvGrpSpPr>
          <p:cNvPr id="10" name="Group 8">
            <a:extLst>
              <a:ext uri="{FF2B5EF4-FFF2-40B4-BE49-F238E27FC236}">
                <a16:creationId xmlns:a16="http://schemas.microsoft.com/office/drawing/2014/main" id="{F74EAA5D-A488-1099-0D80-62517E1A1744}"/>
              </a:ext>
            </a:extLst>
          </p:cNvPr>
          <p:cNvGrpSpPr/>
          <p:nvPr/>
        </p:nvGrpSpPr>
        <p:grpSpPr>
          <a:xfrm>
            <a:off x="11289761" y="59993"/>
            <a:ext cx="798262" cy="600013"/>
            <a:chOff x="0" y="0"/>
            <a:chExt cx="1456944" cy="1079221"/>
          </a:xfrm>
        </p:grpSpPr>
        <p:sp>
          <p:nvSpPr>
            <p:cNvPr id="11" name="Freeform 9" descr="Graphical user interface, text, application  Description automatically generated">
              <a:extLst>
                <a:ext uri="{FF2B5EF4-FFF2-40B4-BE49-F238E27FC236}">
                  <a16:creationId xmlns:a16="http://schemas.microsoft.com/office/drawing/2014/main" id="{82E849C8-E646-B8BD-777C-A988C7714586}"/>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2"/>
              <a:stretch>
                <a:fillRect b="-1447"/>
              </a:stretch>
            </a:blipFill>
          </p:spPr>
        </p:sp>
      </p:grpSp>
      <p:grpSp>
        <p:nvGrpSpPr>
          <p:cNvPr id="18" name="Group 2">
            <a:extLst>
              <a:ext uri="{FF2B5EF4-FFF2-40B4-BE49-F238E27FC236}">
                <a16:creationId xmlns:a16="http://schemas.microsoft.com/office/drawing/2014/main" id="{770E6053-9C91-A2C4-2ADF-B321CC199283}"/>
              </a:ext>
            </a:extLst>
          </p:cNvPr>
          <p:cNvGrpSpPr/>
          <p:nvPr/>
        </p:nvGrpSpPr>
        <p:grpSpPr>
          <a:xfrm>
            <a:off x="9213" y="6142316"/>
            <a:ext cx="824253" cy="715684"/>
            <a:chOff x="0" y="0"/>
            <a:chExt cx="1676400" cy="1580985"/>
          </a:xfrm>
        </p:grpSpPr>
        <p:sp>
          <p:nvSpPr>
            <p:cNvPr id="19" name="Freeform 3">
              <a:extLst>
                <a:ext uri="{FF2B5EF4-FFF2-40B4-BE49-F238E27FC236}">
                  <a16:creationId xmlns:a16="http://schemas.microsoft.com/office/drawing/2014/main" id="{DCDE9AAF-3499-06EC-4903-AA6CD531C0F3}"/>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20" name="Group 6">
            <a:extLst>
              <a:ext uri="{FF2B5EF4-FFF2-40B4-BE49-F238E27FC236}">
                <a16:creationId xmlns:a16="http://schemas.microsoft.com/office/drawing/2014/main" id="{057166BD-717C-54F8-A355-02D9102DDAA4}"/>
              </a:ext>
            </a:extLst>
          </p:cNvPr>
          <p:cNvGrpSpPr/>
          <p:nvPr/>
        </p:nvGrpSpPr>
        <p:grpSpPr>
          <a:xfrm>
            <a:off x="775093" y="6382112"/>
            <a:ext cx="9024002" cy="475888"/>
            <a:chOff x="0" y="0"/>
            <a:chExt cx="18662828" cy="1029805"/>
          </a:xfrm>
        </p:grpSpPr>
        <p:sp>
          <p:nvSpPr>
            <p:cNvPr id="21" name="Freeform 7">
              <a:extLst>
                <a:ext uri="{FF2B5EF4-FFF2-40B4-BE49-F238E27FC236}">
                  <a16:creationId xmlns:a16="http://schemas.microsoft.com/office/drawing/2014/main" id="{4651E453-199F-1F53-D151-BEED5A0C37E8}"/>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2" name="Group 4">
            <a:extLst>
              <a:ext uri="{FF2B5EF4-FFF2-40B4-BE49-F238E27FC236}">
                <a16:creationId xmlns:a16="http://schemas.microsoft.com/office/drawing/2014/main" id="{11D367C7-DC5C-9769-5E1F-3BBCEF6CF432}"/>
              </a:ext>
            </a:extLst>
          </p:cNvPr>
          <p:cNvGrpSpPr/>
          <p:nvPr/>
        </p:nvGrpSpPr>
        <p:grpSpPr>
          <a:xfrm>
            <a:off x="9783605" y="6382112"/>
            <a:ext cx="2408090" cy="475888"/>
            <a:chOff x="0" y="0"/>
            <a:chExt cx="4044785" cy="1029805"/>
          </a:xfrm>
        </p:grpSpPr>
        <p:sp>
          <p:nvSpPr>
            <p:cNvPr id="23" name="Freeform 5">
              <a:extLst>
                <a:ext uri="{FF2B5EF4-FFF2-40B4-BE49-F238E27FC236}">
                  <a16:creationId xmlns:a16="http://schemas.microsoft.com/office/drawing/2014/main" id="{50AE7ED2-6CF2-013B-6C7C-C30EF3020206}"/>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graphicFrame>
        <p:nvGraphicFramePr>
          <p:cNvPr id="24" name="Table 23">
            <a:extLst>
              <a:ext uri="{FF2B5EF4-FFF2-40B4-BE49-F238E27FC236}">
                <a16:creationId xmlns:a16="http://schemas.microsoft.com/office/drawing/2014/main" id="{BD353786-B1DB-3040-6A20-1806D31ED4BC}"/>
              </a:ext>
            </a:extLst>
          </p:cNvPr>
          <p:cNvGraphicFramePr>
            <a:graphicFrameLocks noGrp="1"/>
          </p:cNvGraphicFramePr>
          <p:nvPr>
            <p:extLst>
              <p:ext uri="{D42A27DB-BD31-4B8C-83A1-F6EECF244321}">
                <p14:modId xmlns:p14="http://schemas.microsoft.com/office/powerpoint/2010/main" val="2523965309"/>
              </p:ext>
            </p:extLst>
          </p:nvPr>
        </p:nvGraphicFramePr>
        <p:xfrm>
          <a:off x="432000" y="1015888"/>
          <a:ext cx="11347354" cy="5046540"/>
        </p:xfrm>
        <a:graphic>
          <a:graphicData uri="http://schemas.openxmlformats.org/drawingml/2006/table">
            <a:tbl>
              <a:tblPr/>
              <a:tblGrid>
                <a:gridCol w="354726">
                  <a:extLst>
                    <a:ext uri="{9D8B030D-6E8A-4147-A177-3AD203B41FA5}">
                      <a16:colId xmlns:a16="http://schemas.microsoft.com/office/drawing/2014/main" val="3378408345"/>
                    </a:ext>
                  </a:extLst>
                </a:gridCol>
                <a:gridCol w="3427724">
                  <a:extLst>
                    <a:ext uri="{9D8B030D-6E8A-4147-A177-3AD203B41FA5}">
                      <a16:colId xmlns:a16="http://schemas.microsoft.com/office/drawing/2014/main" val="3726308769"/>
                    </a:ext>
                  </a:extLst>
                </a:gridCol>
                <a:gridCol w="1891226">
                  <a:extLst>
                    <a:ext uri="{9D8B030D-6E8A-4147-A177-3AD203B41FA5}">
                      <a16:colId xmlns:a16="http://schemas.microsoft.com/office/drawing/2014/main" val="2434170209"/>
                    </a:ext>
                  </a:extLst>
                </a:gridCol>
                <a:gridCol w="1891226">
                  <a:extLst>
                    <a:ext uri="{9D8B030D-6E8A-4147-A177-3AD203B41FA5}">
                      <a16:colId xmlns:a16="http://schemas.microsoft.com/office/drawing/2014/main" val="64764093"/>
                    </a:ext>
                  </a:extLst>
                </a:gridCol>
                <a:gridCol w="1891226">
                  <a:extLst>
                    <a:ext uri="{9D8B030D-6E8A-4147-A177-3AD203B41FA5}">
                      <a16:colId xmlns:a16="http://schemas.microsoft.com/office/drawing/2014/main" val="3166029766"/>
                    </a:ext>
                  </a:extLst>
                </a:gridCol>
                <a:gridCol w="1891226">
                  <a:extLst>
                    <a:ext uri="{9D8B030D-6E8A-4147-A177-3AD203B41FA5}">
                      <a16:colId xmlns:a16="http://schemas.microsoft.com/office/drawing/2014/main" val="636681038"/>
                    </a:ext>
                  </a:extLst>
                </a:gridCol>
              </a:tblGrid>
              <a:tr h="227312">
                <a:tc>
                  <a:txBody>
                    <a:bodyPr/>
                    <a:lstStyle/>
                    <a:p>
                      <a:pPr>
                        <a:buNone/>
                      </a:pPr>
                      <a:r>
                        <a:rPr lang="en-IN" sz="1400" dirty="0"/>
                        <a:t>Ref</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400"/>
                        <a:t>Paper Name</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400"/>
                        <a:t>Model / Technique</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400"/>
                        <a:t>Dataset Used</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400"/>
                        <a:t>Strengths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400"/>
                        <a:t>Limitations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50920867"/>
                  </a:ext>
                </a:extLst>
              </a:tr>
              <a:tr h="842344">
                <a:tc>
                  <a:txBody>
                    <a:bodyPr/>
                    <a:lstStyle/>
                    <a:p>
                      <a:pPr>
                        <a:buNone/>
                      </a:pPr>
                      <a:r>
                        <a:rPr lang="en-IN" sz="1400" dirty="0"/>
                        <a:t>6</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dirty="0"/>
                        <a:t>DNA Barcoding of the Market Samples of Single-Drug Herbal Powders Reveals Adulteration with Taxonomically Unrelated Plant Species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400" dirty="0"/>
                        <a:t>DNA Barcoding using ribulose-bisphosphate carboxylase (</a:t>
                      </a:r>
                      <a:r>
                        <a:rPr lang="en-IN" sz="1400" dirty="0" err="1"/>
                        <a:t>rbcL</a:t>
                      </a:r>
                      <a:r>
                        <a:rPr lang="en-IN" sz="1400" dirty="0"/>
                        <a:t>) marker</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400" dirty="0"/>
                        <a:t>107 single-drug herbal powder samples covering 65 species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a:t>Highly accurate identification of species even in processed powders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dirty="0"/>
                        <a:t>Requires expert laboratory setup and high-quality genomic DNA</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933167"/>
                  </a:ext>
                </a:extLst>
              </a:tr>
              <a:tr h="1252365">
                <a:tc>
                  <a:txBody>
                    <a:bodyPr/>
                    <a:lstStyle/>
                    <a:p>
                      <a:pPr>
                        <a:buNone/>
                      </a:pPr>
                      <a:r>
                        <a:rPr lang="en-IN" sz="1400"/>
                        <a:t>7</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dirty="0"/>
                        <a:t>Traceability System for Rare Chinese Herbal Medicines Based on Blockchain Structure</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a:t>Double Blockchain Architecture (Private Blockchain and Consortium Blockchain) with InterPlanetary File System</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a:t>Multi-modal supply chain records including images and transaction logs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dirty="0"/>
                        <a:t>Efficient storage of large files off-chain while maintaining secure logs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a:t>Increased technical complexity due to dual blockchain architecture</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46574891"/>
                  </a:ext>
                </a:extLst>
              </a:tr>
              <a:tr h="842344">
                <a:tc>
                  <a:txBody>
                    <a:bodyPr/>
                    <a:lstStyle/>
                    <a:p>
                      <a:pPr>
                        <a:buNone/>
                      </a:pPr>
                      <a:r>
                        <a:rPr lang="en-IN" sz="1400"/>
                        <a:t>8</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dirty="0"/>
                        <a:t>Demystifying Hyperledger Fabric Framework for Distributed Ledgers and Approach to Evaluate Its Performance</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a:t>Permissioned Blockchain using Hyperledger Fabric Framework</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IN" sz="1400"/>
                        <a:t>Simulated multi-organization network transactions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dirty="0"/>
                        <a:t>Provides high throughput, low latency, and strong privacy control</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a:t>Requires advanced technical expertise for setup and maintenance</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829641769"/>
                  </a:ext>
                </a:extLst>
              </a:tr>
              <a:tr h="842344">
                <a:tc>
                  <a:txBody>
                    <a:bodyPr/>
                    <a:lstStyle/>
                    <a:p>
                      <a:pPr>
                        <a:buNone/>
                      </a:pPr>
                      <a:r>
                        <a:rPr lang="en-IN" sz="1400"/>
                        <a:t>9</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dirty="0"/>
                        <a:t>Integrating Artificial Intelligence and Data Analytics for Supply Chain Optimization in the Pharmaceutical Industry</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dirty="0"/>
                        <a:t>Artificial Intelligence with Predictive Data Analytics and Blockchain Integration</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a:t>Historical production, demand, and distribution datasets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a:t>Enables accurate demand forecasting and secure supply chain optimization</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a:t>Requires large volumes of high-quality historical data</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6825031"/>
                  </a:ext>
                </a:extLst>
              </a:tr>
              <a:tr h="842344">
                <a:tc>
                  <a:txBody>
                    <a:bodyPr/>
                    <a:lstStyle/>
                    <a:p>
                      <a:pPr>
                        <a:buNone/>
                      </a:pPr>
                      <a:r>
                        <a:rPr lang="en-IN" sz="1400" dirty="0"/>
                        <a:t>10</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dirty="0" err="1"/>
                        <a:t>HerBChain</a:t>
                      </a:r>
                      <a:r>
                        <a:rPr lang="en-US" sz="1400" dirty="0"/>
                        <a:t>, a Blockchain-Based Informative Platform for Quality Assurance and Quality Control of Herbal Products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a:t>Consortium Blockchain using Openchain Framework with Quick Response Codes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a:t>Six-stage herbal product manufacturing lifecycle data</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a:t>Minimizes manipulation of quality records across stakeholders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buNone/>
                      </a:pPr>
                      <a:r>
                        <a:rPr lang="en-US" sz="1400" dirty="0"/>
                        <a:t>Faces resistance in adoption among traditional industry participants</a:t>
                      </a:r>
                    </a:p>
                  </a:txBody>
                  <a:tcPr marL="23210" marR="23210" marT="11605" marB="1160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662408320"/>
                  </a:ext>
                </a:extLst>
              </a:tr>
            </a:tbl>
          </a:graphicData>
        </a:graphic>
      </p:graphicFrame>
      <p:grpSp>
        <p:nvGrpSpPr>
          <p:cNvPr id="25" name="Group 10">
            <a:extLst>
              <a:ext uri="{FF2B5EF4-FFF2-40B4-BE49-F238E27FC236}">
                <a16:creationId xmlns:a16="http://schemas.microsoft.com/office/drawing/2014/main" id="{CB34BA44-A29A-8AF5-93CB-2209C07F0A7F}"/>
              </a:ext>
            </a:extLst>
          </p:cNvPr>
          <p:cNvGrpSpPr/>
          <p:nvPr/>
        </p:nvGrpSpPr>
        <p:grpSpPr>
          <a:xfrm>
            <a:off x="190878" y="93532"/>
            <a:ext cx="2088617" cy="711872"/>
            <a:chOff x="0" y="0"/>
            <a:chExt cx="2784823" cy="949162"/>
          </a:xfrm>
        </p:grpSpPr>
        <p:sp>
          <p:nvSpPr>
            <p:cNvPr id="26" name="Freeform 11">
              <a:extLst>
                <a:ext uri="{FF2B5EF4-FFF2-40B4-BE49-F238E27FC236}">
                  <a16:creationId xmlns:a16="http://schemas.microsoft.com/office/drawing/2014/main" id="{D9E53728-060D-BBF6-87DE-19D880FC0A9F}"/>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3"/>
              <a:stretch>
                <a:fillRect r="-1" b="2"/>
              </a:stretch>
            </a:blipFill>
          </p:spPr>
        </p:sp>
      </p:grpSp>
      <p:sp>
        <p:nvSpPr>
          <p:cNvPr id="28" name="TextBox 27">
            <a:extLst>
              <a:ext uri="{FF2B5EF4-FFF2-40B4-BE49-F238E27FC236}">
                <a16:creationId xmlns:a16="http://schemas.microsoft.com/office/drawing/2014/main" id="{AFABD142-B1A9-544A-4596-ABB55FF7BF85}"/>
              </a:ext>
            </a:extLst>
          </p:cNvPr>
          <p:cNvSpPr txBox="1"/>
          <p:nvPr/>
        </p:nvSpPr>
        <p:spPr>
          <a:xfrm>
            <a:off x="9111665" y="6407991"/>
            <a:ext cx="3767436" cy="307777"/>
          </a:xfrm>
          <a:prstGeom prst="rect">
            <a:avLst/>
          </a:prstGeom>
          <a:noFill/>
        </p:spPr>
        <p:txBody>
          <a:bodyPr wrap="square">
            <a:spAutoFit/>
          </a:bodyPr>
          <a:lstStyle/>
          <a:p>
            <a:pPr algn="ctr"/>
            <a:r>
              <a:rPr lang="en-IN" sz="1400" b="0" i="0" dirty="0">
                <a:solidFill>
                  <a:srgbClr val="FDF6E3"/>
                </a:solidFill>
                <a:latin typeface="Times New Roman"/>
              </a:rPr>
              <a:t>Slide  5  of  17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19664"/>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12601"/>
            <a:ext cx="11219695" cy="553998"/>
          </a:xfrm>
          <a:prstGeom prst="rect">
            <a:avLst/>
          </a:prstGeom>
          <a:noFill/>
        </p:spPr>
        <p:txBody>
          <a:bodyPr wrap="square" lIns="0" tIns="0" rIns="0" bIns="0" anchor="ctr">
            <a:spAutoFit/>
          </a:bodyPr>
          <a:lstStyle/>
          <a:p>
            <a:pPr algn="ctr"/>
            <a:r>
              <a:rPr sz="3600" b="1" i="0" dirty="0">
                <a:latin typeface="Times New Roman"/>
              </a:rPr>
              <a:t>Problem Statement</a:t>
            </a:r>
          </a:p>
        </p:txBody>
      </p:sp>
      <p:sp>
        <p:nvSpPr>
          <p:cNvPr id="8" name="TextBox 7"/>
          <p:cNvSpPr txBox="1"/>
          <p:nvPr/>
        </p:nvSpPr>
        <p:spPr>
          <a:xfrm>
            <a:off x="540000" y="1194096"/>
            <a:ext cx="11147695" cy="4760278"/>
          </a:xfrm>
          <a:prstGeom prst="rect">
            <a:avLst/>
          </a:prstGeom>
          <a:noFill/>
        </p:spPr>
        <p:txBody>
          <a:bodyPr wrap="square" lIns="0" tIns="0" rIns="0" bIns="0" anchor="t">
            <a:spAutoFit/>
          </a:bodyPr>
          <a:lstStyle/>
          <a:p>
            <a:pPr algn="l">
              <a:spcBef>
                <a:spcPts val="100"/>
              </a:spcBef>
              <a:spcAft>
                <a:spcPts val="100"/>
              </a:spcAft>
            </a:pPr>
            <a:r>
              <a:rPr sz="3600" b="1" dirty="0">
                <a:solidFill>
                  <a:srgbClr val="6B0000"/>
                </a:solidFill>
                <a:latin typeface="Times New Roman"/>
              </a:rPr>
              <a:t>"</a:t>
            </a:r>
            <a:r>
              <a:rPr sz="3600" b="1" dirty="0">
                <a:latin typeface="Times New Roman"/>
              </a:rPr>
              <a:t>A Blockchain</a:t>
            </a:r>
            <a:r>
              <a:rPr lang="en-IN" sz="3600" b="1" dirty="0">
                <a:latin typeface="Times New Roman"/>
              </a:rPr>
              <a:t> </a:t>
            </a:r>
            <a:r>
              <a:rPr sz="3600" b="1" dirty="0">
                <a:latin typeface="Times New Roman"/>
              </a:rPr>
              <a:t>driven system for authenticity, sustainability</a:t>
            </a:r>
            <a:r>
              <a:rPr lang="en-IN" sz="3600" b="1" dirty="0">
                <a:latin typeface="Times New Roman"/>
              </a:rPr>
              <a:t> </a:t>
            </a:r>
            <a:r>
              <a:rPr sz="3600" b="1" dirty="0">
                <a:latin typeface="Times New Roman"/>
              </a:rPr>
              <a:t>and export readiness of ayurvedic herbs"</a:t>
            </a:r>
            <a:endParaRPr lang="en-IN" sz="3600" b="1" dirty="0">
              <a:latin typeface="Times New Roman"/>
            </a:endParaRPr>
          </a:p>
          <a:p>
            <a:pPr algn="l">
              <a:spcBef>
                <a:spcPts val="100"/>
              </a:spcBef>
              <a:spcAft>
                <a:spcPts val="100"/>
              </a:spcAft>
            </a:pPr>
            <a:endParaRPr lang="en-IN" sz="1600" b="1" dirty="0">
              <a:solidFill>
                <a:srgbClr val="6B0000"/>
              </a:solidFill>
              <a:latin typeface="Times New Roman"/>
            </a:endParaRPr>
          </a:p>
          <a:p>
            <a:r>
              <a:rPr lang="en-US" sz="1600" dirty="0">
                <a:latin typeface="Times New Roman" panose="02020603050405020304" pitchFamily="18" charset="0"/>
                <a:cs typeface="Times New Roman" panose="02020603050405020304" pitchFamily="18" charset="0"/>
              </a:rPr>
              <a:t>The problem statement was formulated with the objective of creating a better outreach and a centralized platform for Ayurvedic herbs by effectively utilizing modern technological tools and solutions. The aim was to develop a one-stop digital platform that simplifies access to information, authentication and guidance related to Ayurvedic herbs.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After conducting a thorough research survey and analysis, we identified several key challenges and problem areas, which are as follows:</a:t>
            </a:r>
          </a:p>
          <a:p>
            <a:pPr algn="l">
              <a:spcBef>
                <a:spcPts val="100"/>
              </a:spcBef>
              <a:spcAft>
                <a:spcPts val="100"/>
              </a:spcAft>
            </a:pPr>
            <a:endParaRPr sz="1600" b="0" i="1" dirty="0">
              <a:solidFill>
                <a:srgbClr val="6B0000"/>
              </a:solidFill>
              <a:latin typeface="Times New Roman"/>
            </a:endParaRPr>
          </a:p>
          <a:p>
            <a:pPr algn="l">
              <a:spcBef>
                <a:spcPts val="100"/>
              </a:spcBef>
              <a:spcAft>
                <a:spcPts val="100"/>
              </a:spcAft>
            </a:pPr>
            <a:r>
              <a:rPr sz="1600" b="0" i="0" dirty="0">
                <a:solidFill>
                  <a:srgbClr val="1A0A00"/>
                </a:solidFill>
                <a:latin typeface="Times New Roman"/>
              </a:rPr>
              <a:t>1.  No end-to-end traceability system</a:t>
            </a:r>
            <a:r>
              <a:rPr lang="en-IN" sz="1600" dirty="0">
                <a:solidFill>
                  <a:srgbClr val="1A0A00"/>
                </a:solidFill>
                <a:latin typeface="Times New Roman"/>
              </a:rPr>
              <a:t>: We saw that</a:t>
            </a:r>
            <a:r>
              <a:rPr sz="1600" b="0" i="0" dirty="0">
                <a:solidFill>
                  <a:srgbClr val="1A0A00"/>
                </a:solidFill>
                <a:latin typeface="Times New Roman"/>
              </a:rPr>
              <a:t> supply chain blind spots from farm to consumer.</a:t>
            </a:r>
          </a:p>
          <a:p>
            <a:pPr algn="l">
              <a:spcBef>
                <a:spcPts val="100"/>
              </a:spcBef>
              <a:spcAft>
                <a:spcPts val="100"/>
              </a:spcAft>
            </a:pPr>
            <a:r>
              <a:rPr sz="1600" b="0" i="0" dirty="0">
                <a:solidFill>
                  <a:srgbClr val="1A0A00"/>
                </a:solidFill>
                <a:latin typeface="Times New Roman"/>
              </a:rPr>
              <a:t>2.  Fragmented digital platforms</a:t>
            </a:r>
            <a:r>
              <a:rPr lang="en-IN" sz="1600" b="0" i="0" dirty="0">
                <a:solidFill>
                  <a:srgbClr val="1A0A00"/>
                </a:solidFill>
                <a:latin typeface="Times New Roman"/>
              </a:rPr>
              <a:t>: It showed that existing platforms like</a:t>
            </a:r>
            <a:r>
              <a:rPr sz="1600" b="0" i="0" dirty="0">
                <a:solidFill>
                  <a:srgbClr val="1A0A00"/>
                </a:solidFill>
                <a:latin typeface="Times New Roman"/>
              </a:rPr>
              <a:t> e-</a:t>
            </a:r>
            <a:r>
              <a:rPr sz="1600" b="0" i="0" dirty="0" err="1">
                <a:solidFill>
                  <a:srgbClr val="1A0A00"/>
                </a:solidFill>
                <a:latin typeface="Times New Roman"/>
              </a:rPr>
              <a:t>Aushadhi</a:t>
            </a:r>
            <a:r>
              <a:rPr sz="1600" b="0" i="0" dirty="0">
                <a:solidFill>
                  <a:srgbClr val="1A0A00"/>
                </a:solidFill>
                <a:latin typeface="Times New Roman"/>
              </a:rPr>
              <a:t> and e-Charak do not communicate.</a:t>
            </a:r>
          </a:p>
          <a:p>
            <a:pPr algn="l">
              <a:spcBef>
                <a:spcPts val="100"/>
              </a:spcBef>
              <a:spcAft>
                <a:spcPts val="100"/>
              </a:spcAft>
            </a:pPr>
            <a:r>
              <a:rPr sz="1600" b="0" i="0" dirty="0">
                <a:solidFill>
                  <a:srgbClr val="1A0A00"/>
                </a:solidFill>
                <a:latin typeface="Times New Roman"/>
              </a:rPr>
              <a:t>3.  No export compliance automation</a:t>
            </a:r>
            <a:r>
              <a:rPr lang="en-IN" sz="1600" dirty="0">
                <a:solidFill>
                  <a:srgbClr val="1A0A00"/>
                </a:solidFill>
                <a:latin typeface="Times New Roman"/>
              </a:rPr>
              <a:t>:</a:t>
            </a:r>
            <a:r>
              <a:rPr lang="en-IN" sz="1600" b="0" i="0" dirty="0">
                <a:solidFill>
                  <a:srgbClr val="1A0A00"/>
                </a:solidFill>
                <a:latin typeface="Times New Roman"/>
              </a:rPr>
              <a:t> No existing system helps in doing regulatory compliance</a:t>
            </a:r>
            <a:r>
              <a:rPr sz="1600" b="0" i="0" dirty="0">
                <a:solidFill>
                  <a:srgbClr val="1A0A00"/>
                </a:solidFill>
                <a:latin typeface="Times New Roman"/>
              </a:rPr>
              <a:t>t for EU FMD or US DSCSA</a:t>
            </a:r>
            <a:r>
              <a:rPr lang="en-IN" sz="1600" b="0" i="0" dirty="0">
                <a:solidFill>
                  <a:srgbClr val="1A0A00"/>
                </a:solidFill>
                <a:latin typeface="Times New Roman"/>
              </a:rPr>
              <a:t>.</a:t>
            </a:r>
            <a:endParaRPr sz="1600" b="0" i="0" dirty="0">
              <a:solidFill>
                <a:srgbClr val="1A0A00"/>
              </a:solidFill>
              <a:latin typeface="Times New Roman"/>
            </a:endParaRPr>
          </a:p>
          <a:p>
            <a:pPr algn="l">
              <a:spcBef>
                <a:spcPts val="100"/>
              </a:spcBef>
              <a:spcAft>
                <a:spcPts val="100"/>
              </a:spcAft>
            </a:pPr>
            <a:r>
              <a:rPr sz="1600" b="0" i="0" dirty="0">
                <a:solidFill>
                  <a:srgbClr val="1A0A00"/>
                </a:solidFill>
                <a:latin typeface="Times New Roman"/>
              </a:rPr>
              <a:t>4.  No real-time sustainability tracking</a:t>
            </a:r>
            <a:r>
              <a:rPr lang="en-IN" sz="1600" b="0" i="0" dirty="0">
                <a:solidFill>
                  <a:srgbClr val="1A0A00"/>
                </a:solidFill>
                <a:latin typeface="Times New Roman"/>
              </a:rPr>
              <a:t> </a:t>
            </a:r>
            <a:r>
              <a:rPr lang="en-IN" sz="1600" b="0" i="0" dirty="0" err="1">
                <a:solidFill>
                  <a:srgbClr val="1A0A00"/>
                </a:solidFill>
                <a:latin typeface="Times New Roman"/>
              </a:rPr>
              <a:t>i.e</a:t>
            </a:r>
            <a:r>
              <a:rPr lang="en-IN" sz="1600" b="0" i="0" dirty="0">
                <a:solidFill>
                  <a:srgbClr val="1A0A00"/>
                </a:solidFill>
                <a:latin typeface="Times New Roman"/>
              </a:rPr>
              <a:t> </a:t>
            </a:r>
            <a:r>
              <a:rPr sz="1600" b="0" i="0" dirty="0">
                <a:solidFill>
                  <a:srgbClr val="1A0A00"/>
                </a:solidFill>
                <a:latin typeface="Times New Roman"/>
              </a:rPr>
              <a:t> environmental metrics are completely absent</a:t>
            </a:r>
            <a:r>
              <a:rPr lang="en-IN" sz="1600" b="0" i="0" dirty="0">
                <a:solidFill>
                  <a:srgbClr val="1A0A00"/>
                </a:solidFill>
                <a:latin typeface="Times New Roman"/>
              </a:rPr>
              <a:t> (its not SDG inclusive)</a:t>
            </a:r>
            <a:endParaRPr sz="1600" b="0" i="0" dirty="0">
              <a:solidFill>
                <a:srgbClr val="1A0A00"/>
              </a:solidFill>
              <a:latin typeface="Times New Roman"/>
            </a:endParaRPr>
          </a:p>
          <a:p>
            <a:pPr algn="l">
              <a:spcBef>
                <a:spcPts val="100"/>
              </a:spcBef>
              <a:spcAft>
                <a:spcPts val="100"/>
              </a:spcAft>
            </a:pPr>
            <a:r>
              <a:rPr sz="1600" b="0" i="0" dirty="0">
                <a:solidFill>
                  <a:srgbClr val="1A0A00"/>
                </a:solidFill>
                <a:latin typeface="Times New Roman"/>
              </a:rPr>
              <a:t>5.  Limited inclusion of small farmers</a:t>
            </a:r>
            <a:r>
              <a:rPr lang="en-IN" sz="1600" b="0" i="0" dirty="0">
                <a:solidFill>
                  <a:srgbClr val="1A0A00"/>
                </a:solidFill>
                <a:latin typeface="Times New Roman"/>
              </a:rPr>
              <a:t>: </a:t>
            </a:r>
            <a:r>
              <a:rPr sz="1600" b="0" i="0" dirty="0">
                <a:solidFill>
                  <a:srgbClr val="1A0A00"/>
                </a:solidFill>
                <a:latin typeface="Times New Roman"/>
              </a:rPr>
              <a:t>no accessible digital verification tools</a:t>
            </a:r>
            <a:r>
              <a:rPr lang="en-IN" sz="1600" b="0" i="0" dirty="0">
                <a:solidFill>
                  <a:srgbClr val="1A0A00"/>
                </a:solidFill>
                <a:latin typeface="Times New Roman"/>
              </a:rPr>
              <a:t> which could be used by the mass.</a:t>
            </a:r>
            <a:endParaRPr sz="1600" b="0" i="0" dirty="0">
              <a:solidFill>
                <a:srgbClr val="1A0A00"/>
              </a:solidFill>
              <a:latin typeface="Times New Roman"/>
            </a:endParaRPr>
          </a:p>
          <a:p>
            <a:pPr algn="l">
              <a:spcBef>
                <a:spcPts val="100"/>
              </a:spcBef>
              <a:spcAft>
                <a:spcPts val="100"/>
              </a:spcAft>
            </a:pPr>
            <a:r>
              <a:rPr sz="1600" b="0" i="0" dirty="0">
                <a:solidFill>
                  <a:srgbClr val="1A0A00"/>
                </a:solidFill>
                <a:latin typeface="Times New Roman"/>
              </a:rPr>
              <a:t>6.  Lack of authenticity verification</a:t>
            </a:r>
            <a:r>
              <a:rPr lang="en-IN" sz="1600" b="0" i="0" dirty="0">
                <a:solidFill>
                  <a:srgbClr val="1A0A00"/>
                </a:solidFill>
                <a:latin typeface="Times New Roman"/>
              </a:rPr>
              <a:t>: There is no physical or</a:t>
            </a:r>
            <a:r>
              <a:rPr sz="1600" b="0" i="0" dirty="0">
                <a:solidFill>
                  <a:srgbClr val="1A0A00"/>
                </a:solidFill>
                <a:latin typeface="Times New Roman"/>
              </a:rPr>
              <a:t> AI-based visual </a:t>
            </a:r>
            <a:r>
              <a:rPr lang="en-IN" sz="1600" b="0" i="0" dirty="0">
                <a:solidFill>
                  <a:srgbClr val="1A0A00"/>
                </a:solidFill>
                <a:latin typeface="Times New Roman"/>
              </a:rPr>
              <a:t>cross </a:t>
            </a:r>
            <a:r>
              <a:rPr sz="1600" b="0" i="0" dirty="0">
                <a:solidFill>
                  <a:srgbClr val="1A0A00"/>
                </a:solidFill>
                <a:latin typeface="Times New Roman"/>
              </a:rPr>
              <a:t>check at point of upload</a:t>
            </a:r>
            <a:r>
              <a:rPr lang="en-IN" sz="1600" b="0" i="0" dirty="0">
                <a:solidFill>
                  <a:srgbClr val="1A0A00"/>
                </a:solidFill>
                <a:latin typeface="Times New Roman"/>
              </a:rPr>
              <a:t> to see whether its valid or invalid.</a:t>
            </a:r>
            <a:endParaRPr sz="1600" b="0" i="0" dirty="0">
              <a:solidFill>
                <a:srgbClr val="1A0A00"/>
              </a:solidFill>
              <a:latin typeface="Times New Roman"/>
            </a:endParaRPr>
          </a:p>
        </p:txBody>
      </p:sp>
      <p:sp>
        <p:nvSpPr>
          <p:cNvPr id="9" name="TextBox 8"/>
          <p:cNvSpPr txBox="1"/>
          <p:nvPr/>
        </p:nvSpPr>
        <p:spPr>
          <a:xfrm>
            <a:off x="432000"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4  of  18     AyurAuth  |  Aditya Rajesh Srinivas &amp; Shreya Vikas Jhamb</a:t>
            </a:r>
          </a:p>
        </p:txBody>
      </p:sp>
      <p:grpSp>
        <p:nvGrpSpPr>
          <p:cNvPr id="10" name="Group 10">
            <a:extLst>
              <a:ext uri="{FF2B5EF4-FFF2-40B4-BE49-F238E27FC236}">
                <a16:creationId xmlns:a16="http://schemas.microsoft.com/office/drawing/2014/main" id="{5C73C93C-ABD3-60D2-2A25-7506210938A2}"/>
              </a:ext>
            </a:extLst>
          </p:cNvPr>
          <p:cNvGrpSpPr/>
          <p:nvPr/>
        </p:nvGrpSpPr>
        <p:grpSpPr>
          <a:xfrm>
            <a:off x="211672" y="45846"/>
            <a:ext cx="2088617" cy="711872"/>
            <a:chOff x="0" y="0"/>
            <a:chExt cx="2784823" cy="949162"/>
          </a:xfrm>
        </p:grpSpPr>
        <p:sp>
          <p:nvSpPr>
            <p:cNvPr id="11" name="Freeform 11">
              <a:extLst>
                <a:ext uri="{FF2B5EF4-FFF2-40B4-BE49-F238E27FC236}">
                  <a16:creationId xmlns:a16="http://schemas.microsoft.com/office/drawing/2014/main" id="{974DF947-1989-57BB-4A69-6627D3E00AAC}"/>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2"/>
              <a:stretch>
                <a:fillRect r="-1" b="2"/>
              </a:stretch>
            </a:blipFill>
          </p:spPr>
        </p:sp>
      </p:grpSp>
      <p:grpSp>
        <p:nvGrpSpPr>
          <p:cNvPr id="12" name="Group 8">
            <a:extLst>
              <a:ext uri="{FF2B5EF4-FFF2-40B4-BE49-F238E27FC236}">
                <a16:creationId xmlns:a16="http://schemas.microsoft.com/office/drawing/2014/main" id="{B9434840-F84F-F88D-C435-5F7B37BF0E74}"/>
              </a:ext>
            </a:extLst>
          </p:cNvPr>
          <p:cNvGrpSpPr/>
          <p:nvPr/>
        </p:nvGrpSpPr>
        <p:grpSpPr>
          <a:xfrm>
            <a:off x="11289761" y="59993"/>
            <a:ext cx="798262" cy="600013"/>
            <a:chOff x="0" y="0"/>
            <a:chExt cx="1456944" cy="1079221"/>
          </a:xfrm>
        </p:grpSpPr>
        <p:sp>
          <p:nvSpPr>
            <p:cNvPr id="13" name="Freeform 9" descr="Graphical user interface, text, application  Description automatically generated">
              <a:extLst>
                <a:ext uri="{FF2B5EF4-FFF2-40B4-BE49-F238E27FC236}">
                  <a16:creationId xmlns:a16="http://schemas.microsoft.com/office/drawing/2014/main" id="{3CB6EFD2-5154-23CC-DC2A-D129CFD47D9B}"/>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3"/>
              <a:stretch>
                <a:fillRect b="-1447"/>
              </a:stretch>
            </a:blipFill>
          </p:spPr>
        </p:sp>
      </p:grpSp>
      <p:grpSp>
        <p:nvGrpSpPr>
          <p:cNvPr id="22" name="Group 2">
            <a:extLst>
              <a:ext uri="{FF2B5EF4-FFF2-40B4-BE49-F238E27FC236}">
                <a16:creationId xmlns:a16="http://schemas.microsoft.com/office/drawing/2014/main" id="{71737D51-CB01-72CF-EE43-D1ADFE58C348}"/>
              </a:ext>
            </a:extLst>
          </p:cNvPr>
          <p:cNvGrpSpPr/>
          <p:nvPr/>
        </p:nvGrpSpPr>
        <p:grpSpPr>
          <a:xfrm>
            <a:off x="0" y="6020688"/>
            <a:ext cx="824253" cy="837332"/>
            <a:chOff x="0" y="0"/>
            <a:chExt cx="1676400" cy="1580985"/>
          </a:xfrm>
        </p:grpSpPr>
        <p:sp>
          <p:nvSpPr>
            <p:cNvPr id="23" name="Freeform 3">
              <a:extLst>
                <a:ext uri="{FF2B5EF4-FFF2-40B4-BE49-F238E27FC236}">
                  <a16:creationId xmlns:a16="http://schemas.microsoft.com/office/drawing/2014/main" id="{E2CB782B-09AA-2732-E1B4-478A28B63BD4}"/>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24" name="Group 6">
            <a:extLst>
              <a:ext uri="{FF2B5EF4-FFF2-40B4-BE49-F238E27FC236}">
                <a16:creationId xmlns:a16="http://schemas.microsoft.com/office/drawing/2014/main" id="{F5EAA169-CBCA-5790-D3F5-C954EF3121A8}"/>
              </a:ext>
            </a:extLst>
          </p:cNvPr>
          <p:cNvGrpSpPr/>
          <p:nvPr/>
        </p:nvGrpSpPr>
        <p:grpSpPr>
          <a:xfrm>
            <a:off x="775093" y="6265116"/>
            <a:ext cx="9024002" cy="592884"/>
            <a:chOff x="0" y="0"/>
            <a:chExt cx="18662828" cy="1029805"/>
          </a:xfrm>
        </p:grpSpPr>
        <p:sp>
          <p:nvSpPr>
            <p:cNvPr id="25" name="Freeform 7">
              <a:extLst>
                <a:ext uri="{FF2B5EF4-FFF2-40B4-BE49-F238E27FC236}">
                  <a16:creationId xmlns:a16="http://schemas.microsoft.com/office/drawing/2014/main" id="{91413769-6C33-8254-42E4-67E72A6AC03E}"/>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6" name="Group 4">
            <a:extLst>
              <a:ext uri="{FF2B5EF4-FFF2-40B4-BE49-F238E27FC236}">
                <a16:creationId xmlns:a16="http://schemas.microsoft.com/office/drawing/2014/main" id="{A95204A9-29BA-CADE-6C91-2DC01F8254F7}"/>
              </a:ext>
            </a:extLst>
          </p:cNvPr>
          <p:cNvGrpSpPr/>
          <p:nvPr/>
        </p:nvGrpSpPr>
        <p:grpSpPr>
          <a:xfrm>
            <a:off x="9783605" y="6265094"/>
            <a:ext cx="2408090" cy="592906"/>
            <a:chOff x="0" y="0"/>
            <a:chExt cx="4044785" cy="1029805"/>
          </a:xfrm>
        </p:grpSpPr>
        <p:sp>
          <p:nvSpPr>
            <p:cNvPr id="27" name="Freeform 5">
              <a:extLst>
                <a:ext uri="{FF2B5EF4-FFF2-40B4-BE49-F238E27FC236}">
                  <a16:creationId xmlns:a16="http://schemas.microsoft.com/office/drawing/2014/main" id="{63F1218F-68BD-8840-9D79-7505E0A6354B}"/>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29" name="TextBox 28">
            <a:extLst>
              <a:ext uri="{FF2B5EF4-FFF2-40B4-BE49-F238E27FC236}">
                <a16:creationId xmlns:a16="http://schemas.microsoft.com/office/drawing/2014/main" id="{730CF0D8-6B29-31AA-ED78-93254361CA4E}"/>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6 of  17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12601"/>
            <a:ext cx="11219695" cy="553998"/>
          </a:xfrm>
          <a:prstGeom prst="rect">
            <a:avLst/>
          </a:prstGeom>
          <a:noFill/>
        </p:spPr>
        <p:txBody>
          <a:bodyPr wrap="square" lIns="0" tIns="0" rIns="0" bIns="0" anchor="ctr">
            <a:spAutoFit/>
          </a:bodyPr>
          <a:lstStyle/>
          <a:p>
            <a:pPr algn="ctr"/>
            <a:r>
              <a:rPr sz="3600" b="1" i="0" dirty="0">
                <a:latin typeface="Times New Roman"/>
              </a:rPr>
              <a:t>Objectives of the Project</a:t>
            </a:r>
          </a:p>
        </p:txBody>
      </p:sp>
      <p:sp>
        <p:nvSpPr>
          <p:cNvPr id="8" name="TextBox 7"/>
          <p:cNvSpPr txBox="1"/>
          <p:nvPr/>
        </p:nvSpPr>
        <p:spPr>
          <a:xfrm>
            <a:off x="934647" y="1268629"/>
            <a:ext cx="10484400" cy="3411190"/>
          </a:xfrm>
          <a:prstGeom prst="rect">
            <a:avLst/>
          </a:prstGeom>
          <a:noFill/>
        </p:spPr>
        <p:txBody>
          <a:bodyPr wrap="square" lIns="0" tIns="0" rIns="0" bIns="0" anchor="t">
            <a:spAutoFit/>
          </a:bodyPr>
          <a:lstStyle/>
          <a:p>
            <a:pPr algn="l">
              <a:spcBef>
                <a:spcPts val="100"/>
              </a:spcBef>
              <a:spcAft>
                <a:spcPts val="100"/>
              </a:spcAft>
            </a:pPr>
            <a:r>
              <a:rPr sz="2100" b="0" i="0" dirty="0">
                <a:solidFill>
                  <a:srgbClr val="1A0A00"/>
                </a:solidFill>
                <a:latin typeface="Times New Roman"/>
              </a:rPr>
              <a:t>1.  Implement blockchain traceability using </a:t>
            </a:r>
            <a:r>
              <a:rPr lang="en-IN" sz="2100" b="0" i="0" dirty="0">
                <a:solidFill>
                  <a:srgbClr val="1A0A00"/>
                </a:solidFill>
                <a:latin typeface="Times New Roman"/>
              </a:rPr>
              <a:t>Polygon </a:t>
            </a:r>
            <a:r>
              <a:rPr sz="2100" b="0" i="0" dirty="0">
                <a:solidFill>
                  <a:srgbClr val="1A0A00"/>
                </a:solidFill>
                <a:latin typeface="Times New Roman"/>
              </a:rPr>
              <a:t>for tamper-proof herb tracking.</a:t>
            </a:r>
          </a:p>
          <a:p>
            <a:pPr algn="l">
              <a:spcBef>
                <a:spcPts val="100"/>
              </a:spcBef>
              <a:spcAft>
                <a:spcPts val="100"/>
              </a:spcAft>
            </a:pPr>
            <a:r>
              <a:rPr sz="2100" b="0" i="0" dirty="0">
                <a:solidFill>
                  <a:srgbClr val="1A0A00"/>
                </a:solidFill>
                <a:latin typeface="Times New Roman"/>
              </a:rPr>
              <a:t>2.  Evaluate system performance</a:t>
            </a:r>
            <a:r>
              <a:rPr lang="en-IN" sz="2100" b="0" i="0" dirty="0">
                <a:solidFill>
                  <a:srgbClr val="1A0A00"/>
                </a:solidFill>
                <a:latin typeface="Times New Roman"/>
              </a:rPr>
              <a:t> with parameters like</a:t>
            </a:r>
            <a:r>
              <a:rPr sz="2100" b="0" i="0" dirty="0">
                <a:solidFill>
                  <a:srgbClr val="1A0A00"/>
                </a:solidFill>
                <a:latin typeface="Times New Roman"/>
              </a:rPr>
              <a:t> benchmark throughput, latency, scalability.</a:t>
            </a:r>
          </a:p>
          <a:p>
            <a:pPr algn="l">
              <a:spcBef>
                <a:spcPts val="100"/>
              </a:spcBef>
              <a:spcAft>
                <a:spcPts val="100"/>
              </a:spcAft>
            </a:pPr>
            <a:r>
              <a:rPr sz="2100" b="0" i="0" dirty="0">
                <a:solidFill>
                  <a:srgbClr val="1A0A00"/>
                </a:solidFill>
                <a:latin typeface="Times New Roman"/>
              </a:rPr>
              <a:t>3.  Develop AI herb authentication using CNN (</a:t>
            </a:r>
            <a:r>
              <a:rPr sz="2100" b="0" i="0" dirty="0" err="1">
                <a:solidFill>
                  <a:srgbClr val="1A0A00"/>
                </a:solidFill>
                <a:latin typeface="Times New Roman"/>
              </a:rPr>
              <a:t>MobileNetV</a:t>
            </a:r>
            <a:r>
              <a:rPr lang="en-IN" sz="2100" b="0" i="0" dirty="0">
                <a:solidFill>
                  <a:srgbClr val="1A0A00"/>
                </a:solidFill>
                <a:latin typeface="Times New Roman"/>
              </a:rPr>
              <a:t>2</a:t>
            </a:r>
            <a:r>
              <a:rPr sz="2100" b="0" i="0" dirty="0">
                <a:solidFill>
                  <a:srgbClr val="1A0A00"/>
                </a:solidFill>
                <a:latin typeface="Times New Roman"/>
              </a:rPr>
              <a:t>)</a:t>
            </a:r>
            <a:r>
              <a:rPr lang="en-IN" sz="2100" b="0" i="0" dirty="0">
                <a:solidFill>
                  <a:srgbClr val="1A0A00"/>
                </a:solidFill>
                <a:latin typeface="Times New Roman"/>
              </a:rPr>
              <a:t>,</a:t>
            </a:r>
            <a:r>
              <a:rPr sz="2100" b="0" i="0" dirty="0">
                <a:solidFill>
                  <a:srgbClr val="1A0A00"/>
                </a:solidFill>
                <a:latin typeface="Times New Roman"/>
              </a:rPr>
              <a:t> ~85% accuracy across 10 herb classes.</a:t>
            </a:r>
          </a:p>
          <a:p>
            <a:pPr algn="l">
              <a:spcBef>
                <a:spcPts val="100"/>
              </a:spcBef>
              <a:spcAft>
                <a:spcPts val="100"/>
              </a:spcAft>
            </a:pPr>
            <a:r>
              <a:rPr sz="2100" b="0" i="0" dirty="0">
                <a:solidFill>
                  <a:srgbClr val="1A0A00"/>
                </a:solidFill>
                <a:latin typeface="Times New Roman"/>
              </a:rPr>
              <a:t>4.  Enable geo-tagging using the Browser Geolocation API</a:t>
            </a:r>
            <a:r>
              <a:rPr lang="en-IN" sz="2100" b="0" i="0" dirty="0">
                <a:solidFill>
                  <a:srgbClr val="1A0A00"/>
                </a:solidFill>
                <a:latin typeface="Times New Roman"/>
              </a:rPr>
              <a:t>,</a:t>
            </a:r>
            <a:r>
              <a:rPr sz="2100" b="0" i="0" dirty="0">
                <a:solidFill>
                  <a:srgbClr val="1A0A00"/>
                </a:solidFill>
                <a:latin typeface="Times New Roman"/>
              </a:rPr>
              <a:t> no IoT hardware required.</a:t>
            </a:r>
          </a:p>
          <a:p>
            <a:pPr algn="l">
              <a:spcBef>
                <a:spcPts val="100"/>
              </a:spcBef>
              <a:spcAft>
                <a:spcPts val="100"/>
              </a:spcAft>
            </a:pPr>
            <a:r>
              <a:rPr sz="2100" b="0" i="0" dirty="0">
                <a:solidFill>
                  <a:srgbClr val="1A0A00"/>
                </a:solidFill>
                <a:latin typeface="Times New Roman"/>
              </a:rPr>
              <a:t>5.  Implement QR code verification (</a:t>
            </a:r>
            <a:r>
              <a:rPr sz="2100" b="0" i="0" dirty="0" err="1">
                <a:solidFill>
                  <a:srgbClr val="1A0A00"/>
                </a:solidFill>
                <a:latin typeface="Times New Roman"/>
              </a:rPr>
              <a:t>jsQR</a:t>
            </a:r>
            <a:r>
              <a:rPr sz="2100" b="0" i="0" dirty="0">
                <a:solidFill>
                  <a:srgbClr val="1A0A00"/>
                </a:solidFill>
                <a:latin typeface="Times New Roman"/>
              </a:rPr>
              <a:t>)</a:t>
            </a:r>
            <a:r>
              <a:rPr lang="en-IN" sz="2100" b="0" i="0" dirty="0">
                <a:solidFill>
                  <a:srgbClr val="1A0A00"/>
                </a:solidFill>
                <a:latin typeface="Times New Roman"/>
              </a:rPr>
              <a:t> </a:t>
            </a:r>
            <a:r>
              <a:rPr sz="2100" b="0" i="0" dirty="0">
                <a:solidFill>
                  <a:srgbClr val="1A0A00"/>
                </a:solidFill>
                <a:latin typeface="Times New Roman"/>
              </a:rPr>
              <a:t>camera scan, image upload</a:t>
            </a:r>
            <a:r>
              <a:rPr lang="en-IN" sz="2100" dirty="0">
                <a:solidFill>
                  <a:srgbClr val="1A0A00"/>
                </a:solidFill>
                <a:latin typeface="Times New Roman"/>
              </a:rPr>
              <a:t> or </a:t>
            </a:r>
            <a:r>
              <a:rPr sz="2100" b="0" i="0" dirty="0">
                <a:solidFill>
                  <a:srgbClr val="1A0A00"/>
                </a:solidFill>
                <a:latin typeface="Times New Roman"/>
              </a:rPr>
              <a:t>manual Batch ID entry.</a:t>
            </a:r>
          </a:p>
          <a:p>
            <a:pPr algn="l">
              <a:spcBef>
                <a:spcPts val="100"/>
              </a:spcBef>
              <a:spcAft>
                <a:spcPts val="100"/>
              </a:spcAft>
            </a:pPr>
            <a:r>
              <a:rPr sz="2100" b="0" i="0" dirty="0">
                <a:solidFill>
                  <a:srgbClr val="1A0A00"/>
                </a:solidFill>
                <a:latin typeface="Times New Roman"/>
              </a:rPr>
              <a:t>6.  Design a mobile-first, multilingual React 18 SPA supporting 10 languages via react-i18next.</a:t>
            </a:r>
          </a:p>
          <a:p>
            <a:pPr algn="l">
              <a:spcBef>
                <a:spcPts val="100"/>
              </a:spcBef>
              <a:spcAft>
                <a:spcPts val="100"/>
              </a:spcAft>
            </a:pPr>
            <a:r>
              <a:rPr sz="2100" b="0" i="0" dirty="0">
                <a:solidFill>
                  <a:srgbClr val="1A0A00"/>
                </a:solidFill>
                <a:latin typeface="Times New Roman"/>
              </a:rPr>
              <a:t>7.  Integrate an NLP AI chatbot for real-time user assistance accessible from every page.</a:t>
            </a:r>
          </a:p>
          <a:p>
            <a:pPr algn="l">
              <a:spcBef>
                <a:spcPts val="100"/>
              </a:spcBef>
              <a:spcAft>
                <a:spcPts val="100"/>
              </a:spcAft>
            </a:pPr>
            <a:r>
              <a:rPr sz="2100" b="0" i="0" dirty="0">
                <a:solidFill>
                  <a:srgbClr val="1A0A00"/>
                </a:solidFill>
                <a:latin typeface="Times New Roman"/>
              </a:rPr>
              <a:t>8.  Incorporate export compliance aligned with EU Falsified Medicines Directive and US DSCSA.</a:t>
            </a:r>
          </a:p>
        </p:txBody>
      </p:sp>
      <p:sp>
        <p:nvSpPr>
          <p:cNvPr id="9" name="TextBox 8"/>
          <p:cNvSpPr txBox="1"/>
          <p:nvPr/>
        </p:nvSpPr>
        <p:spPr>
          <a:xfrm>
            <a:off x="432000"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8  of  18     AyurAuth  |  Aditya Rajesh Srinivas &amp; Shreya Vikas Jhamb</a:t>
            </a:r>
          </a:p>
        </p:txBody>
      </p:sp>
      <p:grpSp>
        <p:nvGrpSpPr>
          <p:cNvPr id="10" name="Group 10">
            <a:extLst>
              <a:ext uri="{FF2B5EF4-FFF2-40B4-BE49-F238E27FC236}">
                <a16:creationId xmlns:a16="http://schemas.microsoft.com/office/drawing/2014/main" id="{BF88DC55-8CE9-A29D-2357-0F49D1B36706}"/>
              </a:ext>
            </a:extLst>
          </p:cNvPr>
          <p:cNvGrpSpPr/>
          <p:nvPr/>
        </p:nvGrpSpPr>
        <p:grpSpPr>
          <a:xfrm>
            <a:off x="162000" y="54000"/>
            <a:ext cx="2088617" cy="711872"/>
            <a:chOff x="0" y="0"/>
            <a:chExt cx="2784823" cy="949162"/>
          </a:xfrm>
        </p:grpSpPr>
        <p:sp>
          <p:nvSpPr>
            <p:cNvPr id="11" name="Freeform 11">
              <a:extLst>
                <a:ext uri="{FF2B5EF4-FFF2-40B4-BE49-F238E27FC236}">
                  <a16:creationId xmlns:a16="http://schemas.microsoft.com/office/drawing/2014/main" id="{3963AFE7-D487-162E-16D9-8AFD87737F7E}"/>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2"/>
              <a:stretch>
                <a:fillRect r="-1" b="2"/>
              </a:stretch>
            </a:blipFill>
          </p:spPr>
        </p:sp>
      </p:grpSp>
      <p:grpSp>
        <p:nvGrpSpPr>
          <p:cNvPr id="12" name="Group 8">
            <a:extLst>
              <a:ext uri="{FF2B5EF4-FFF2-40B4-BE49-F238E27FC236}">
                <a16:creationId xmlns:a16="http://schemas.microsoft.com/office/drawing/2014/main" id="{9FED1962-24EA-3A90-D93C-0295B31A3110}"/>
              </a:ext>
            </a:extLst>
          </p:cNvPr>
          <p:cNvGrpSpPr/>
          <p:nvPr/>
        </p:nvGrpSpPr>
        <p:grpSpPr>
          <a:xfrm>
            <a:off x="11289761" y="59993"/>
            <a:ext cx="798262" cy="600013"/>
            <a:chOff x="0" y="0"/>
            <a:chExt cx="1456944" cy="1079221"/>
          </a:xfrm>
        </p:grpSpPr>
        <p:sp>
          <p:nvSpPr>
            <p:cNvPr id="13" name="Freeform 9" descr="Graphical user interface, text, application  Description automatically generated">
              <a:extLst>
                <a:ext uri="{FF2B5EF4-FFF2-40B4-BE49-F238E27FC236}">
                  <a16:creationId xmlns:a16="http://schemas.microsoft.com/office/drawing/2014/main" id="{385732B5-2653-7C7A-6A5F-A9B0506E4F02}"/>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3"/>
              <a:stretch>
                <a:fillRect b="-1447"/>
              </a:stretch>
            </a:blipFill>
          </p:spPr>
        </p:sp>
      </p:grpSp>
      <p:grpSp>
        <p:nvGrpSpPr>
          <p:cNvPr id="20" name="Group 2">
            <a:extLst>
              <a:ext uri="{FF2B5EF4-FFF2-40B4-BE49-F238E27FC236}">
                <a16:creationId xmlns:a16="http://schemas.microsoft.com/office/drawing/2014/main" id="{E21AE1D0-7C85-FB7A-0845-FDFAEB926A33}"/>
              </a:ext>
            </a:extLst>
          </p:cNvPr>
          <p:cNvGrpSpPr/>
          <p:nvPr/>
        </p:nvGrpSpPr>
        <p:grpSpPr>
          <a:xfrm>
            <a:off x="0" y="6020688"/>
            <a:ext cx="824253" cy="837332"/>
            <a:chOff x="0" y="0"/>
            <a:chExt cx="1676400" cy="1580985"/>
          </a:xfrm>
        </p:grpSpPr>
        <p:sp>
          <p:nvSpPr>
            <p:cNvPr id="21" name="Freeform 3">
              <a:extLst>
                <a:ext uri="{FF2B5EF4-FFF2-40B4-BE49-F238E27FC236}">
                  <a16:creationId xmlns:a16="http://schemas.microsoft.com/office/drawing/2014/main" id="{1B4A1557-9254-DD7E-8A6B-112C222E1327}"/>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22" name="Group 6">
            <a:extLst>
              <a:ext uri="{FF2B5EF4-FFF2-40B4-BE49-F238E27FC236}">
                <a16:creationId xmlns:a16="http://schemas.microsoft.com/office/drawing/2014/main" id="{A5A7296B-C66A-EF59-17BB-B623D837E424}"/>
              </a:ext>
            </a:extLst>
          </p:cNvPr>
          <p:cNvGrpSpPr/>
          <p:nvPr/>
        </p:nvGrpSpPr>
        <p:grpSpPr>
          <a:xfrm>
            <a:off x="775093" y="6265116"/>
            <a:ext cx="9024002" cy="592884"/>
            <a:chOff x="0" y="0"/>
            <a:chExt cx="18662828" cy="1029805"/>
          </a:xfrm>
        </p:grpSpPr>
        <p:sp>
          <p:nvSpPr>
            <p:cNvPr id="23" name="Freeform 7">
              <a:extLst>
                <a:ext uri="{FF2B5EF4-FFF2-40B4-BE49-F238E27FC236}">
                  <a16:creationId xmlns:a16="http://schemas.microsoft.com/office/drawing/2014/main" id="{EC441C55-FDEB-3E90-6165-E01696DA355C}"/>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4" name="Group 4">
            <a:extLst>
              <a:ext uri="{FF2B5EF4-FFF2-40B4-BE49-F238E27FC236}">
                <a16:creationId xmlns:a16="http://schemas.microsoft.com/office/drawing/2014/main" id="{86B1466E-B4E8-E3D0-C54F-B332049130AC}"/>
              </a:ext>
            </a:extLst>
          </p:cNvPr>
          <p:cNvGrpSpPr/>
          <p:nvPr/>
        </p:nvGrpSpPr>
        <p:grpSpPr>
          <a:xfrm>
            <a:off x="9783605" y="6265094"/>
            <a:ext cx="2408090" cy="592906"/>
            <a:chOff x="0" y="0"/>
            <a:chExt cx="4044785" cy="1029805"/>
          </a:xfrm>
        </p:grpSpPr>
        <p:sp>
          <p:nvSpPr>
            <p:cNvPr id="25" name="Freeform 5">
              <a:extLst>
                <a:ext uri="{FF2B5EF4-FFF2-40B4-BE49-F238E27FC236}">
                  <a16:creationId xmlns:a16="http://schemas.microsoft.com/office/drawing/2014/main" id="{91ACA13A-88ED-85F5-7E93-2CD3E7707F53}"/>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14" name="TextBox 13">
            <a:extLst>
              <a:ext uri="{FF2B5EF4-FFF2-40B4-BE49-F238E27FC236}">
                <a16:creationId xmlns:a16="http://schemas.microsoft.com/office/drawing/2014/main" id="{347BB5D7-72D9-AA7E-B0BF-B3F27502EDD5}"/>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a:t>
            </a:r>
            <a:r>
              <a:rPr lang="en-IN" sz="1400" dirty="0">
                <a:solidFill>
                  <a:srgbClr val="FDF6E3"/>
                </a:solidFill>
                <a:latin typeface="Times New Roman"/>
              </a:rPr>
              <a:t>7 </a:t>
            </a:r>
            <a:r>
              <a:rPr lang="en-IN" sz="1400" b="0" i="0" dirty="0">
                <a:solidFill>
                  <a:srgbClr val="FDF6E3"/>
                </a:solidFill>
                <a:latin typeface="Times New Roman"/>
              </a:rPr>
              <a:t>of  1</a:t>
            </a:r>
            <a:r>
              <a:rPr lang="en-IN" sz="1400" dirty="0">
                <a:solidFill>
                  <a:srgbClr val="FDF6E3"/>
                </a:solidFill>
                <a:latin typeface="Times New Roman"/>
              </a:rPr>
              <a:t>7</a:t>
            </a:r>
            <a:endParaRPr lang="en-IN" sz="1400" b="0" i="0" dirty="0">
              <a:solidFill>
                <a:srgbClr val="FDF6E3"/>
              </a:solidFill>
              <a:latin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12601"/>
            <a:ext cx="11219695" cy="553998"/>
          </a:xfrm>
          <a:prstGeom prst="rect">
            <a:avLst/>
          </a:prstGeom>
          <a:noFill/>
        </p:spPr>
        <p:txBody>
          <a:bodyPr wrap="square" lIns="0" tIns="0" rIns="0" bIns="0" anchor="ctr">
            <a:spAutoFit/>
          </a:bodyPr>
          <a:lstStyle/>
          <a:p>
            <a:pPr algn="ctr"/>
            <a:r>
              <a:rPr sz="3600" b="1" i="0" dirty="0">
                <a:latin typeface="Times New Roman"/>
              </a:rPr>
              <a:t>System Architecture</a:t>
            </a:r>
            <a:r>
              <a:rPr lang="en-IN" sz="3600" b="1" i="0" dirty="0">
                <a:latin typeface="Times New Roman"/>
              </a:rPr>
              <a:t>: </a:t>
            </a:r>
            <a:r>
              <a:rPr sz="3600" b="1" i="0" dirty="0">
                <a:latin typeface="Times New Roman"/>
              </a:rPr>
              <a:t>Block Diagram</a:t>
            </a:r>
          </a:p>
        </p:txBody>
      </p:sp>
      <p:sp>
        <p:nvSpPr>
          <p:cNvPr id="10" name="TextBox 9"/>
          <p:cNvSpPr txBox="1"/>
          <p:nvPr/>
        </p:nvSpPr>
        <p:spPr>
          <a:xfrm>
            <a:off x="432000"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9  of  18     AyurAuth  |  Aditya Rajesh Srinivas &amp; Shreya Vikas Jhamb</a:t>
            </a:r>
          </a:p>
        </p:txBody>
      </p:sp>
      <p:grpSp>
        <p:nvGrpSpPr>
          <p:cNvPr id="11" name="Group 10">
            <a:extLst>
              <a:ext uri="{FF2B5EF4-FFF2-40B4-BE49-F238E27FC236}">
                <a16:creationId xmlns:a16="http://schemas.microsoft.com/office/drawing/2014/main" id="{2FDB667C-4040-2686-176A-9AA9D33F44B3}"/>
              </a:ext>
            </a:extLst>
          </p:cNvPr>
          <p:cNvGrpSpPr/>
          <p:nvPr/>
        </p:nvGrpSpPr>
        <p:grpSpPr>
          <a:xfrm>
            <a:off x="162000" y="4999"/>
            <a:ext cx="2088617" cy="711872"/>
            <a:chOff x="0" y="0"/>
            <a:chExt cx="2784823" cy="949162"/>
          </a:xfrm>
        </p:grpSpPr>
        <p:sp>
          <p:nvSpPr>
            <p:cNvPr id="12" name="Freeform 11">
              <a:extLst>
                <a:ext uri="{FF2B5EF4-FFF2-40B4-BE49-F238E27FC236}">
                  <a16:creationId xmlns:a16="http://schemas.microsoft.com/office/drawing/2014/main" id="{F51C8B1C-438D-314E-B89E-E0F613ED4EA4}"/>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2"/>
              <a:stretch>
                <a:fillRect r="-1" b="2"/>
              </a:stretch>
            </a:blipFill>
          </p:spPr>
        </p:sp>
      </p:grpSp>
      <p:grpSp>
        <p:nvGrpSpPr>
          <p:cNvPr id="17" name="Group 2">
            <a:extLst>
              <a:ext uri="{FF2B5EF4-FFF2-40B4-BE49-F238E27FC236}">
                <a16:creationId xmlns:a16="http://schemas.microsoft.com/office/drawing/2014/main" id="{D33EAC9B-97EA-10D3-1F34-9E4BE3B855C1}"/>
              </a:ext>
            </a:extLst>
          </p:cNvPr>
          <p:cNvGrpSpPr/>
          <p:nvPr/>
        </p:nvGrpSpPr>
        <p:grpSpPr>
          <a:xfrm>
            <a:off x="0" y="6020688"/>
            <a:ext cx="824253" cy="837332"/>
            <a:chOff x="0" y="0"/>
            <a:chExt cx="1676400" cy="1580985"/>
          </a:xfrm>
        </p:grpSpPr>
        <p:sp>
          <p:nvSpPr>
            <p:cNvPr id="18" name="Freeform 3">
              <a:extLst>
                <a:ext uri="{FF2B5EF4-FFF2-40B4-BE49-F238E27FC236}">
                  <a16:creationId xmlns:a16="http://schemas.microsoft.com/office/drawing/2014/main" id="{D3978AE6-D4F1-96EA-5097-4DD3155CB193}"/>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19" name="Group 6">
            <a:extLst>
              <a:ext uri="{FF2B5EF4-FFF2-40B4-BE49-F238E27FC236}">
                <a16:creationId xmlns:a16="http://schemas.microsoft.com/office/drawing/2014/main" id="{009B53DF-EB28-CE57-9E86-BA7E1E07BEE1}"/>
              </a:ext>
            </a:extLst>
          </p:cNvPr>
          <p:cNvGrpSpPr/>
          <p:nvPr/>
        </p:nvGrpSpPr>
        <p:grpSpPr>
          <a:xfrm>
            <a:off x="775093" y="6265116"/>
            <a:ext cx="9024002" cy="592884"/>
            <a:chOff x="0" y="0"/>
            <a:chExt cx="18662828" cy="1029805"/>
          </a:xfrm>
        </p:grpSpPr>
        <p:sp>
          <p:nvSpPr>
            <p:cNvPr id="20" name="Freeform 7">
              <a:extLst>
                <a:ext uri="{FF2B5EF4-FFF2-40B4-BE49-F238E27FC236}">
                  <a16:creationId xmlns:a16="http://schemas.microsoft.com/office/drawing/2014/main" id="{82426530-135E-2120-04C8-CF3B915273D8}"/>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1" name="Group 4">
            <a:extLst>
              <a:ext uri="{FF2B5EF4-FFF2-40B4-BE49-F238E27FC236}">
                <a16:creationId xmlns:a16="http://schemas.microsoft.com/office/drawing/2014/main" id="{4537B25B-498C-E80A-BAE0-BACBCE83C99B}"/>
              </a:ext>
            </a:extLst>
          </p:cNvPr>
          <p:cNvGrpSpPr/>
          <p:nvPr/>
        </p:nvGrpSpPr>
        <p:grpSpPr>
          <a:xfrm>
            <a:off x="9783605" y="6265094"/>
            <a:ext cx="2408090" cy="592906"/>
            <a:chOff x="0" y="0"/>
            <a:chExt cx="4044785" cy="1029805"/>
          </a:xfrm>
        </p:grpSpPr>
        <p:sp>
          <p:nvSpPr>
            <p:cNvPr id="22" name="Freeform 5">
              <a:extLst>
                <a:ext uri="{FF2B5EF4-FFF2-40B4-BE49-F238E27FC236}">
                  <a16:creationId xmlns:a16="http://schemas.microsoft.com/office/drawing/2014/main" id="{38016337-7A6A-B6B6-8713-D6A7D63573F9}"/>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14" name="TextBox 13">
            <a:extLst>
              <a:ext uri="{FF2B5EF4-FFF2-40B4-BE49-F238E27FC236}">
                <a16:creationId xmlns:a16="http://schemas.microsoft.com/office/drawing/2014/main" id="{48AE03FE-6440-136E-8D29-007575D1B13D}"/>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8 of  1</a:t>
            </a:r>
            <a:r>
              <a:rPr lang="en-IN" sz="1400" dirty="0">
                <a:solidFill>
                  <a:srgbClr val="FDF6E3"/>
                </a:solidFill>
                <a:latin typeface="Times New Roman"/>
              </a:rPr>
              <a:t>7</a:t>
            </a:r>
            <a:endParaRPr lang="en-IN" sz="1400" b="0" i="0" dirty="0">
              <a:solidFill>
                <a:srgbClr val="FDF6E3"/>
              </a:solidFill>
              <a:latin typeface="Times New Roman"/>
            </a:endParaRPr>
          </a:p>
        </p:txBody>
      </p:sp>
      <p:grpSp>
        <p:nvGrpSpPr>
          <p:cNvPr id="9" name="Group 8">
            <a:extLst>
              <a:ext uri="{FF2B5EF4-FFF2-40B4-BE49-F238E27FC236}">
                <a16:creationId xmlns:a16="http://schemas.microsoft.com/office/drawing/2014/main" id="{F0CC3DBD-D8E3-CE5A-C258-0632339B314C}"/>
              </a:ext>
            </a:extLst>
          </p:cNvPr>
          <p:cNvGrpSpPr/>
          <p:nvPr/>
        </p:nvGrpSpPr>
        <p:grpSpPr>
          <a:xfrm>
            <a:off x="11289761" y="59993"/>
            <a:ext cx="798262" cy="600013"/>
            <a:chOff x="0" y="0"/>
            <a:chExt cx="1456944" cy="1079221"/>
          </a:xfrm>
        </p:grpSpPr>
        <p:sp>
          <p:nvSpPr>
            <p:cNvPr id="13" name="Freeform 9" descr="Graphical user interface, text, application  Description automatically generated">
              <a:extLst>
                <a:ext uri="{FF2B5EF4-FFF2-40B4-BE49-F238E27FC236}">
                  <a16:creationId xmlns:a16="http://schemas.microsoft.com/office/drawing/2014/main" id="{F5C05878-7752-0237-09D1-A033BF32615E}"/>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3"/>
              <a:stretch>
                <a:fillRect b="-1447"/>
              </a:stretch>
            </a:blipFill>
          </p:spPr>
        </p:sp>
      </p:grpSp>
      <p:pic>
        <p:nvPicPr>
          <p:cNvPr id="15" name="Picture 14">
            <a:extLst>
              <a:ext uri="{FF2B5EF4-FFF2-40B4-BE49-F238E27FC236}">
                <a16:creationId xmlns:a16="http://schemas.microsoft.com/office/drawing/2014/main" id="{82D8AEE7-11C8-4030-9BA9-EF97A47B1ABA}"/>
              </a:ext>
            </a:extLst>
          </p:cNvPr>
          <p:cNvPicPr>
            <a:picLocks noChangeAspect="1"/>
          </p:cNvPicPr>
          <p:nvPr/>
        </p:nvPicPr>
        <p:blipFill>
          <a:blip r:embed="rId4"/>
          <a:stretch>
            <a:fillRect/>
          </a:stretch>
        </p:blipFill>
        <p:spPr>
          <a:xfrm>
            <a:off x="894129" y="1379014"/>
            <a:ext cx="10794763" cy="406050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D45F1C-8B52-6AFC-3640-55CE4C451833}"/>
              </a:ext>
            </a:extLst>
          </p:cNvPr>
          <p:cNvSpPr>
            <a:spLocks noGrp="1"/>
          </p:cNvSpPr>
          <p:nvPr>
            <p:ph type="title"/>
          </p:nvPr>
        </p:nvSpPr>
        <p:spPr>
          <a:xfrm>
            <a:off x="157316" y="274638"/>
            <a:ext cx="11887200" cy="1143000"/>
          </a:xfrm>
        </p:spPr>
        <p:txBody>
          <a:bodyPr>
            <a:normAutofit/>
          </a:bodyPr>
          <a:lstStyle/>
          <a:p>
            <a:r>
              <a:rPr lang="en-IN" sz="3600" b="1" dirty="0">
                <a:latin typeface="Times New Roman" panose="02020603050405020304" pitchFamily="18" charset="0"/>
                <a:cs typeface="Times New Roman" panose="02020603050405020304" pitchFamily="18" charset="0"/>
              </a:rPr>
              <a:t>TECH STACK USED</a:t>
            </a:r>
          </a:p>
        </p:txBody>
      </p:sp>
      <p:grpSp>
        <p:nvGrpSpPr>
          <p:cNvPr id="3" name="Group 10">
            <a:extLst>
              <a:ext uri="{FF2B5EF4-FFF2-40B4-BE49-F238E27FC236}">
                <a16:creationId xmlns:a16="http://schemas.microsoft.com/office/drawing/2014/main" id="{FF91DDB8-F074-4B41-0E52-C349698B80F8}"/>
              </a:ext>
            </a:extLst>
          </p:cNvPr>
          <p:cNvGrpSpPr/>
          <p:nvPr/>
        </p:nvGrpSpPr>
        <p:grpSpPr>
          <a:xfrm>
            <a:off x="211672" y="45846"/>
            <a:ext cx="2088617" cy="711872"/>
            <a:chOff x="0" y="0"/>
            <a:chExt cx="2784823" cy="949162"/>
          </a:xfrm>
        </p:grpSpPr>
        <p:sp>
          <p:nvSpPr>
            <p:cNvPr id="4" name="Freeform 11">
              <a:extLst>
                <a:ext uri="{FF2B5EF4-FFF2-40B4-BE49-F238E27FC236}">
                  <a16:creationId xmlns:a16="http://schemas.microsoft.com/office/drawing/2014/main" id="{3992EE6B-9180-678B-079F-879964FA3D7C}"/>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2"/>
              <a:stretch>
                <a:fillRect r="-1" b="2"/>
              </a:stretch>
            </a:blipFill>
          </p:spPr>
        </p:sp>
      </p:grpSp>
      <p:sp>
        <p:nvSpPr>
          <p:cNvPr id="5" name="Rectangle 4">
            <a:extLst>
              <a:ext uri="{FF2B5EF4-FFF2-40B4-BE49-F238E27FC236}">
                <a16:creationId xmlns:a16="http://schemas.microsoft.com/office/drawing/2014/main" id="{E2469216-373C-C1FE-C3FC-605358DC1A0E}"/>
              </a:ext>
            </a:extLst>
          </p:cNvPr>
          <p:cNvSpPr/>
          <p:nvPr/>
        </p:nvSpPr>
        <p:spPr>
          <a:xfrm>
            <a:off x="0"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pSp>
        <p:nvGrpSpPr>
          <p:cNvPr id="6" name="Group 2">
            <a:extLst>
              <a:ext uri="{FF2B5EF4-FFF2-40B4-BE49-F238E27FC236}">
                <a16:creationId xmlns:a16="http://schemas.microsoft.com/office/drawing/2014/main" id="{D92F3FDC-DB9C-DBF9-2D90-D0E72E6CECD1}"/>
              </a:ext>
            </a:extLst>
          </p:cNvPr>
          <p:cNvGrpSpPr/>
          <p:nvPr/>
        </p:nvGrpSpPr>
        <p:grpSpPr>
          <a:xfrm>
            <a:off x="0" y="6020688"/>
            <a:ext cx="824253" cy="837332"/>
            <a:chOff x="0" y="0"/>
            <a:chExt cx="1676400" cy="1580985"/>
          </a:xfrm>
        </p:grpSpPr>
        <p:sp>
          <p:nvSpPr>
            <p:cNvPr id="7" name="Freeform 3">
              <a:extLst>
                <a:ext uri="{FF2B5EF4-FFF2-40B4-BE49-F238E27FC236}">
                  <a16:creationId xmlns:a16="http://schemas.microsoft.com/office/drawing/2014/main" id="{0CBCEFC7-1810-542C-FF2F-436A9F7E1ED5}"/>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8" name="Group 6">
            <a:extLst>
              <a:ext uri="{FF2B5EF4-FFF2-40B4-BE49-F238E27FC236}">
                <a16:creationId xmlns:a16="http://schemas.microsoft.com/office/drawing/2014/main" id="{670BA773-5BDD-8014-284F-3A7D80294C8B}"/>
              </a:ext>
            </a:extLst>
          </p:cNvPr>
          <p:cNvGrpSpPr/>
          <p:nvPr/>
        </p:nvGrpSpPr>
        <p:grpSpPr>
          <a:xfrm>
            <a:off x="775093" y="6274948"/>
            <a:ext cx="9024002" cy="592884"/>
            <a:chOff x="0" y="0"/>
            <a:chExt cx="18662828" cy="1029805"/>
          </a:xfrm>
        </p:grpSpPr>
        <p:sp>
          <p:nvSpPr>
            <p:cNvPr id="9" name="Freeform 7">
              <a:extLst>
                <a:ext uri="{FF2B5EF4-FFF2-40B4-BE49-F238E27FC236}">
                  <a16:creationId xmlns:a16="http://schemas.microsoft.com/office/drawing/2014/main" id="{CED942A4-938A-F9CF-F152-E343F2476E0D}"/>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10" name="Group 4">
            <a:extLst>
              <a:ext uri="{FF2B5EF4-FFF2-40B4-BE49-F238E27FC236}">
                <a16:creationId xmlns:a16="http://schemas.microsoft.com/office/drawing/2014/main" id="{DC9B3A14-F692-380D-B486-1791FAABE177}"/>
              </a:ext>
            </a:extLst>
          </p:cNvPr>
          <p:cNvGrpSpPr/>
          <p:nvPr/>
        </p:nvGrpSpPr>
        <p:grpSpPr>
          <a:xfrm>
            <a:off x="9783605" y="6265094"/>
            <a:ext cx="2408090" cy="592906"/>
            <a:chOff x="0" y="0"/>
            <a:chExt cx="4044785" cy="1029805"/>
          </a:xfrm>
        </p:grpSpPr>
        <p:sp>
          <p:nvSpPr>
            <p:cNvPr id="11" name="Freeform 5">
              <a:extLst>
                <a:ext uri="{FF2B5EF4-FFF2-40B4-BE49-F238E27FC236}">
                  <a16:creationId xmlns:a16="http://schemas.microsoft.com/office/drawing/2014/main" id="{CD74D6FA-6A5F-CB0D-7391-C11995E5E28A}"/>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12" name="TextBox 11">
            <a:extLst>
              <a:ext uri="{FF2B5EF4-FFF2-40B4-BE49-F238E27FC236}">
                <a16:creationId xmlns:a16="http://schemas.microsoft.com/office/drawing/2014/main" id="{4889F2E5-B726-BD10-1632-554FA63CEB94}"/>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a:t>
            </a:r>
            <a:r>
              <a:rPr lang="en-IN" sz="1400" dirty="0">
                <a:solidFill>
                  <a:srgbClr val="FDF6E3"/>
                </a:solidFill>
                <a:latin typeface="Times New Roman"/>
              </a:rPr>
              <a:t>9</a:t>
            </a:r>
            <a:r>
              <a:rPr lang="en-IN" sz="1400" b="0" i="0" dirty="0">
                <a:solidFill>
                  <a:srgbClr val="FDF6E3"/>
                </a:solidFill>
                <a:latin typeface="Times New Roman"/>
              </a:rPr>
              <a:t> of  1</a:t>
            </a:r>
            <a:r>
              <a:rPr lang="en-IN" sz="1400" dirty="0">
                <a:solidFill>
                  <a:srgbClr val="FDF6E3"/>
                </a:solidFill>
                <a:latin typeface="Times New Roman"/>
              </a:rPr>
              <a:t>7</a:t>
            </a:r>
            <a:endParaRPr lang="en-IN" sz="1400" b="0" i="0" dirty="0">
              <a:solidFill>
                <a:srgbClr val="FDF6E3"/>
              </a:solidFill>
              <a:latin typeface="Times New Roman"/>
            </a:endParaRPr>
          </a:p>
        </p:txBody>
      </p:sp>
      <p:sp>
        <p:nvSpPr>
          <p:cNvPr id="14" name="TextBox 13">
            <a:extLst>
              <a:ext uri="{FF2B5EF4-FFF2-40B4-BE49-F238E27FC236}">
                <a16:creationId xmlns:a16="http://schemas.microsoft.com/office/drawing/2014/main" id="{076479F9-34E4-DC79-3607-4D0A19CC9072}"/>
              </a:ext>
            </a:extLst>
          </p:cNvPr>
          <p:cNvSpPr txBox="1"/>
          <p:nvPr/>
        </p:nvSpPr>
        <p:spPr>
          <a:xfrm>
            <a:off x="530942" y="1564148"/>
            <a:ext cx="11351574" cy="3395801"/>
          </a:xfrm>
          <a:prstGeom prst="rect">
            <a:avLst/>
          </a:prstGeom>
          <a:noFill/>
        </p:spPr>
        <p:txBody>
          <a:bodyPr wrap="square">
            <a:spAutoFit/>
          </a:bodyPr>
          <a:lstStyle/>
          <a:p>
            <a:pPr algn="l">
              <a:spcBef>
                <a:spcPts val="200"/>
              </a:spcBef>
              <a:spcAft>
                <a:spcPts val="200"/>
              </a:spcAft>
            </a:pPr>
            <a:r>
              <a:rPr lang="en-IN" sz="2400" b="1" i="0" dirty="0">
                <a:latin typeface="Times New Roman"/>
              </a:rPr>
              <a:t>Tech Stack:</a:t>
            </a:r>
          </a:p>
          <a:p>
            <a:pPr algn="l">
              <a:spcBef>
                <a:spcPts val="200"/>
              </a:spcBef>
              <a:spcAft>
                <a:spcPts val="200"/>
              </a:spcAft>
            </a:pPr>
            <a:endParaRPr lang="en-IN" sz="2400" b="1" i="0" dirty="0">
              <a:latin typeface="Times New Roman"/>
            </a:endParaRPr>
          </a:p>
          <a:p>
            <a:pPr algn="l">
              <a:spcBef>
                <a:spcPts val="200"/>
              </a:spcBef>
              <a:spcAft>
                <a:spcPts val="200"/>
              </a:spcAft>
            </a:pPr>
            <a:r>
              <a:rPr lang="en-IN" sz="2000" b="0" i="0" dirty="0">
                <a:latin typeface="Times New Roman"/>
              </a:rPr>
              <a:t>  •  React 18 + TypeScript + Vite + Tailwind CSS</a:t>
            </a:r>
          </a:p>
          <a:p>
            <a:pPr algn="l">
              <a:spcBef>
                <a:spcPts val="200"/>
              </a:spcBef>
              <a:spcAft>
                <a:spcPts val="200"/>
              </a:spcAft>
            </a:pPr>
            <a:r>
              <a:rPr lang="en-IN" sz="2000" b="0" i="0" dirty="0">
                <a:latin typeface="Times New Roman"/>
              </a:rPr>
              <a:t>  •  Node.js + Express + MongoDB (Mongoose ODM)</a:t>
            </a:r>
          </a:p>
          <a:p>
            <a:pPr algn="l">
              <a:spcBef>
                <a:spcPts val="200"/>
              </a:spcBef>
              <a:spcAft>
                <a:spcPts val="200"/>
              </a:spcAft>
            </a:pPr>
            <a:r>
              <a:rPr lang="en-IN" sz="2000" b="0" i="0" dirty="0">
                <a:latin typeface="Times New Roman"/>
              </a:rPr>
              <a:t>  •  CNN:- MobileNetV5  (~85% validation accuracy)</a:t>
            </a:r>
          </a:p>
          <a:p>
            <a:pPr algn="l">
              <a:spcBef>
                <a:spcPts val="200"/>
              </a:spcBef>
              <a:spcAft>
                <a:spcPts val="200"/>
              </a:spcAft>
            </a:pPr>
            <a:r>
              <a:rPr lang="en-IN" sz="2000" b="0" i="0" dirty="0">
                <a:latin typeface="Times New Roman"/>
              </a:rPr>
              <a:t>  •  NLP AI Chatbot  (keyword + intent engine)</a:t>
            </a:r>
          </a:p>
          <a:p>
            <a:pPr algn="l">
              <a:spcBef>
                <a:spcPts val="200"/>
              </a:spcBef>
              <a:spcAft>
                <a:spcPts val="200"/>
              </a:spcAft>
            </a:pPr>
            <a:r>
              <a:rPr lang="en-IN" sz="2000" b="0" i="0" dirty="0">
                <a:latin typeface="Times New Roman"/>
              </a:rPr>
              <a:t>  •  QR Code Verification  (</a:t>
            </a:r>
            <a:r>
              <a:rPr lang="en-IN" sz="2000" b="0" i="0" dirty="0" err="1">
                <a:latin typeface="Times New Roman"/>
              </a:rPr>
              <a:t>jsQR</a:t>
            </a:r>
            <a:r>
              <a:rPr lang="en-IN" sz="2000" b="0" i="0" dirty="0">
                <a:latin typeface="Times New Roman"/>
              </a:rPr>
              <a:t> — camera + upload)</a:t>
            </a:r>
          </a:p>
          <a:p>
            <a:pPr algn="l">
              <a:spcBef>
                <a:spcPts val="200"/>
              </a:spcBef>
              <a:spcAft>
                <a:spcPts val="200"/>
              </a:spcAft>
            </a:pPr>
            <a:r>
              <a:rPr lang="en-IN" sz="2000" b="0" i="0" dirty="0">
                <a:latin typeface="Times New Roman"/>
              </a:rPr>
              <a:t>  •  </a:t>
            </a:r>
            <a:r>
              <a:rPr lang="en-IN" sz="2000" dirty="0">
                <a:latin typeface="Times New Roman"/>
              </a:rPr>
              <a:t>Polygon</a:t>
            </a:r>
            <a:r>
              <a:rPr lang="en-IN" sz="2000" b="0" i="0" dirty="0">
                <a:latin typeface="Times New Roman"/>
              </a:rPr>
              <a:t>  (blockchain simulation)</a:t>
            </a:r>
          </a:p>
          <a:p>
            <a:pPr algn="l">
              <a:spcBef>
                <a:spcPts val="200"/>
              </a:spcBef>
              <a:spcAft>
                <a:spcPts val="200"/>
              </a:spcAft>
            </a:pPr>
            <a:r>
              <a:rPr lang="en-IN" sz="2000" b="0" i="0" dirty="0">
                <a:latin typeface="Times New Roman"/>
              </a:rPr>
              <a:t>  •  react-i18next — 10 languages supported</a:t>
            </a:r>
          </a:p>
        </p:txBody>
      </p:sp>
    </p:spTree>
    <p:extLst>
      <p:ext uri="{BB962C8B-B14F-4D97-AF65-F5344CB8AC3E}">
        <p14:creationId xmlns:p14="http://schemas.microsoft.com/office/powerpoint/2010/main" val="42544726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12601"/>
            <a:ext cx="11219695" cy="553998"/>
          </a:xfrm>
          <a:prstGeom prst="rect">
            <a:avLst/>
          </a:prstGeom>
          <a:noFill/>
        </p:spPr>
        <p:txBody>
          <a:bodyPr wrap="square" lIns="0" tIns="0" rIns="0" bIns="0" anchor="ctr">
            <a:spAutoFit/>
          </a:bodyPr>
          <a:lstStyle/>
          <a:p>
            <a:pPr algn="ctr"/>
            <a:r>
              <a:rPr sz="3600" b="1" i="0" dirty="0">
                <a:latin typeface="Times New Roman"/>
              </a:rPr>
              <a:t>System Workflow — End-to-End Flow</a:t>
            </a:r>
          </a:p>
        </p:txBody>
      </p:sp>
      <p:sp>
        <p:nvSpPr>
          <p:cNvPr id="9" name="TextBox 8"/>
          <p:cNvSpPr txBox="1"/>
          <p:nvPr/>
        </p:nvSpPr>
        <p:spPr>
          <a:xfrm>
            <a:off x="6149847" y="1101896"/>
            <a:ext cx="4881462" cy="3472746"/>
          </a:xfrm>
          <a:prstGeom prst="rect">
            <a:avLst/>
          </a:prstGeom>
          <a:noFill/>
        </p:spPr>
        <p:txBody>
          <a:bodyPr wrap="square" lIns="0" tIns="0" rIns="0" bIns="0" anchor="t">
            <a:spAutoFit/>
          </a:bodyPr>
          <a:lstStyle/>
          <a:p>
            <a:pPr algn="l">
              <a:spcBef>
                <a:spcPts val="100"/>
              </a:spcBef>
              <a:spcAft>
                <a:spcPts val="100"/>
              </a:spcAft>
            </a:pPr>
            <a:r>
              <a:rPr sz="1600" b="1" i="0" dirty="0">
                <a:latin typeface="Times New Roman"/>
              </a:rPr>
              <a:t>Main Pipeline:</a:t>
            </a:r>
          </a:p>
          <a:p>
            <a:pPr algn="l">
              <a:spcBef>
                <a:spcPts val="100"/>
              </a:spcBef>
              <a:spcAft>
                <a:spcPts val="100"/>
              </a:spcAft>
            </a:pPr>
            <a:r>
              <a:rPr sz="1400" b="0" i="0" dirty="0">
                <a:latin typeface="Times New Roman"/>
              </a:rPr>
              <a:t>  1. Capture  →  image + metadata</a:t>
            </a:r>
          </a:p>
          <a:p>
            <a:pPr algn="l">
              <a:spcBef>
                <a:spcPts val="100"/>
              </a:spcBef>
              <a:spcAft>
                <a:spcPts val="100"/>
              </a:spcAft>
            </a:pPr>
            <a:r>
              <a:rPr sz="1400" b="0" i="0" dirty="0">
                <a:latin typeface="Times New Roman"/>
              </a:rPr>
              <a:t>  2. Geo-Tag  →  </a:t>
            </a:r>
            <a:r>
              <a:rPr sz="1400" b="0" i="0" dirty="0" err="1">
                <a:latin typeface="Times New Roman"/>
              </a:rPr>
              <a:t>lat</a:t>
            </a:r>
            <a:r>
              <a:rPr sz="1400" b="0" i="0" dirty="0">
                <a:latin typeface="Times New Roman"/>
              </a:rPr>
              <a:t>/</a:t>
            </a:r>
            <a:r>
              <a:rPr sz="1400" b="0" i="0" dirty="0" err="1">
                <a:latin typeface="Times New Roman"/>
              </a:rPr>
              <a:t>lng</a:t>
            </a:r>
            <a:r>
              <a:rPr sz="1400" b="0" i="0" dirty="0">
                <a:latin typeface="Times New Roman"/>
              </a:rPr>
              <a:t> via browser API</a:t>
            </a:r>
          </a:p>
          <a:p>
            <a:pPr algn="l">
              <a:spcBef>
                <a:spcPts val="100"/>
              </a:spcBef>
              <a:spcAft>
                <a:spcPts val="100"/>
              </a:spcAft>
            </a:pPr>
            <a:r>
              <a:rPr sz="1400" b="0" i="0" dirty="0">
                <a:latin typeface="Times New Roman"/>
              </a:rPr>
              <a:t>  3. AI Verify  →  CNN ≥70% threshold</a:t>
            </a:r>
          </a:p>
          <a:p>
            <a:pPr algn="l">
              <a:spcBef>
                <a:spcPts val="100"/>
              </a:spcBef>
              <a:spcAft>
                <a:spcPts val="100"/>
              </a:spcAft>
            </a:pPr>
            <a:r>
              <a:rPr sz="1400" b="0" i="0" dirty="0">
                <a:latin typeface="Times New Roman"/>
              </a:rPr>
              <a:t>  4. Blockchain  →  UUID hash sealed</a:t>
            </a:r>
          </a:p>
          <a:p>
            <a:pPr algn="l">
              <a:spcBef>
                <a:spcPts val="100"/>
              </a:spcBef>
              <a:spcAft>
                <a:spcPts val="100"/>
              </a:spcAft>
            </a:pPr>
            <a:r>
              <a:rPr sz="1400" b="0" i="0" dirty="0">
                <a:latin typeface="Times New Roman"/>
              </a:rPr>
              <a:t>  5. QR Code  →  payload generated</a:t>
            </a:r>
          </a:p>
          <a:p>
            <a:pPr algn="l">
              <a:spcBef>
                <a:spcPts val="100"/>
              </a:spcBef>
              <a:spcAft>
                <a:spcPts val="100"/>
              </a:spcAft>
            </a:pPr>
            <a:r>
              <a:rPr sz="1400" b="0" i="0" dirty="0">
                <a:latin typeface="Times New Roman"/>
              </a:rPr>
              <a:t>  6. Consumer  →  scan to verify</a:t>
            </a:r>
          </a:p>
          <a:p>
            <a:pPr algn="l">
              <a:spcBef>
                <a:spcPts val="100"/>
              </a:spcBef>
              <a:spcAft>
                <a:spcPts val="100"/>
              </a:spcAft>
            </a:pPr>
            <a:endParaRPr sz="1400" b="0" i="0" dirty="0">
              <a:latin typeface="Times New Roman"/>
            </a:endParaRPr>
          </a:p>
          <a:p>
            <a:pPr algn="l">
              <a:spcBef>
                <a:spcPts val="100"/>
              </a:spcBef>
              <a:spcAft>
                <a:spcPts val="100"/>
              </a:spcAft>
            </a:pPr>
            <a:r>
              <a:rPr sz="1600" b="1" i="0" dirty="0">
                <a:latin typeface="Times New Roman"/>
              </a:rPr>
              <a:t>AI Chatbot Flow (parallel, all pages):</a:t>
            </a:r>
          </a:p>
          <a:p>
            <a:pPr algn="l">
              <a:spcBef>
                <a:spcPts val="100"/>
              </a:spcBef>
              <a:spcAft>
                <a:spcPts val="100"/>
              </a:spcAft>
            </a:pPr>
            <a:r>
              <a:rPr sz="1400" b="0" i="0" dirty="0">
                <a:latin typeface="Times New Roman"/>
              </a:rPr>
              <a:t>  Message → NLP → /</a:t>
            </a:r>
            <a:r>
              <a:rPr sz="1400" b="0" i="0" dirty="0" err="1">
                <a:latin typeface="Times New Roman"/>
              </a:rPr>
              <a:t>api</a:t>
            </a:r>
            <a:r>
              <a:rPr sz="1400" b="0" i="0" dirty="0">
                <a:latin typeface="Times New Roman"/>
              </a:rPr>
              <a:t>/chat → MongoDB → Response</a:t>
            </a:r>
          </a:p>
          <a:p>
            <a:pPr algn="l">
              <a:spcBef>
                <a:spcPts val="100"/>
              </a:spcBef>
              <a:spcAft>
                <a:spcPts val="100"/>
              </a:spcAft>
            </a:pPr>
            <a:r>
              <a:rPr sz="1400" b="0" i="0" dirty="0">
                <a:latin typeface="Times New Roman"/>
              </a:rPr>
              <a:t>  Fallback: local keyword replies if backend is offline</a:t>
            </a:r>
          </a:p>
          <a:p>
            <a:pPr algn="l">
              <a:spcBef>
                <a:spcPts val="100"/>
              </a:spcBef>
              <a:spcAft>
                <a:spcPts val="100"/>
              </a:spcAft>
            </a:pPr>
            <a:endParaRPr sz="1400" b="0" i="0" dirty="0">
              <a:latin typeface="Times New Roman"/>
            </a:endParaRPr>
          </a:p>
          <a:p>
            <a:pPr algn="l">
              <a:spcBef>
                <a:spcPts val="100"/>
              </a:spcBef>
              <a:spcAft>
                <a:spcPts val="100"/>
              </a:spcAft>
            </a:pPr>
            <a:r>
              <a:rPr sz="1600" b="1" i="0" dirty="0">
                <a:latin typeface="Times New Roman"/>
              </a:rPr>
              <a:t>QR Verification Flow:</a:t>
            </a:r>
          </a:p>
          <a:p>
            <a:pPr algn="l">
              <a:spcBef>
                <a:spcPts val="100"/>
              </a:spcBef>
              <a:spcAft>
                <a:spcPts val="100"/>
              </a:spcAft>
            </a:pPr>
            <a:r>
              <a:rPr sz="1400" b="0" i="0" dirty="0">
                <a:latin typeface="Times New Roman"/>
              </a:rPr>
              <a:t>  Scan → Decode → /</a:t>
            </a:r>
            <a:r>
              <a:rPr sz="1400" b="0" i="0" dirty="0" err="1">
                <a:latin typeface="Times New Roman"/>
              </a:rPr>
              <a:t>api</a:t>
            </a:r>
            <a:r>
              <a:rPr sz="1400" b="0" i="0" dirty="0">
                <a:latin typeface="Times New Roman"/>
              </a:rPr>
              <a:t>/verify → DB → Status Banner</a:t>
            </a:r>
          </a:p>
        </p:txBody>
      </p:sp>
      <p:sp>
        <p:nvSpPr>
          <p:cNvPr id="10" name="TextBox 9"/>
          <p:cNvSpPr txBox="1"/>
          <p:nvPr/>
        </p:nvSpPr>
        <p:spPr>
          <a:xfrm>
            <a:off x="432000"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10  of  18     AyurAuth  |  Aditya Rajesh Srinivas &amp; Shreya Vikas Jhamb</a:t>
            </a:r>
          </a:p>
        </p:txBody>
      </p:sp>
      <p:grpSp>
        <p:nvGrpSpPr>
          <p:cNvPr id="11" name="Group 10">
            <a:extLst>
              <a:ext uri="{FF2B5EF4-FFF2-40B4-BE49-F238E27FC236}">
                <a16:creationId xmlns:a16="http://schemas.microsoft.com/office/drawing/2014/main" id="{CD3BC885-27AD-BC01-F903-92CF4DD62399}"/>
              </a:ext>
            </a:extLst>
          </p:cNvPr>
          <p:cNvGrpSpPr/>
          <p:nvPr/>
        </p:nvGrpSpPr>
        <p:grpSpPr>
          <a:xfrm>
            <a:off x="162000" y="61727"/>
            <a:ext cx="2088617" cy="711872"/>
            <a:chOff x="0" y="0"/>
            <a:chExt cx="2784823" cy="949162"/>
          </a:xfrm>
        </p:grpSpPr>
        <p:sp>
          <p:nvSpPr>
            <p:cNvPr id="12" name="Freeform 11">
              <a:extLst>
                <a:ext uri="{FF2B5EF4-FFF2-40B4-BE49-F238E27FC236}">
                  <a16:creationId xmlns:a16="http://schemas.microsoft.com/office/drawing/2014/main" id="{A6482E51-B17F-1867-96B1-EB8F2853A9C3}"/>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2"/>
              <a:stretch>
                <a:fillRect r="-1" b="2"/>
              </a:stretch>
            </a:blipFill>
          </p:spPr>
        </p:sp>
      </p:grpSp>
      <p:grpSp>
        <p:nvGrpSpPr>
          <p:cNvPr id="13" name="Group 8">
            <a:extLst>
              <a:ext uri="{FF2B5EF4-FFF2-40B4-BE49-F238E27FC236}">
                <a16:creationId xmlns:a16="http://schemas.microsoft.com/office/drawing/2014/main" id="{11A636BF-6C70-EC96-BD10-BEEE2586441E}"/>
              </a:ext>
            </a:extLst>
          </p:cNvPr>
          <p:cNvGrpSpPr/>
          <p:nvPr/>
        </p:nvGrpSpPr>
        <p:grpSpPr>
          <a:xfrm>
            <a:off x="11289761" y="59993"/>
            <a:ext cx="798262" cy="600013"/>
            <a:chOff x="0" y="0"/>
            <a:chExt cx="1456944" cy="1079221"/>
          </a:xfrm>
        </p:grpSpPr>
        <p:sp>
          <p:nvSpPr>
            <p:cNvPr id="14" name="Freeform 9" descr="Graphical user interface, text, application  Description automatically generated">
              <a:extLst>
                <a:ext uri="{FF2B5EF4-FFF2-40B4-BE49-F238E27FC236}">
                  <a16:creationId xmlns:a16="http://schemas.microsoft.com/office/drawing/2014/main" id="{7F104353-4AC0-A2C5-FFD0-769921285D3F}"/>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3"/>
              <a:stretch>
                <a:fillRect b="-1447"/>
              </a:stretch>
            </a:blipFill>
          </p:spPr>
        </p:sp>
      </p:grpSp>
      <p:grpSp>
        <p:nvGrpSpPr>
          <p:cNvPr id="17" name="Group 2">
            <a:extLst>
              <a:ext uri="{FF2B5EF4-FFF2-40B4-BE49-F238E27FC236}">
                <a16:creationId xmlns:a16="http://schemas.microsoft.com/office/drawing/2014/main" id="{45CFC6E0-B7BE-413E-59CD-088121DB9024}"/>
              </a:ext>
            </a:extLst>
          </p:cNvPr>
          <p:cNvGrpSpPr/>
          <p:nvPr/>
        </p:nvGrpSpPr>
        <p:grpSpPr>
          <a:xfrm>
            <a:off x="0" y="6020688"/>
            <a:ext cx="824253" cy="837332"/>
            <a:chOff x="0" y="0"/>
            <a:chExt cx="1676400" cy="1580985"/>
          </a:xfrm>
        </p:grpSpPr>
        <p:sp>
          <p:nvSpPr>
            <p:cNvPr id="18" name="Freeform 3">
              <a:extLst>
                <a:ext uri="{FF2B5EF4-FFF2-40B4-BE49-F238E27FC236}">
                  <a16:creationId xmlns:a16="http://schemas.microsoft.com/office/drawing/2014/main" id="{389185E2-F826-0E65-78BF-7C8271B93699}"/>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19" name="Group 6">
            <a:extLst>
              <a:ext uri="{FF2B5EF4-FFF2-40B4-BE49-F238E27FC236}">
                <a16:creationId xmlns:a16="http://schemas.microsoft.com/office/drawing/2014/main" id="{AF5CDEF1-12B9-9B48-875E-8051A613C4EF}"/>
              </a:ext>
            </a:extLst>
          </p:cNvPr>
          <p:cNvGrpSpPr/>
          <p:nvPr/>
        </p:nvGrpSpPr>
        <p:grpSpPr>
          <a:xfrm>
            <a:off x="775093" y="6265116"/>
            <a:ext cx="9024002" cy="592884"/>
            <a:chOff x="0" y="0"/>
            <a:chExt cx="18662828" cy="1029805"/>
          </a:xfrm>
        </p:grpSpPr>
        <p:sp>
          <p:nvSpPr>
            <p:cNvPr id="20" name="Freeform 7">
              <a:extLst>
                <a:ext uri="{FF2B5EF4-FFF2-40B4-BE49-F238E27FC236}">
                  <a16:creationId xmlns:a16="http://schemas.microsoft.com/office/drawing/2014/main" id="{35B6DD4B-E310-00A8-6EE7-C226C7C79F4F}"/>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1" name="Group 4">
            <a:extLst>
              <a:ext uri="{FF2B5EF4-FFF2-40B4-BE49-F238E27FC236}">
                <a16:creationId xmlns:a16="http://schemas.microsoft.com/office/drawing/2014/main" id="{87B0D172-4D86-8D18-3EFB-79A87E7BB942}"/>
              </a:ext>
            </a:extLst>
          </p:cNvPr>
          <p:cNvGrpSpPr/>
          <p:nvPr/>
        </p:nvGrpSpPr>
        <p:grpSpPr>
          <a:xfrm>
            <a:off x="9783605" y="6265094"/>
            <a:ext cx="2408090" cy="592906"/>
            <a:chOff x="0" y="0"/>
            <a:chExt cx="4044785" cy="1029805"/>
          </a:xfrm>
        </p:grpSpPr>
        <p:sp>
          <p:nvSpPr>
            <p:cNvPr id="22" name="Freeform 5">
              <a:extLst>
                <a:ext uri="{FF2B5EF4-FFF2-40B4-BE49-F238E27FC236}">
                  <a16:creationId xmlns:a16="http://schemas.microsoft.com/office/drawing/2014/main" id="{3E73F1BB-281E-3EA9-969E-A06DD027DDA0}"/>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15" name="TextBox 14">
            <a:extLst>
              <a:ext uri="{FF2B5EF4-FFF2-40B4-BE49-F238E27FC236}">
                <a16:creationId xmlns:a16="http://schemas.microsoft.com/office/drawing/2014/main" id="{B9F27559-0D71-BFBC-9700-D2F91DDE910C}"/>
              </a:ext>
            </a:extLst>
          </p:cNvPr>
          <p:cNvSpPr txBox="1"/>
          <p:nvPr/>
        </p:nvSpPr>
        <p:spPr>
          <a:xfrm>
            <a:off x="1206308" y="1101936"/>
            <a:ext cx="5201264" cy="5252720"/>
          </a:xfrm>
          <a:prstGeom prst="rect">
            <a:avLst/>
          </a:prstGeom>
          <a:noFill/>
        </p:spPr>
        <p:txBody>
          <a:bodyPr wrap="square">
            <a:spAutoFit/>
          </a:bodyPr>
          <a:lstStyle/>
          <a:p>
            <a:pPr algn="l">
              <a:spcBef>
                <a:spcPts val="100"/>
              </a:spcBef>
              <a:spcAft>
                <a:spcPts val="100"/>
              </a:spcAft>
            </a:pPr>
            <a:r>
              <a:rPr lang="en-IN" sz="2400" b="1" i="0" u="sng" dirty="0">
                <a:latin typeface="Times New Roman"/>
              </a:rPr>
              <a:t>Five-layer architecture:</a:t>
            </a:r>
            <a:endParaRPr lang="en-IN" b="1" i="0" u="sng" dirty="0">
              <a:latin typeface="Times New Roman"/>
            </a:endParaRPr>
          </a:p>
          <a:p>
            <a:pPr algn="l">
              <a:spcBef>
                <a:spcPts val="100"/>
              </a:spcBef>
              <a:spcAft>
                <a:spcPts val="100"/>
              </a:spcAft>
            </a:pPr>
            <a:endParaRPr lang="en-IN" sz="1400" b="1" i="0" dirty="0">
              <a:solidFill>
                <a:srgbClr val="8B0000"/>
              </a:solidFill>
              <a:latin typeface="Times New Roman"/>
            </a:endParaRPr>
          </a:p>
          <a:p>
            <a:r>
              <a:rPr lang="en-IN" sz="1400" b="1" dirty="0"/>
              <a:t>Layer 1 — User Layer</a:t>
            </a:r>
            <a:r>
              <a:rPr lang="en-IN" sz="1400" dirty="0"/>
              <a:t> </a:t>
            </a:r>
          </a:p>
          <a:p>
            <a:pPr marL="285750" indent="-285750">
              <a:buFont typeface="Arial" panose="020B0604020202020204" pitchFamily="34" charset="0"/>
              <a:buChar char="•"/>
            </a:pPr>
            <a:r>
              <a:rPr lang="en-IN" sz="1400" dirty="0"/>
              <a:t>Farmers upload herb details and images </a:t>
            </a:r>
          </a:p>
          <a:p>
            <a:pPr marL="285750" indent="-285750">
              <a:buFont typeface="Arial" panose="020B0604020202020204" pitchFamily="34" charset="0"/>
              <a:buChar char="•"/>
            </a:pPr>
            <a:r>
              <a:rPr lang="en-IN" sz="1400" dirty="0"/>
              <a:t>Consumers verify authenticity using QR codes </a:t>
            </a:r>
          </a:p>
          <a:p>
            <a:pPr marL="285750" indent="-285750">
              <a:buFont typeface="Arial" panose="020B0604020202020204" pitchFamily="34" charset="0"/>
              <a:buChar char="•"/>
            </a:pPr>
            <a:r>
              <a:rPr lang="en-IN" sz="1400" dirty="0"/>
              <a:t>Regulators and admins monitor the system </a:t>
            </a:r>
          </a:p>
          <a:p>
            <a:r>
              <a:rPr lang="en-IN" sz="1400" b="1" dirty="0"/>
              <a:t>Layer 2 — Frontend Layer</a:t>
            </a:r>
            <a:r>
              <a:rPr lang="en-IN" sz="1400" dirty="0"/>
              <a:t> </a:t>
            </a:r>
          </a:p>
          <a:p>
            <a:pPr marL="285750" indent="-285750">
              <a:buFont typeface="Arial" panose="020B0604020202020204" pitchFamily="34" charset="0"/>
              <a:buChar char="•"/>
            </a:pPr>
            <a:r>
              <a:rPr lang="en-IN" sz="1400" dirty="0"/>
              <a:t>Built using React 18 and Tailwind CSS </a:t>
            </a:r>
          </a:p>
          <a:p>
            <a:pPr marL="285750" indent="-285750">
              <a:buFont typeface="Arial" panose="020B0604020202020204" pitchFamily="34" charset="0"/>
              <a:buChar char="•"/>
            </a:pPr>
            <a:r>
              <a:rPr lang="en-IN" sz="1400" dirty="0"/>
              <a:t>Provides upload, verification, and dashboard modules </a:t>
            </a:r>
          </a:p>
          <a:p>
            <a:pPr marL="285750" indent="-285750">
              <a:buFont typeface="Arial" panose="020B0604020202020204" pitchFamily="34" charset="0"/>
              <a:buChar char="•"/>
            </a:pPr>
            <a:r>
              <a:rPr lang="en-IN" sz="1400" dirty="0"/>
              <a:t>Includes chatbot and QR scanner functionality </a:t>
            </a:r>
          </a:p>
          <a:p>
            <a:r>
              <a:rPr lang="en-IN" sz="1400" b="1" dirty="0"/>
              <a:t>Layer 3 — Backend Layer</a:t>
            </a:r>
            <a:r>
              <a:rPr lang="en-IN" sz="1400" dirty="0"/>
              <a:t> </a:t>
            </a:r>
          </a:p>
          <a:p>
            <a:pPr marL="285750" indent="-285750">
              <a:buFont typeface="Arial" panose="020B0604020202020204" pitchFamily="34" charset="0"/>
              <a:buChar char="•"/>
            </a:pPr>
            <a:r>
              <a:rPr lang="en-IN" sz="1400" dirty="0"/>
              <a:t>Developed using Express.js and MongoDB </a:t>
            </a:r>
          </a:p>
          <a:p>
            <a:pPr marL="285750" indent="-285750">
              <a:buFont typeface="Arial" panose="020B0604020202020204" pitchFamily="34" charset="0"/>
              <a:buChar char="•"/>
            </a:pPr>
            <a:r>
              <a:rPr lang="en-IN" sz="1400" dirty="0"/>
              <a:t>Handles herb, verification, and chatbot APIs </a:t>
            </a:r>
          </a:p>
          <a:p>
            <a:pPr marL="285750" indent="-285750">
              <a:buFont typeface="Arial" panose="020B0604020202020204" pitchFamily="34" charset="0"/>
              <a:buChar char="•"/>
            </a:pPr>
            <a:r>
              <a:rPr lang="en-IN" sz="1400" dirty="0"/>
              <a:t>Stores batch records and blockchain transaction hashes </a:t>
            </a:r>
          </a:p>
          <a:p>
            <a:r>
              <a:rPr lang="en-IN" sz="1400" b="1" dirty="0"/>
              <a:t>Layer 4 — AI / ML Layer</a:t>
            </a:r>
            <a:r>
              <a:rPr lang="en-IN" sz="1400" dirty="0"/>
              <a:t> </a:t>
            </a:r>
          </a:p>
          <a:p>
            <a:pPr marL="285750" indent="-285750">
              <a:buFont typeface="Arial" panose="020B0604020202020204" pitchFamily="34" charset="0"/>
              <a:buChar char="•"/>
            </a:pPr>
            <a:r>
              <a:rPr lang="en-IN" sz="1400" dirty="0"/>
              <a:t>Uses MobileNetV2 CNN for herb authentication </a:t>
            </a:r>
          </a:p>
          <a:p>
            <a:pPr marL="285750" indent="-285750">
              <a:buFont typeface="Arial" panose="020B0604020202020204" pitchFamily="34" charset="0"/>
              <a:buChar char="•"/>
            </a:pPr>
            <a:r>
              <a:rPr lang="en-IN" sz="1400" dirty="0"/>
              <a:t>NLP chatbot provides real-time assistance </a:t>
            </a:r>
          </a:p>
          <a:p>
            <a:pPr marL="285750" indent="-285750">
              <a:buFont typeface="Arial" panose="020B0604020202020204" pitchFamily="34" charset="0"/>
              <a:buChar char="•"/>
            </a:pPr>
            <a:r>
              <a:rPr lang="en-IN" sz="1400" dirty="0"/>
              <a:t>AI verifies herbs with ≥70% confidence threshold </a:t>
            </a:r>
          </a:p>
          <a:p>
            <a:r>
              <a:rPr lang="en-IN" sz="1400" b="1" dirty="0"/>
              <a:t>Layer 5 — Blockchain Layer</a:t>
            </a:r>
            <a:r>
              <a:rPr lang="en-IN" sz="1400" dirty="0"/>
              <a:t> </a:t>
            </a:r>
          </a:p>
          <a:p>
            <a:pPr marL="285750" indent="-285750">
              <a:buFont typeface="Arial" panose="020B0604020202020204" pitchFamily="34" charset="0"/>
              <a:buChar char="•"/>
            </a:pPr>
            <a:r>
              <a:rPr lang="en-IN" sz="1400" dirty="0"/>
              <a:t>Uses Polygon blockchain for secure traceability </a:t>
            </a:r>
          </a:p>
          <a:p>
            <a:pPr marL="285750" indent="-285750">
              <a:buFont typeface="Arial" panose="020B0604020202020204" pitchFamily="34" charset="0"/>
              <a:buChar char="•"/>
            </a:pPr>
            <a:r>
              <a:rPr lang="en-IN" sz="1400" dirty="0"/>
              <a:t>Generates immutable transaction hashes for batches </a:t>
            </a:r>
          </a:p>
          <a:p>
            <a:pPr marL="285750" indent="-285750">
              <a:buFont typeface="Arial" panose="020B0604020202020204" pitchFamily="34" charset="0"/>
              <a:buChar char="•"/>
            </a:pPr>
            <a:r>
              <a:rPr lang="en-IN" sz="1400" dirty="0"/>
              <a:t>Enables transparent QR-based verification system </a:t>
            </a:r>
          </a:p>
          <a:p>
            <a:pPr algn="l">
              <a:spcBef>
                <a:spcPts val="100"/>
              </a:spcBef>
              <a:spcAft>
                <a:spcPts val="100"/>
              </a:spcAft>
            </a:pPr>
            <a:endParaRPr lang="en-IN" sz="1400" b="1" i="0" dirty="0">
              <a:solidFill>
                <a:srgbClr val="8B0000"/>
              </a:solidFill>
              <a:latin typeface="Times New Roman"/>
            </a:endParaRPr>
          </a:p>
        </p:txBody>
      </p:sp>
      <p:sp>
        <p:nvSpPr>
          <p:cNvPr id="42" name="TextBox 41">
            <a:extLst>
              <a:ext uri="{FF2B5EF4-FFF2-40B4-BE49-F238E27FC236}">
                <a16:creationId xmlns:a16="http://schemas.microsoft.com/office/drawing/2014/main" id="{4A87DCF5-04C7-4C84-9456-FF97CDC2F3C5}"/>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a:t>
            </a:r>
            <a:r>
              <a:rPr lang="en-IN" sz="1400" dirty="0">
                <a:solidFill>
                  <a:srgbClr val="FDF6E3"/>
                </a:solidFill>
                <a:latin typeface="Times New Roman"/>
              </a:rPr>
              <a:t>10 of 17</a:t>
            </a:r>
            <a:endParaRPr lang="en-IN" sz="1400" b="0" i="0" dirty="0">
              <a:solidFill>
                <a:srgbClr val="FDF6E3"/>
              </a:solidFill>
              <a:latin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74156"/>
            <a:ext cx="11219695" cy="430887"/>
          </a:xfrm>
          <a:prstGeom prst="rect">
            <a:avLst/>
          </a:prstGeom>
          <a:noFill/>
        </p:spPr>
        <p:txBody>
          <a:bodyPr wrap="square" lIns="0" tIns="0" rIns="0" bIns="0" anchor="ctr">
            <a:spAutoFit/>
          </a:bodyPr>
          <a:lstStyle/>
          <a:p>
            <a:pPr algn="ctr"/>
            <a:r>
              <a:rPr sz="2800" b="1" i="0" dirty="0">
                <a:latin typeface="Times New Roman"/>
              </a:rPr>
              <a:t>Methodology &amp; Proposed Approach</a:t>
            </a:r>
          </a:p>
        </p:txBody>
      </p:sp>
      <p:sp>
        <p:nvSpPr>
          <p:cNvPr id="10" name="TextBox 9"/>
          <p:cNvSpPr txBox="1"/>
          <p:nvPr/>
        </p:nvSpPr>
        <p:spPr>
          <a:xfrm>
            <a:off x="432000"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11  of  18     AyurAuth  |  Aditya Rajesh Srinivas &amp; Shreya Vikas Jhamb</a:t>
            </a:r>
          </a:p>
        </p:txBody>
      </p:sp>
      <p:grpSp>
        <p:nvGrpSpPr>
          <p:cNvPr id="11" name="Group 10">
            <a:extLst>
              <a:ext uri="{FF2B5EF4-FFF2-40B4-BE49-F238E27FC236}">
                <a16:creationId xmlns:a16="http://schemas.microsoft.com/office/drawing/2014/main" id="{8FA500F7-C9C0-3227-7556-EFA8293240BB}"/>
              </a:ext>
            </a:extLst>
          </p:cNvPr>
          <p:cNvGrpSpPr/>
          <p:nvPr/>
        </p:nvGrpSpPr>
        <p:grpSpPr>
          <a:xfrm>
            <a:off x="103977" y="60252"/>
            <a:ext cx="2088617" cy="711872"/>
            <a:chOff x="0" y="0"/>
            <a:chExt cx="2784823" cy="949162"/>
          </a:xfrm>
        </p:grpSpPr>
        <p:sp>
          <p:nvSpPr>
            <p:cNvPr id="12" name="Freeform 11">
              <a:extLst>
                <a:ext uri="{FF2B5EF4-FFF2-40B4-BE49-F238E27FC236}">
                  <a16:creationId xmlns:a16="http://schemas.microsoft.com/office/drawing/2014/main" id="{022BC174-770E-A463-3693-7226FF41E678}"/>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2"/>
              <a:stretch>
                <a:fillRect r="-1" b="2"/>
              </a:stretch>
            </a:blipFill>
          </p:spPr>
        </p:sp>
      </p:grpSp>
      <p:grpSp>
        <p:nvGrpSpPr>
          <p:cNvPr id="13" name="Group 8">
            <a:extLst>
              <a:ext uri="{FF2B5EF4-FFF2-40B4-BE49-F238E27FC236}">
                <a16:creationId xmlns:a16="http://schemas.microsoft.com/office/drawing/2014/main" id="{F3991621-B48A-C42D-B63A-64D3C2D03E8D}"/>
              </a:ext>
            </a:extLst>
          </p:cNvPr>
          <p:cNvGrpSpPr/>
          <p:nvPr/>
        </p:nvGrpSpPr>
        <p:grpSpPr>
          <a:xfrm>
            <a:off x="11289761" y="59993"/>
            <a:ext cx="798262" cy="600013"/>
            <a:chOff x="0" y="0"/>
            <a:chExt cx="1456944" cy="1079221"/>
          </a:xfrm>
        </p:grpSpPr>
        <p:sp>
          <p:nvSpPr>
            <p:cNvPr id="14" name="Freeform 9" descr="Graphical user interface, text, application  Description automatically generated">
              <a:extLst>
                <a:ext uri="{FF2B5EF4-FFF2-40B4-BE49-F238E27FC236}">
                  <a16:creationId xmlns:a16="http://schemas.microsoft.com/office/drawing/2014/main" id="{8EE2CA98-0492-F891-757E-BA089B620863}"/>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3"/>
              <a:stretch>
                <a:fillRect b="-1447"/>
              </a:stretch>
            </a:blipFill>
          </p:spPr>
        </p:sp>
      </p:grpSp>
      <p:grpSp>
        <p:nvGrpSpPr>
          <p:cNvPr id="19" name="Group 2">
            <a:extLst>
              <a:ext uri="{FF2B5EF4-FFF2-40B4-BE49-F238E27FC236}">
                <a16:creationId xmlns:a16="http://schemas.microsoft.com/office/drawing/2014/main" id="{9D533774-D661-6226-15CC-7858E24D3A23}"/>
              </a:ext>
            </a:extLst>
          </p:cNvPr>
          <p:cNvGrpSpPr/>
          <p:nvPr/>
        </p:nvGrpSpPr>
        <p:grpSpPr>
          <a:xfrm>
            <a:off x="0" y="6020688"/>
            <a:ext cx="824253" cy="837332"/>
            <a:chOff x="0" y="0"/>
            <a:chExt cx="1676400" cy="1580985"/>
          </a:xfrm>
        </p:grpSpPr>
        <p:sp>
          <p:nvSpPr>
            <p:cNvPr id="20" name="Freeform 3">
              <a:extLst>
                <a:ext uri="{FF2B5EF4-FFF2-40B4-BE49-F238E27FC236}">
                  <a16:creationId xmlns:a16="http://schemas.microsoft.com/office/drawing/2014/main" id="{AB7F8B45-62AC-7CDE-F49A-2F40FA6DCF3D}"/>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21" name="Group 6">
            <a:extLst>
              <a:ext uri="{FF2B5EF4-FFF2-40B4-BE49-F238E27FC236}">
                <a16:creationId xmlns:a16="http://schemas.microsoft.com/office/drawing/2014/main" id="{FE0ECE83-8896-9A89-C63E-97F6D4A0867E}"/>
              </a:ext>
            </a:extLst>
          </p:cNvPr>
          <p:cNvGrpSpPr/>
          <p:nvPr/>
        </p:nvGrpSpPr>
        <p:grpSpPr>
          <a:xfrm>
            <a:off x="775093" y="6265116"/>
            <a:ext cx="9024002" cy="592884"/>
            <a:chOff x="0" y="0"/>
            <a:chExt cx="18662828" cy="1029805"/>
          </a:xfrm>
        </p:grpSpPr>
        <p:sp>
          <p:nvSpPr>
            <p:cNvPr id="22" name="Freeform 7">
              <a:extLst>
                <a:ext uri="{FF2B5EF4-FFF2-40B4-BE49-F238E27FC236}">
                  <a16:creationId xmlns:a16="http://schemas.microsoft.com/office/drawing/2014/main" id="{118A263E-D62D-C670-6F92-E484DD80A6E1}"/>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3" name="Group 4">
            <a:extLst>
              <a:ext uri="{FF2B5EF4-FFF2-40B4-BE49-F238E27FC236}">
                <a16:creationId xmlns:a16="http://schemas.microsoft.com/office/drawing/2014/main" id="{CE5A7F76-46F5-9CAF-E9B7-735892B13439}"/>
              </a:ext>
            </a:extLst>
          </p:cNvPr>
          <p:cNvGrpSpPr/>
          <p:nvPr/>
        </p:nvGrpSpPr>
        <p:grpSpPr>
          <a:xfrm>
            <a:off x="9783605" y="6265094"/>
            <a:ext cx="2408090" cy="592906"/>
            <a:chOff x="0" y="0"/>
            <a:chExt cx="4044785" cy="1029805"/>
          </a:xfrm>
        </p:grpSpPr>
        <p:sp>
          <p:nvSpPr>
            <p:cNvPr id="24" name="Freeform 5">
              <a:extLst>
                <a:ext uri="{FF2B5EF4-FFF2-40B4-BE49-F238E27FC236}">
                  <a16:creationId xmlns:a16="http://schemas.microsoft.com/office/drawing/2014/main" id="{FF26D53B-1398-5EC8-04A0-E16AE9CB72A6}"/>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8" name="TextBox 7">
            <a:extLst>
              <a:ext uri="{FF2B5EF4-FFF2-40B4-BE49-F238E27FC236}">
                <a16:creationId xmlns:a16="http://schemas.microsoft.com/office/drawing/2014/main" id="{42313AF9-7913-42CF-4BB4-132C7BCB7C0A}"/>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11 of 17</a:t>
            </a:r>
          </a:p>
        </p:txBody>
      </p:sp>
      <p:pic>
        <p:nvPicPr>
          <p:cNvPr id="17" name="Picture 16">
            <a:extLst>
              <a:ext uri="{FF2B5EF4-FFF2-40B4-BE49-F238E27FC236}">
                <a16:creationId xmlns:a16="http://schemas.microsoft.com/office/drawing/2014/main" id="{20B8034D-471E-6788-46E2-AA5308C246B2}"/>
              </a:ext>
            </a:extLst>
          </p:cNvPr>
          <p:cNvPicPr>
            <a:picLocks noChangeAspect="1"/>
          </p:cNvPicPr>
          <p:nvPr/>
        </p:nvPicPr>
        <p:blipFill>
          <a:blip r:embed="rId4"/>
          <a:stretch>
            <a:fillRect/>
          </a:stretch>
        </p:blipFill>
        <p:spPr>
          <a:xfrm>
            <a:off x="540000" y="1177436"/>
            <a:ext cx="11256632" cy="42892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363" y="0"/>
            <a:ext cx="147274"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12601"/>
            <a:ext cx="11219695" cy="553998"/>
          </a:xfrm>
          <a:prstGeom prst="rect">
            <a:avLst/>
          </a:prstGeom>
          <a:noFill/>
        </p:spPr>
        <p:txBody>
          <a:bodyPr wrap="square" lIns="0" tIns="0" rIns="0" bIns="0" anchor="ctr">
            <a:spAutoFit/>
          </a:bodyPr>
          <a:lstStyle/>
          <a:p>
            <a:pPr algn="ctr"/>
            <a:r>
              <a:rPr lang="en-IN" sz="3600" b="1" i="0" dirty="0">
                <a:latin typeface="Times New Roman"/>
              </a:rPr>
              <a:t>4 staged pipeline</a:t>
            </a:r>
            <a:endParaRPr sz="3600" b="1" i="0" dirty="0">
              <a:latin typeface="Times New Roman"/>
            </a:endParaRPr>
          </a:p>
        </p:txBody>
      </p:sp>
      <p:sp>
        <p:nvSpPr>
          <p:cNvPr id="10" name="TextBox 9"/>
          <p:cNvSpPr txBox="1"/>
          <p:nvPr/>
        </p:nvSpPr>
        <p:spPr>
          <a:xfrm>
            <a:off x="432000"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12  of  18     AyurAuth  |  Aditya Rajesh Srinivas &amp; Shreya Vikas Jhamb</a:t>
            </a:r>
          </a:p>
        </p:txBody>
      </p:sp>
      <p:grpSp>
        <p:nvGrpSpPr>
          <p:cNvPr id="11" name="Group 10">
            <a:extLst>
              <a:ext uri="{FF2B5EF4-FFF2-40B4-BE49-F238E27FC236}">
                <a16:creationId xmlns:a16="http://schemas.microsoft.com/office/drawing/2014/main" id="{1B1C651B-6F32-BE35-582F-65EA989326F9}"/>
              </a:ext>
            </a:extLst>
          </p:cNvPr>
          <p:cNvGrpSpPr/>
          <p:nvPr/>
        </p:nvGrpSpPr>
        <p:grpSpPr>
          <a:xfrm>
            <a:off x="211672" y="59993"/>
            <a:ext cx="2088617" cy="711872"/>
            <a:chOff x="0" y="0"/>
            <a:chExt cx="2784823" cy="949162"/>
          </a:xfrm>
        </p:grpSpPr>
        <p:sp>
          <p:nvSpPr>
            <p:cNvPr id="12" name="Freeform 11">
              <a:extLst>
                <a:ext uri="{FF2B5EF4-FFF2-40B4-BE49-F238E27FC236}">
                  <a16:creationId xmlns:a16="http://schemas.microsoft.com/office/drawing/2014/main" id="{3247A462-3156-ECBA-6982-508B93C094C5}"/>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2"/>
              <a:stretch>
                <a:fillRect r="-1" b="2"/>
              </a:stretch>
            </a:blipFill>
          </p:spPr>
        </p:sp>
      </p:grpSp>
      <p:grpSp>
        <p:nvGrpSpPr>
          <p:cNvPr id="13" name="Group 8">
            <a:extLst>
              <a:ext uri="{FF2B5EF4-FFF2-40B4-BE49-F238E27FC236}">
                <a16:creationId xmlns:a16="http://schemas.microsoft.com/office/drawing/2014/main" id="{D2D6DC6C-6D67-DA87-29BD-1494E347937C}"/>
              </a:ext>
            </a:extLst>
          </p:cNvPr>
          <p:cNvGrpSpPr/>
          <p:nvPr/>
        </p:nvGrpSpPr>
        <p:grpSpPr>
          <a:xfrm>
            <a:off x="11289761" y="59993"/>
            <a:ext cx="798262" cy="600013"/>
            <a:chOff x="0" y="0"/>
            <a:chExt cx="1456944" cy="1079221"/>
          </a:xfrm>
        </p:grpSpPr>
        <p:sp>
          <p:nvSpPr>
            <p:cNvPr id="14" name="Freeform 9" descr="Graphical user interface, text, application  Description automatically generated">
              <a:extLst>
                <a:ext uri="{FF2B5EF4-FFF2-40B4-BE49-F238E27FC236}">
                  <a16:creationId xmlns:a16="http://schemas.microsoft.com/office/drawing/2014/main" id="{54236BB2-26CC-06A8-336E-01DA17549266}"/>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3"/>
              <a:stretch>
                <a:fillRect b="-1447"/>
              </a:stretch>
            </a:blipFill>
          </p:spPr>
        </p:sp>
      </p:grpSp>
      <p:grpSp>
        <p:nvGrpSpPr>
          <p:cNvPr id="19" name="Group 2">
            <a:extLst>
              <a:ext uri="{FF2B5EF4-FFF2-40B4-BE49-F238E27FC236}">
                <a16:creationId xmlns:a16="http://schemas.microsoft.com/office/drawing/2014/main" id="{10ECD330-7D00-7A9E-8D7A-992AA51AFA33}"/>
              </a:ext>
            </a:extLst>
          </p:cNvPr>
          <p:cNvGrpSpPr/>
          <p:nvPr/>
        </p:nvGrpSpPr>
        <p:grpSpPr>
          <a:xfrm>
            <a:off x="0" y="6020688"/>
            <a:ext cx="824253" cy="837332"/>
            <a:chOff x="0" y="0"/>
            <a:chExt cx="1676400" cy="1580985"/>
          </a:xfrm>
        </p:grpSpPr>
        <p:sp>
          <p:nvSpPr>
            <p:cNvPr id="20" name="Freeform 3">
              <a:extLst>
                <a:ext uri="{FF2B5EF4-FFF2-40B4-BE49-F238E27FC236}">
                  <a16:creationId xmlns:a16="http://schemas.microsoft.com/office/drawing/2014/main" id="{0E16D291-B7E0-F9F2-44DA-A9D16589A649}"/>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21" name="Group 6">
            <a:extLst>
              <a:ext uri="{FF2B5EF4-FFF2-40B4-BE49-F238E27FC236}">
                <a16:creationId xmlns:a16="http://schemas.microsoft.com/office/drawing/2014/main" id="{37AC99FE-6539-84ED-E1C9-4C1C7F786DF1}"/>
              </a:ext>
            </a:extLst>
          </p:cNvPr>
          <p:cNvGrpSpPr/>
          <p:nvPr/>
        </p:nvGrpSpPr>
        <p:grpSpPr>
          <a:xfrm>
            <a:off x="775093" y="6265116"/>
            <a:ext cx="9024002" cy="592884"/>
            <a:chOff x="0" y="0"/>
            <a:chExt cx="18662828" cy="1029805"/>
          </a:xfrm>
        </p:grpSpPr>
        <p:sp>
          <p:nvSpPr>
            <p:cNvPr id="22" name="Freeform 7">
              <a:extLst>
                <a:ext uri="{FF2B5EF4-FFF2-40B4-BE49-F238E27FC236}">
                  <a16:creationId xmlns:a16="http://schemas.microsoft.com/office/drawing/2014/main" id="{5C0BB00B-C186-D14E-0822-C41725BC0FF9}"/>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3" name="Group 4">
            <a:extLst>
              <a:ext uri="{FF2B5EF4-FFF2-40B4-BE49-F238E27FC236}">
                <a16:creationId xmlns:a16="http://schemas.microsoft.com/office/drawing/2014/main" id="{4CC730F5-0791-E6F5-50C2-F0CB0E129BBD}"/>
              </a:ext>
            </a:extLst>
          </p:cNvPr>
          <p:cNvGrpSpPr/>
          <p:nvPr/>
        </p:nvGrpSpPr>
        <p:grpSpPr>
          <a:xfrm>
            <a:off x="9783605" y="6265094"/>
            <a:ext cx="2408090" cy="592906"/>
            <a:chOff x="0" y="0"/>
            <a:chExt cx="4044785" cy="1029805"/>
          </a:xfrm>
        </p:grpSpPr>
        <p:sp>
          <p:nvSpPr>
            <p:cNvPr id="24" name="Freeform 5">
              <a:extLst>
                <a:ext uri="{FF2B5EF4-FFF2-40B4-BE49-F238E27FC236}">
                  <a16:creationId xmlns:a16="http://schemas.microsoft.com/office/drawing/2014/main" id="{E19E86F8-A46D-9291-42D7-26DACB9E24BC}"/>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15" name="TextBox 14">
            <a:extLst>
              <a:ext uri="{FF2B5EF4-FFF2-40B4-BE49-F238E27FC236}">
                <a16:creationId xmlns:a16="http://schemas.microsoft.com/office/drawing/2014/main" id="{AFC4C6C9-678E-6DA0-A676-E9EF5567831E}"/>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12 of 17</a:t>
            </a:r>
          </a:p>
        </p:txBody>
      </p:sp>
      <p:pic>
        <p:nvPicPr>
          <p:cNvPr id="17" name="Picture 16" descr="methodology.png"/>
          <p:cNvPicPr>
            <a:picLocks noChangeAspect="1"/>
          </p:cNvPicPr>
          <p:nvPr/>
        </p:nvPicPr>
        <p:blipFill>
          <a:blip r:embed="rId4"/>
          <a:stretch>
            <a:fillRect/>
          </a:stretch>
        </p:blipFill>
        <p:spPr>
          <a:xfrm>
            <a:off x="1828801" y="1111334"/>
            <a:ext cx="8850537" cy="497842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12601"/>
            <a:ext cx="11219695" cy="553998"/>
          </a:xfrm>
          <a:prstGeom prst="rect">
            <a:avLst/>
          </a:prstGeom>
          <a:noFill/>
        </p:spPr>
        <p:txBody>
          <a:bodyPr wrap="square" lIns="0" tIns="0" rIns="0" bIns="0" anchor="ctr">
            <a:spAutoFit/>
          </a:bodyPr>
          <a:lstStyle/>
          <a:p>
            <a:pPr algn="ctr"/>
            <a:r>
              <a:rPr sz="3600" b="1" i="0" dirty="0">
                <a:latin typeface="Times New Roman"/>
              </a:rPr>
              <a:t>AI Chatbot </a:t>
            </a:r>
            <a:r>
              <a:rPr lang="en-IN" sz="3600" b="1" dirty="0">
                <a:latin typeface="Times New Roman"/>
              </a:rPr>
              <a:t>&amp; CNN model</a:t>
            </a:r>
            <a:r>
              <a:rPr sz="3600" b="1" i="0" dirty="0">
                <a:latin typeface="Times New Roman"/>
              </a:rPr>
              <a:t> </a:t>
            </a:r>
          </a:p>
        </p:txBody>
      </p:sp>
      <p:sp>
        <p:nvSpPr>
          <p:cNvPr id="9" name="TextBox 8"/>
          <p:cNvSpPr txBox="1"/>
          <p:nvPr/>
        </p:nvSpPr>
        <p:spPr>
          <a:xfrm>
            <a:off x="6118341" y="1705901"/>
            <a:ext cx="4881462" cy="4011355"/>
          </a:xfrm>
          <a:prstGeom prst="rect">
            <a:avLst/>
          </a:prstGeom>
          <a:noFill/>
        </p:spPr>
        <p:txBody>
          <a:bodyPr wrap="square" lIns="0" tIns="0" rIns="0" bIns="0" anchor="t">
            <a:spAutoFit/>
          </a:bodyPr>
          <a:lstStyle/>
          <a:p>
            <a:pPr algn="l">
              <a:spcBef>
                <a:spcPts val="100"/>
              </a:spcBef>
              <a:spcAft>
                <a:spcPts val="100"/>
              </a:spcAft>
            </a:pPr>
            <a:r>
              <a:rPr lang="en-IN" b="1" i="0" dirty="0">
                <a:latin typeface="Times New Roman"/>
              </a:rPr>
              <a:t>AI CHABOT</a:t>
            </a:r>
          </a:p>
          <a:p>
            <a:pPr algn="l">
              <a:spcBef>
                <a:spcPts val="100"/>
              </a:spcBef>
              <a:spcAft>
                <a:spcPts val="100"/>
              </a:spcAft>
            </a:pPr>
            <a:endParaRPr lang="en-IN" b="1" i="0" dirty="0">
              <a:latin typeface="Times New Roman"/>
            </a:endParaRPr>
          </a:p>
          <a:p>
            <a:pPr algn="l">
              <a:spcBef>
                <a:spcPts val="100"/>
              </a:spcBef>
              <a:spcAft>
                <a:spcPts val="100"/>
              </a:spcAft>
            </a:pPr>
            <a:r>
              <a:rPr sz="1400" b="1" i="0" dirty="0">
                <a:latin typeface="Times New Roman"/>
              </a:rPr>
              <a:t>Pipeline:</a:t>
            </a:r>
          </a:p>
          <a:p>
            <a:pPr algn="l">
              <a:spcBef>
                <a:spcPts val="100"/>
              </a:spcBef>
              <a:spcAft>
                <a:spcPts val="100"/>
              </a:spcAft>
            </a:pPr>
            <a:r>
              <a:rPr sz="1300" b="0" i="0" dirty="0">
                <a:latin typeface="Times New Roman"/>
              </a:rPr>
              <a:t>  User Message → NLP Parser → POST /</a:t>
            </a:r>
            <a:r>
              <a:rPr sz="1300" b="0" i="0" dirty="0" err="1">
                <a:latin typeface="Times New Roman"/>
              </a:rPr>
              <a:t>api</a:t>
            </a:r>
            <a:r>
              <a:rPr sz="1300" b="0" i="0" dirty="0">
                <a:latin typeface="Times New Roman"/>
              </a:rPr>
              <a:t>/chat</a:t>
            </a:r>
          </a:p>
          <a:p>
            <a:pPr algn="l">
              <a:spcBef>
                <a:spcPts val="100"/>
              </a:spcBef>
              <a:spcAft>
                <a:spcPts val="100"/>
              </a:spcAft>
            </a:pPr>
            <a:r>
              <a:rPr sz="1300" b="0" i="0" dirty="0">
                <a:latin typeface="Times New Roman"/>
              </a:rPr>
              <a:t>  → chatbot.js (rule-based) → MongoDB lookup</a:t>
            </a:r>
          </a:p>
          <a:p>
            <a:pPr algn="l">
              <a:spcBef>
                <a:spcPts val="100"/>
              </a:spcBef>
              <a:spcAft>
                <a:spcPts val="100"/>
              </a:spcAft>
            </a:pPr>
            <a:r>
              <a:rPr sz="1300" b="0" i="0" dirty="0">
                <a:latin typeface="Times New Roman"/>
              </a:rPr>
              <a:t>  → Response streamed to React UI</a:t>
            </a:r>
          </a:p>
          <a:p>
            <a:pPr algn="l">
              <a:spcBef>
                <a:spcPts val="100"/>
              </a:spcBef>
              <a:spcAft>
                <a:spcPts val="100"/>
              </a:spcAft>
            </a:pPr>
            <a:r>
              <a:rPr sz="1300" b="0" i="0" dirty="0">
                <a:latin typeface="Times New Roman"/>
              </a:rPr>
              <a:t>  Fallback: local keyword map (works offline)</a:t>
            </a:r>
          </a:p>
          <a:p>
            <a:pPr algn="l">
              <a:spcBef>
                <a:spcPts val="100"/>
              </a:spcBef>
              <a:spcAft>
                <a:spcPts val="100"/>
              </a:spcAft>
            </a:pPr>
            <a:endParaRPr sz="1300" b="0" i="0" dirty="0">
              <a:latin typeface="Times New Roman"/>
            </a:endParaRPr>
          </a:p>
          <a:p>
            <a:pPr algn="l">
              <a:spcBef>
                <a:spcPts val="100"/>
              </a:spcBef>
              <a:spcAft>
                <a:spcPts val="100"/>
              </a:spcAft>
            </a:pPr>
            <a:r>
              <a:rPr sz="1400" b="1" i="0" dirty="0">
                <a:latin typeface="Times New Roman"/>
              </a:rPr>
              <a:t>Frontend Components:</a:t>
            </a:r>
          </a:p>
          <a:p>
            <a:pPr algn="l">
              <a:spcBef>
                <a:spcPts val="100"/>
              </a:spcBef>
              <a:spcAft>
                <a:spcPts val="100"/>
              </a:spcAft>
            </a:pPr>
            <a:r>
              <a:rPr sz="1300" b="0" i="0" dirty="0">
                <a:latin typeface="Times New Roman"/>
              </a:rPr>
              <a:t>  </a:t>
            </a:r>
            <a:r>
              <a:rPr sz="1300" b="0" i="0" dirty="0" err="1">
                <a:latin typeface="Times New Roman"/>
              </a:rPr>
              <a:t>AIChatbot.tsx</a:t>
            </a:r>
            <a:r>
              <a:rPr sz="1300" b="0" i="0" dirty="0">
                <a:latin typeface="Times New Roman"/>
              </a:rPr>
              <a:t> — floating widget, all pages</a:t>
            </a:r>
          </a:p>
          <a:p>
            <a:pPr algn="l">
              <a:spcBef>
                <a:spcPts val="100"/>
              </a:spcBef>
              <a:spcAft>
                <a:spcPts val="100"/>
              </a:spcAft>
            </a:pPr>
            <a:r>
              <a:rPr sz="1300" b="0" i="0" dirty="0">
                <a:latin typeface="Times New Roman"/>
              </a:rPr>
              <a:t>  </a:t>
            </a:r>
            <a:r>
              <a:rPr sz="1300" b="0" i="0" dirty="0" err="1">
                <a:latin typeface="Times New Roman"/>
              </a:rPr>
              <a:t>ChatPage.tsx</a:t>
            </a:r>
            <a:r>
              <a:rPr sz="1300" b="0" i="0" dirty="0">
                <a:latin typeface="Times New Roman"/>
              </a:rPr>
              <a:t>  — full screen at /chat (login required)</a:t>
            </a:r>
          </a:p>
          <a:p>
            <a:pPr algn="l">
              <a:spcBef>
                <a:spcPts val="100"/>
              </a:spcBef>
              <a:spcAft>
                <a:spcPts val="100"/>
              </a:spcAft>
            </a:pPr>
            <a:r>
              <a:rPr sz="1300" b="0" i="0" dirty="0">
                <a:latin typeface="Times New Roman"/>
              </a:rPr>
              <a:t>  </a:t>
            </a:r>
            <a:r>
              <a:rPr sz="1300" b="0" i="0" dirty="0" err="1">
                <a:latin typeface="Times New Roman"/>
              </a:rPr>
              <a:t>useTranslation</a:t>
            </a:r>
            <a:r>
              <a:rPr sz="1300" b="0" i="0" dirty="0">
                <a:latin typeface="Times New Roman"/>
              </a:rPr>
              <a:t>() — </a:t>
            </a:r>
            <a:r>
              <a:rPr sz="1300" b="0" i="0" dirty="0" err="1">
                <a:latin typeface="Times New Roman"/>
              </a:rPr>
              <a:t>localised</a:t>
            </a:r>
            <a:r>
              <a:rPr sz="1300" b="0" i="0" dirty="0">
                <a:latin typeface="Times New Roman"/>
              </a:rPr>
              <a:t> in 10 languages</a:t>
            </a:r>
          </a:p>
          <a:p>
            <a:pPr algn="l">
              <a:spcBef>
                <a:spcPts val="100"/>
              </a:spcBef>
              <a:spcAft>
                <a:spcPts val="100"/>
              </a:spcAft>
            </a:pPr>
            <a:endParaRPr sz="1300" b="0" i="0" dirty="0">
              <a:latin typeface="Times New Roman"/>
            </a:endParaRPr>
          </a:p>
          <a:p>
            <a:pPr algn="l">
              <a:spcBef>
                <a:spcPts val="100"/>
              </a:spcBef>
              <a:spcAft>
                <a:spcPts val="100"/>
              </a:spcAft>
            </a:pPr>
            <a:r>
              <a:rPr sz="1400" b="1" i="0" dirty="0">
                <a:latin typeface="Times New Roman"/>
              </a:rPr>
              <a:t>NLP Engine (chatbot.js):</a:t>
            </a:r>
          </a:p>
          <a:p>
            <a:pPr algn="l">
              <a:spcBef>
                <a:spcPts val="100"/>
              </a:spcBef>
              <a:spcAft>
                <a:spcPts val="100"/>
              </a:spcAft>
            </a:pPr>
            <a:r>
              <a:rPr sz="1300" b="0" i="0" dirty="0">
                <a:latin typeface="Times New Roman"/>
              </a:rPr>
              <a:t>  Intents: upload | verify | blockchain | AI | workflow</a:t>
            </a:r>
          </a:p>
          <a:p>
            <a:pPr algn="l">
              <a:spcBef>
                <a:spcPts val="100"/>
              </a:spcBef>
              <a:spcAft>
                <a:spcPts val="100"/>
              </a:spcAft>
            </a:pPr>
            <a:r>
              <a:rPr sz="1300" b="0" i="0" dirty="0">
                <a:latin typeface="Times New Roman"/>
              </a:rPr>
              <a:t>  Context: MongoDB herb records for batch-specific answers</a:t>
            </a:r>
          </a:p>
          <a:p>
            <a:pPr algn="l">
              <a:spcBef>
                <a:spcPts val="100"/>
              </a:spcBef>
              <a:spcAft>
                <a:spcPts val="100"/>
              </a:spcAft>
            </a:pPr>
            <a:r>
              <a:rPr sz="1300" b="0" i="0" dirty="0">
                <a:latin typeface="Times New Roman"/>
              </a:rPr>
              <a:t>  Upgrade path: swap for LLM API (Anthropic / OpenAI)</a:t>
            </a:r>
          </a:p>
        </p:txBody>
      </p:sp>
      <p:sp>
        <p:nvSpPr>
          <p:cNvPr id="10" name="TextBox 9"/>
          <p:cNvSpPr txBox="1"/>
          <p:nvPr/>
        </p:nvSpPr>
        <p:spPr>
          <a:xfrm>
            <a:off x="432000"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13  of  18     AyurAuth  |  Aditya Rajesh Srinivas &amp; Shreya Vikas Jhamb</a:t>
            </a:r>
          </a:p>
        </p:txBody>
      </p:sp>
      <p:grpSp>
        <p:nvGrpSpPr>
          <p:cNvPr id="11" name="Group 10">
            <a:extLst>
              <a:ext uri="{FF2B5EF4-FFF2-40B4-BE49-F238E27FC236}">
                <a16:creationId xmlns:a16="http://schemas.microsoft.com/office/drawing/2014/main" id="{6D304A06-753E-D08E-26DF-3FED8DE4EE41}"/>
              </a:ext>
            </a:extLst>
          </p:cNvPr>
          <p:cNvGrpSpPr/>
          <p:nvPr/>
        </p:nvGrpSpPr>
        <p:grpSpPr>
          <a:xfrm>
            <a:off x="162000" y="59993"/>
            <a:ext cx="2088617" cy="711872"/>
            <a:chOff x="0" y="0"/>
            <a:chExt cx="2784823" cy="949162"/>
          </a:xfrm>
        </p:grpSpPr>
        <p:sp>
          <p:nvSpPr>
            <p:cNvPr id="12" name="Freeform 11">
              <a:extLst>
                <a:ext uri="{FF2B5EF4-FFF2-40B4-BE49-F238E27FC236}">
                  <a16:creationId xmlns:a16="http://schemas.microsoft.com/office/drawing/2014/main" id="{8C310B78-B1F0-160C-4BDE-50836F82D953}"/>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2"/>
              <a:stretch>
                <a:fillRect r="-1" b="2"/>
              </a:stretch>
            </a:blipFill>
          </p:spPr>
        </p:sp>
      </p:grpSp>
      <p:grpSp>
        <p:nvGrpSpPr>
          <p:cNvPr id="13" name="Group 8">
            <a:extLst>
              <a:ext uri="{FF2B5EF4-FFF2-40B4-BE49-F238E27FC236}">
                <a16:creationId xmlns:a16="http://schemas.microsoft.com/office/drawing/2014/main" id="{4E3EF289-7135-73E5-EB5A-1276A6671B1F}"/>
              </a:ext>
            </a:extLst>
          </p:cNvPr>
          <p:cNvGrpSpPr/>
          <p:nvPr/>
        </p:nvGrpSpPr>
        <p:grpSpPr>
          <a:xfrm>
            <a:off x="11289761" y="59993"/>
            <a:ext cx="798262" cy="600013"/>
            <a:chOff x="0" y="0"/>
            <a:chExt cx="1456944" cy="1079221"/>
          </a:xfrm>
        </p:grpSpPr>
        <p:sp>
          <p:nvSpPr>
            <p:cNvPr id="14" name="Freeform 9" descr="Graphical user interface, text, application  Description automatically generated">
              <a:extLst>
                <a:ext uri="{FF2B5EF4-FFF2-40B4-BE49-F238E27FC236}">
                  <a16:creationId xmlns:a16="http://schemas.microsoft.com/office/drawing/2014/main" id="{B6BCC62A-1858-8932-2CD6-712436041B80}"/>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3"/>
              <a:stretch>
                <a:fillRect b="-1447"/>
              </a:stretch>
            </a:blipFill>
          </p:spPr>
        </p:sp>
      </p:grpSp>
      <p:grpSp>
        <p:nvGrpSpPr>
          <p:cNvPr id="21" name="Group 2">
            <a:extLst>
              <a:ext uri="{FF2B5EF4-FFF2-40B4-BE49-F238E27FC236}">
                <a16:creationId xmlns:a16="http://schemas.microsoft.com/office/drawing/2014/main" id="{753E582C-660D-7C6B-9C38-280A50CEC170}"/>
              </a:ext>
            </a:extLst>
          </p:cNvPr>
          <p:cNvGrpSpPr/>
          <p:nvPr/>
        </p:nvGrpSpPr>
        <p:grpSpPr>
          <a:xfrm>
            <a:off x="0" y="6020688"/>
            <a:ext cx="824253" cy="837332"/>
            <a:chOff x="0" y="0"/>
            <a:chExt cx="1676400" cy="1580985"/>
          </a:xfrm>
        </p:grpSpPr>
        <p:sp>
          <p:nvSpPr>
            <p:cNvPr id="22" name="Freeform 3">
              <a:extLst>
                <a:ext uri="{FF2B5EF4-FFF2-40B4-BE49-F238E27FC236}">
                  <a16:creationId xmlns:a16="http://schemas.microsoft.com/office/drawing/2014/main" id="{870E70E9-4483-1DA3-1C67-0BBE18EFDE89}"/>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23" name="Group 6">
            <a:extLst>
              <a:ext uri="{FF2B5EF4-FFF2-40B4-BE49-F238E27FC236}">
                <a16:creationId xmlns:a16="http://schemas.microsoft.com/office/drawing/2014/main" id="{FFD64138-E6C0-DF7B-2D0D-492018B350DF}"/>
              </a:ext>
            </a:extLst>
          </p:cNvPr>
          <p:cNvGrpSpPr/>
          <p:nvPr/>
        </p:nvGrpSpPr>
        <p:grpSpPr>
          <a:xfrm>
            <a:off x="775093" y="6265116"/>
            <a:ext cx="9024002" cy="592884"/>
            <a:chOff x="0" y="0"/>
            <a:chExt cx="18662828" cy="1029805"/>
          </a:xfrm>
        </p:grpSpPr>
        <p:sp>
          <p:nvSpPr>
            <p:cNvPr id="24" name="Freeform 7">
              <a:extLst>
                <a:ext uri="{FF2B5EF4-FFF2-40B4-BE49-F238E27FC236}">
                  <a16:creationId xmlns:a16="http://schemas.microsoft.com/office/drawing/2014/main" id="{56175721-3262-D7F7-7896-E6D8EF9C55F6}"/>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5" name="Group 4">
            <a:extLst>
              <a:ext uri="{FF2B5EF4-FFF2-40B4-BE49-F238E27FC236}">
                <a16:creationId xmlns:a16="http://schemas.microsoft.com/office/drawing/2014/main" id="{071E1BFB-0918-F3F2-9D5F-D5512FF23C23}"/>
              </a:ext>
            </a:extLst>
          </p:cNvPr>
          <p:cNvGrpSpPr/>
          <p:nvPr/>
        </p:nvGrpSpPr>
        <p:grpSpPr>
          <a:xfrm>
            <a:off x="9783605" y="6265094"/>
            <a:ext cx="2408090" cy="592906"/>
            <a:chOff x="0" y="0"/>
            <a:chExt cx="4044785" cy="1029805"/>
          </a:xfrm>
        </p:grpSpPr>
        <p:sp>
          <p:nvSpPr>
            <p:cNvPr id="26" name="Freeform 5">
              <a:extLst>
                <a:ext uri="{FF2B5EF4-FFF2-40B4-BE49-F238E27FC236}">
                  <a16:creationId xmlns:a16="http://schemas.microsoft.com/office/drawing/2014/main" id="{BA57E87C-3934-5E28-4D47-208204ED02F9}"/>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8" name="TextBox 7">
            <a:extLst>
              <a:ext uri="{FF2B5EF4-FFF2-40B4-BE49-F238E27FC236}">
                <a16:creationId xmlns:a16="http://schemas.microsoft.com/office/drawing/2014/main" id="{8322F70E-6E5B-1699-3BFD-9D870D232EE1}"/>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13 of 17</a:t>
            </a:r>
          </a:p>
        </p:txBody>
      </p:sp>
      <p:sp>
        <p:nvSpPr>
          <p:cNvPr id="15" name="TextBox 14">
            <a:extLst>
              <a:ext uri="{FF2B5EF4-FFF2-40B4-BE49-F238E27FC236}">
                <a16:creationId xmlns:a16="http://schemas.microsoft.com/office/drawing/2014/main" id="{6719B200-3FC7-1008-5DC2-FFF10A2BD2D4}"/>
              </a:ext>
            </a:extLst>
          </p:cNvPr>
          <p:cNvSpPr txBox="1"/>
          <p:nvPr/>
        </p:nvSpPr>
        <p:spPr>
          <a:xfrm>
            <a:off x="1013144" y="1754678"/>
            <a:ext cx="4881462" cy="4011355"/>
          </a:xfrm>
          <a:prstGeom prst="rect">
            <a:avLst/>
          </a:prstGeom>
          <a:noFill/>
        </p:spPr>
        <p:txBody>
          <a:bodyPr wrap="square" lIns="0" tIns="0" rIns="0" bIns="0" anchor="t">
            <a:spAutoFit/>
          </a:bodyPr>
          <a:lstStyle/>
          <a:p>
            <a:pPr algn="l">
              <a:spcBef>
                <a:spcPts val="100"/>
              </a:spcBef>
              <a:spcAft>
                <a:spcPts val="100"/>
              </a:spcAft>
            </a:pPr>
            <a:r>
              <a:rPr lang="en-IN" b="1" i="0" dirty="0">
                <a:latin typeface="Times New Roman"/>
              </a:rPr>
              <a:t>CNN MODEL</a:t>
            </a:r>
          </a:p>
          <a:p>
            <a:pPr algn="l">
              <a:spcBef>
                <a:spcPts val="100"/>
              </a:spcBef>
              <a:spcAft>
                <a:spcPts val="100"/>
              </a:spcAft>
            </a:pPr>
            <a:endParaRPr lang="en-IN" b="1" i="0" dirty="0">
              <a:latin typeface="Times New Roman"/>
            </a:endParaRPr>
          </a:p>
          <a:p>
            <a:pPr algn="l">
              <a:spcBef>
                <a:spcPts val="100"/>
              </a:spcBef>
              <a:spcAft>
                <a:spcPts val="100"/>
              </a:spcAft>
            </a:pPr>
            <a:r>
              <a:rPr sz="1400" b="1" i="0" dirty="0">
                <a:latin typeface="Times New Roman"/>
              </a:rPr>
              <a:t>Architecture Pipeline:</a:t>
            </a:r>
          </a:p>
          <a:p>
            <a:pPr algn="l">
              <a:spcBef>
                <a:spcPts val="100"/>
              </a:spcBef>
              <a:spcAft>
                <a:spcPts val="100"/>
              </a:spcAft>
            </a:pPr>
            <a:r>
              <a:rPr sz="1300" b="0" i="0" dirty="0">
                <a:latin typeface="Times New Roman"/>
              </a:rPr>
              <a:t>  Input (224×224×3) → </a:t>
            </a:r>
            <a:r>
              <a:rPr sz="1300" b="0" i="0" dirty="0" err="1">
                <a:latin typeface="Times New Roman"/>
              </a:rPr>
              <a:t>MobileNetV</a:t>
            </a:r>
            <a:r>
              <a:rPr lang="en-IN" sz="1300" b="0" i="0" dirty="0">
                <a:latin typeface="Times New Roman"/>
              </a:rPr>
              <a:t>2</a:t>
            </a:r>
            <a:r>
              <a:rPr sz="1300" b="0" i="0" dirty="0">
                <a:latin typeface="Times New Roman"/>
              </a:rPr>
              <a:t> Base (frozen)</a:t>
            </a:r>
          </a:p>
          <a:p>
            <a:pPr algn="l">
              <a:spcBef>
                <a:spcPts val="100"/>
              </a:spcBef>
              <a:spcAft>
                <a:spcPts val="100"/>
              </a:spcAft>
            </a:pPr>
            <a:r>
              <a:rPr sz="1300" b="0" i="0" dirty="0">
                <a:latin typeface="Times New Roman"/>
              </a:rPr>
              <a:t>  → Unfreeze last ~30 layers → GlobalAvgPool2D</a:t>
            </a:r>
          </a:p>
          <a:p>
            <a:pPr algn="l">
              <a:spcBef>
                <a:spcPts val="100"/>
              </a:spcBef>
              <a:spcAft>
                <a:spcPts val="100"/>
              </a:spcAft>
            </a:pPr>
            <a:r>
              <a:rPr sz="1300" b="0" i="0" dirty="0">
                <a:latin typeface="Times New Roman"/>
              </a:rPr>
              <a:t>  → Dense 256 (</a:t>
            </a:r>
            <a:r>
              <a:rPr sz="1300" b="0" i="0" dirty="0" err="1">
                <a:latin typeface="Times New Roman"/>
              </a:rPr>
              <a:t>ReLU</a:t>
            </a:r>
            <a:r>
              <a:rPr sz="1300" b="0" i="0" dirty="0">
                <a:latin typeface="Times New Roman"/>
              </a:rPr>
              <a:t>, Dropout 0.5)</a:t>
            </a:r>
          </a:p>
          <a:p>
            <a:pPr algn="l">
              <a:spcBef>
                <a:spcPts val="100"/>
              </a:spcBef>
              <a:spcAft>
                <a:spcPts val="100"/>
              </a:spcAft>
            </a:pPr>
            <a:r>
              <a:rPr sz="1300" b="0" i="0" dirty="0">
                <a:latin typeface="Times New Roman"/>
              </a:rPr>
              <a:t>  → Dense 128 (</a:t>
            </a:r>
            <a:r>
              <a:rPr sz="1300" b="0" i="0" dirty="0" err="1">
                <a:latin typeface="Times New Roman"/>
              </a:rPr>
              <a:t>ReLU</a:t>
            </a:r>
            <a:r>
              <a:rPr sz="1300" b="0" i="0" dirty="0">
                <a:latin typeface="Times New Roman"/>
              </a:rPr>
              <a:t>, Dropout 0.3)</a:t>
            </a:r>
          </a:p>
          <a:p>
            <a:pPr algn="l">
              <a:spcBef>
                <a:spcPts val="100"/>
              </a:spcBef>
              <a:spcAft>
                <a:spcPts val="100"/>
              </a:spcAft>
            </a:pPr>
            <a:r>
              <a:rPr sz="1300" b="0" i="0" dirty="0">
                <a:latin typeface="Times New Roman"/>
              </a:rPr>
              <a:t>  → </a:t>
            </a:r>
            <a:r>
              <a:rPr sz="1300" b="0" i="0" dirty="0" err="1">
                <a:latin typeface="Times New Roman"/>
              </a:rPr>
              <a:t>Softmax</a:t>
            </a:r>
            <a:r>
              <a:rPr sz="1300" b="0" i="0" dirty="0">
                <a:latin typeface="Times New Roman"/>
              </a:rPr>
              <a:t> Output (10 herb classes)</a:t>
            </a:r>
          </a:p>
          <a:p>
            <a:pPr algn="l">
              <a:spcBef>
                <a:spcPts val="100"/>
              </a:spcBef>
              <a:spcAft>
                <a:spcPts val="100"/>
              </a:spcAft>
            </a:pPr>
            <a:endParaRPr sz="1300" b="0" i="0" dirty="0">
              <a:latin typeface="Times New Roman"/>
            </a:endParaRPr>
          </a:p>
          <a:p>
            <a:pPr algn="l">
              <a:spcBef>
                <a:spcPts val="100"/>
              </a:spcBef>
              <a:spcAft>
                <a:spcPts val="100"/>
              </a:spcAft>
            </a:pPr>
            <a:r>
              <a:rPr sz="1400" b="1" i="0" dirty="0">
                <a:latin typeface="Times New Roman"/>
              </a:rPr>
              <a:t>Training:</a:t>
            </a:r>
          </a:p>
          <a:p>
            <a:pPr algn="l">
              <a:spcBef>
                <a:spcPts val="100"/>
              </a:spcBef>
              <a:spcAft>
                <a:spcPts val="100"/>
              </a:spcAft>
            </a:pPr>
            <a:r>
              <a:rPr sz="1300" b="0" i="0" dirty="0">
                <a:latin typeface="Times New Roman"/>
              </a:rPr>
              <a:t>  1,300+ images | 80/20 split | 50 epochs</a:t>
            </a:r>
          </a:p>
          <a:p>
            <a:pPr algn="l">
              <a:spcBef>
                <a:spcPts val="100"/>
              </a:spcBef>
              <a:spcAft>
                <a:spcPts val="100"/>
              </a:spcAft>
            </a:pPr>
            <a:r>
              <a:rPr sz="1300" b="0" i="0" dirty="0">
                <a:latin typeface="Times New Roman"/>
              </a:rPr>
              <a:t>  Adam </a:t>
            </a:r>
            <a:r>
              <a:rPr sz="1300" b="0" i="0" dirty="0" err="1">
                <a:latin typeface="Times New Roman"/>
              </a:rPr>
              <a:t>lr</a:t>
            </a:r>
            <a:r>
              <a:rPr sz="1300" b="0" i="0" dirty="0">
                <a:latin typeface="Times New Roman"/>
              </a:rPr>
              <a:t>=0.0001 | Early stopping patience=5</a:t>
            </a:r>
          </a:p>
          <a:p>
            <a:pPr algn="l">
              <a:spcBef>
                <a:spcPts val="100"/>
              </a:spcBef>
              <a:spcAft>
                <a:spcPts val="100"/>
              </a:spcAft>
            </a:pPr>
            <a:r>
              <a:rPr sz="1300" b="0" i="0" dirty="0">
                <a:latin typeface="Times New Roman"/>
              </a:rPr>
              <a:t>  Augmentation: Rotation, Zoom, Flip, Shear, Brightness</a:t>
            </a:r>
          </a:p>
          <a:p>
            <a:pPr algn="l">
              <a:spcBef>
                <a:spcPts val="100"/>
              </a:spcBef>
              <a:spcAft>
                <a:spcPts val="100"/>
              </a:spcAft>
            </a:pPr>
            <a:endParaRPr sz="1300" b="0" i="0" dirty="0">
              <a:latin typeface="Times New Roman"/>
            </a:endParaRPr>
          </a:p>
          <a:p>
            <a:pPr algn="l">
              <a:spcBef>
                <a:spcPts val="100"/>
              </a:spcBef>
              <a:spcAft>
                <a:spcPts val="100"/>
              </a:spcAft>
            </a:pPr>
            <a:r>
              <a:rPr sz="1400" b="1" i="0" dirty="0">
                <a:latin typeface="Times New Roman"/>
              </a:rPr>
              <a:t>Results:</a:t>
            </a:r>
          </a:p>
          <a:p>
            <a:pPr algn="l">
              <a:spcBef>
                <a:spcPts val="100"/>
              </a:spcBef>
              <a:spcAft>
                <a:spcPts val="100"/>
              </a:spcAft>
            </a:pPr>
            <a:r>
              <a:rPr sz="1300" b="0" i="0" dirty="0">
                <a:latin typeface="Times New Roman"/>
              </a:rPr>
              <a:t>  ~85% validation accuracy</a:t>
            </a:r>
          </a:p>
          <a:p>
            <a:pPr algn="l">
              <a:spcBef>
                <a:spcPts val="100"/>
              </a:spcBef>
              <a:spcAft>
                <a:spcPts val="100"/>
              </a:spcAft>
            </a:pPr>
            <a:r>
              <a:rPr sz="1300" b="0" i="0" dirty="0">
                <a:latin typeface="Times New Roman"/>
              </a:rPr>
              <a:t>  Confusion Matrix | Precision / Recall / F1 per class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12601"/>
            <a:ext cx="11219695" cy="553998"/>
          </a:xfrm>
          <a:prstGeom prst="rect">
            <a:avLst/>
          </a:prstGeom>
          <a:noFill/>
        </p:spPr>
        <p:txBody>
          <a:bodyPr wrap="square" lIns="0" tIns="0" rIns="0" bIns="0" anchor="ctr">
            <a:spAutoFit/>
          </a:bodyPr>
          <a:lstStyle/>
          <a:p>
            <a:pPr algn="ctr"/>
            <a:r>
              <a:rPr sz="3600" b="1" i="0" dirty="0">
                <a:latin typeface="Times New Roman"/>
              </a:rPr>
              <a:t>Work Done </a:t>
            </a:r>
            <a:r>
              <a:rPr lang="en-IN" sz="3600" b="1" dirty="0">
                <a:latin typeface="Times New Roman"/>
              </a:rPr>
              <a:t>: </a:t>
            </a:r>
            <a:r>
              <a:rPr sz="3600" b="1" i="0" dirty="0">
                <a:latin typeface="Times New Roman"/>
              </a:rPr>
              <a:t>Frontend &amp; Full Stack</a:t>
            </a:r>
          </a:p>
        </p:txBody>
      </p:sp>
      <p:sp>
        <p:nvSpPr>
          <p:cNvPr id="9" name="TextBox 8"/>
          <p:cNvSpPr txBox="1"/>
          <p:nvPr/>
        </p:nvSpPr>
        <p:spPr>
          <a:xfrm>
            <a:off x="432000"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15  of  18     AyurAuth  |  Aditya Rajesh Srinivas &amp; Shreya Vikas Jhamb</a:t>
            </a:r>
          </a:p>
        </p:txBody>
      </p:sp>
      <p:grpSp>
        <p:nvGrpSpPr>
          <p:cNvPr id="10" name="Group 8">
            <a:extLst>
              <a:ext uri="{FF2B5EF4-FFF2-40B4-BE49-F238E27FC236}">
                <a16:creationId xmlns:a16="http://schemas.microsoft.com/office/drawing/2014/main" id="{B3360780-73B4-967D-954A-E41843903077}"/>
              </a:ext>
            </a:extLst>
          </p:cNvPr>
          <p:cNvGrpSpPr/>
          <p:nvPr/>
        </p:nvGrpSpPr>
        <p:grpSpPr>
          <a:xfrm>
            <a:off x="11289761" y="59993"/>
            <a:ext cx="798262" cy="600013"/>
            <a:chOff x="0" y="0"/>
            <a:chExt cx="1456944" cy="1079221"/>
          </a:xfrm>
        </p:grpSpPr>
        <p:sp>
          <p:nvSpPr>
            <p:cNvPr id="11" name="Freeform 9" descr="Graphical user interface, text, application  Description automatically generated">
              <a:extLst>
                <a:ext uri="{FF2B5EF4-FFF2-40B4-BE49-F238E27FC236}">
                  <a16:creationId xmlns:a16="http://schemas.microsoft.com/office/drawing/2014/main" id="{C23D81E2-45CB-2129-595F-B12D36BC5EE8}"/>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2"/>
              <a:stretch>
                <a:fillRect b="-1447"/>
              </a:stretch>
            </a:blipFill>
          </p:spPr>
        </p:sp>
      </p:grpSp>
      <p:grpSp>
        <p:nvGrpSpPr>
          <p:cNvPr id="12" name="Group 11">
            <a:extLst>
              <a:ext uri="{FF2B5EF4-FFF2-40B4-BE49-F238E27FC236}">
                <a16:creationId xmlns:a16="http://schemas.microsoft.com/office/drawing/2014/main" id="{88213117-D8F7-BEB0-4A82-1FD925FE045B}"/>
              </a:ext>
            </a:extLst>
          </p:cNvPr>
          <p:cNvGrpSpPr/>
          <p:nvPr/>
        </p:nvGrpSpPr>
        <p:grpSpPr>
          <a:xfrm>
            <a:off x="162000" y="85121"/>
            <a:ext cx="2088617" cy="711872"/>
            <a:chOff x="0" y="0"/>
            <a:chExt cx="2784823" cy="949162"/>
          </a:xfrm>
        </p:grpSpPr>
        <p:sp>
          <p:nvSpPr>
            <p:cNvPr id="13" name="Freeform 11">
              <a:extLst>
                <a:ext uri="{FF2B5EF4-FFF2-40B4-BE49-F238E27FC236}">
                  <a16:creationId xmlns:a16="http://schemas.microsoft.com/office/drawing/2014/main" id="{6420D5D1-3082-5E83-3C72-C8BBA32D16E6}"/>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3"/>
              <a:stretch>
                <a:fillRect r="-1" b="2"/>
              </a:stretch>
            </a:blipFill>
          </p:spPr>
        </p:sp>
      </p:grpSp>
      <p:grpSp>
        <p:nvGrpSpPr>
          <p:cNvPr id="18" name="Group 6">
            <a:extLst>
              <a:ext uri="{FF2B5EF4-FFF2-40B4-BE49-F238E27FC236}">
                <a16:creationId xmlns:a16="http://schemas.microsoft.com/office/drawing/2014/main" id="{98A3FA15-BBD4-34AE-4358-F50C03722ED3}"/>
              </a:ext>
            </a:extLst>
          </p:cNvPr>
          <p:cNvGrpSpPr/>
          <p:nvPr/>
        </p:nvGrpSpPr>
        <p:grpSpPr>
          <a:xfrm>
            <a:off x="775093" y="6265116"/>
            <a:ext cx="9024002" cy="592884"/>
            <a:chOff x="0" y="0"/>
            <a:chExt cx="18662828" cy="1029805"/>
          </a:xfrm>
        </p:grpSpPr>
        <p:sp>
          <p:nvSpPr>
            <p:cNvPr id="19" name="Freeform 7">
              <a:extLst>
                <a:ext uri="{FF2B5EF4-FFF2-40B4-BE49-F238E27FC236}">
                  <a16:creationId xmlns:a16="http://schemas.microsoft.com/office/drawing/2014/main" id="{AFE88A82-A6FD-8F91-22C6-D9FB3CB08030}"/>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0" name="Group 2">
            <a:extLst>
              <a:ext uri="{FF2B5EF4-FFF2-40B4-BE49-F238E27FC236}">
                <a16:creationId xmlns:a16="http://schemas.microsoft.com/office/drawing/2014/main" id="{7667741F-D228-3A90-F892-E7288B41112E}"/>
              </a:ext>
            </a:extLst>
          </p:cNvPr>
          <p:cNvGrpSpPr/>
          <p:nvPr/>
        </p:nvGrpSpPr>
        <p:grpSpPr>
          <a:xfrm>
            <a:off x="0" y="6020688"/>
            <a:ext cx="824253" cy="837332"/>
            <a:chOff x="0" y="0"/>
            <a:chExt cx="1676400" cy="1580985"/>
          </a:xfrm>
        </p:grpSpPr>
        <p:sp>
          <p:nvSpPr>
            <p:cNvPr id="21" name="Freeform 3">
              <a:extLst>
                <a:ext uri="{FF2B5EF4-FFF2-40B4-BE49-F238E27FC236}">
                  <a16:creationId xmlns:a16="http://schemas.microsoft.com/office/drawing/2014/main" id="{A3FB5ED2-0321-8A52-22AC-080783CF7920}"/>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22" name="Group 4">
            <a:extLst>
              <a:ext uri="{FF2B5EF4-FFF2-40B4-BE49-F238E27FC236}">
                <a16:creationId xmlns:a16="http://schemas.microsoft.com/office/drawing/2014/main" id="{43E66A49-8B8B-D7B2-0686-8D4700C4324A}"/>
              </a:ext>
            </a:extLst>
          </p:cNvPr>
          <p:cNvGrpSpPr/>
          <p:nvPr/>
        </p:nvGrpSpPr>
        <p:grpSpPr>
          <a:xfrm>
            <a:off x="9783605" y="6265094"/>
            <a:ext cx="2408090" cy="592906"/>
            <a:chOff x="0" y="0"/>
            <a:chExt cx="4044785" cy="1029805"/>
          </a:xfrm>
        </p:grpSpPr>
        <p:sp>
          <p:nvSpPr>
            <p:cNvPr id="23" name="Freeform 5">
              <a:extLst>
                <a:ext uri="{FF2B5EF4-FFF2-40B4-BE49-F238E27FC236}">
                  <a16:creationId xmlns:a16="http://schemas.microsoft.com/office/drawing/2014/main" id="{6B4379A4-106C-433B-397E-69F432A57E45}"/>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14" name="TextBox 13">
            <a:extLst>
              <a:ext uri="{FF2B5EF4-FFF2-40B4-BE49-F238E27FC236}">
                <a16:creationId xmlns:a16="http://schemas.microsoft.com/office/drawing/2014/main" id="{3E5BE9F5-6151-3EA5-02E9-F2AC238D7D1B}"/>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14 of 17</a:t>
            </a:r>
          </a:p>
        </p:txBody>
      </p:sp>
      <p:sp>
        <p:nvSpPr>
          <p:cNvPr id="16" name="TextBox 15">
            <a:extLst>
              <a:ext uri="{FF2B5EF4-FFF2-40B4-BE49-F238E27FC236}">
                <a16:creationId xmlns:a16="http://schemas.microsoft.com/office/drawing/2014/main" id="{A480EAAC-2DAF-939D-8E7C-DBC24CB39207}"/>
              </a:ext>
            </a:extLst>
          </p:cNvPr>
          <p:cNvSpPr txBox="1"/>
          <p:nvPr/>
        </p:nvSpPr>
        <p:spPr>
          <a:xfrm>
            <a:off x="236852" y="919207"/>
            <a:ext cx="5949135" cy="5047536"/>
          </a:xfrm>
          <a:prstGeom prst="rect">
            <a:avLst/>
          </a:prstGeom>
          <a:noFill/>
        </p:spPr>
        <p:txBody>
          <a:bodyPr wrap="square">
            <a:spAutoFit/>
          </a:bodyPr>
          <a:lstStyle/>
          <a:p>
            <a:pPr>
              <a:buNone/>
            </a:pPr>
            <a:r>
              <a:rPr lang="en-IN" sz="1400" b="1" dirty="0">
                <a:latin typeface="Times New Roman" panose="02020603050405020304" pitchFamily="18" charset="0"/>
                <a:cs typeface="Times New Roman" panose="02020603050405020304" pitchFamily="18" charset="0"/>
              </a:rPr>
              <a:t>Frontend (React 18 + TypeScript + Vite)</a:t>
            </a:r>
            <a:endParaRPr lang="en-IN" sz="1400" dirty="0">
              <a:latin typeface="Times New Roman" panose="02020603050405020304" pitchFamily="18" charset="0"/>
              <a:cs typeface="Times New Roman" panose="02020603050405020304" pitchFamily="18" charset="0"/>
            </a:endParaRPr>
          </a:p>
          <a:p>
            <a:pPr>
              <a:buNone/>
            </a:pPr>
            <a:r>
              <a:rPr lang="en-IN" sz="1400" dirty="0">
                <a:latin typeface="Times New Roman" panose="02020603050405020304" pitchFamily="18" charset="0"/>
                <a:cs typeface="Times New Roman" panose="02020603050405020304" pitchFamily="18" charset="0"/>
              </a:rPr>
              <a:t>8 pages built: Landing, Login, Signup, Upload, Verify, Dashboard, Consumer Dashboard, and Chat. The UI uses Tailwind CSS with dark mode, </a:t>
            </a:r>
            <a:r>
              <a:rPr lang="en-IN" sz="1400" dirty="0" err="1">
                <a:latin typeface="Times New Roman" panose="02020603050405020304" pitchFamily="18" charset="0"/>
                <a:cs typeface="Times New Roman" panose="02020603050405020304" pitchFamily="18" charset="0"/>
              </a:rPr>
              <a:t>glassmorphism</a:t>
            </a:r>
            <a:r>
              <a:rPr lang="en-IN" sz="1400" dirty="0">
                <a:latin typeface="Times New Roman" panose="02020603050405020304" pitchFamily="18" charset="0"/>
                <a:cs typeface="Times New Roman" panose="02020603050405020304" pitchFamily="18" charset="0"/>
              </a:rPr>
              <a:t>-style cards, and Framer Motion animations. Internationalization covers 10 languages — English, Hindi, Tamil, Gujarati, Bengali, Punjabi, Malayalam, Marathi, German, and French via react-i18next. The landing page has workflow cards that link directly to Upload, Dashboard, and Verify.</a:t>
            </a:r>
          </a:p>
          <a:p>
            <a:pPr>
              <a:buNone/>
            </a:pPr>
            <a:endParaRPr lang="en-IN" sz="1400" dirty="0">
              <a:latin typeface="Times New Roman" panose="02020603050405020304" pitchFamily="18" charset="0"/>
              <a:cs typeface="Times New Roman" panose="02020603050405020304" pitchFamily="18" charset="0"/>
            </a:endParaRPr>
          </a:p>
          <a:p>
            <a:pPr>
              <a:buNone/>
            </a:pPr>
            <a:r>
              <a:rPr lang="en-IN" sz="1400" b="1" dirty="0">
                <a:latin typeface="Times New Roman" panose="02020603050405020304" pitchFamily="18" charset="0"/>
                <a:cs typeface="Times New Roman" panose="02020603050405020304" pitchFamily="18" charset="0"/>
              </a:rPr>
              <a:t>Auth &amp; Forms</a:t>
            </a:r>
            <a:endParaRPr lang="en-IN" sz="1400" dirty="0">
              <a:latin typeface="Times New Roman" panose="02020603050405020304" pitchFamily="18" charset="0"/>
              <a:cs typeface="Times New Roman" panose="02020603050405020304" pitchFamily="18" charset="0"/>
            </a:endParaRPr>
          </a:p>
          <a:p>
            <a:pPr>
              <a:buNone/>
            </a:pPr>
            <a:r>
              <a:rPr lang="en-IN" sz="1400" dirty="0">
                <a:latin typeface="Times New Roman" panose="02020603050405020304" pitchFamily="18" charset="0"/>
                <a:cs typeface="Times New Roman" panose="02020603050405020304" pitchFamily="18" charset="0"/>
              </a:rPr>
              <a:t>JWT-based login and signup with Zod validation (email format enforcement, strong password rules). Demo user seeding from backend/.env. Field errors clear correctly on Login, Signup, and Upload forms.</a:t>
            </a:r>
          </a:p>
          <a:p>
            <a:pPr>
              <a:buNone/>
            </a:pPr>
            <a:r>
              <a:rPr lang="en-IN" sz="1400" b="1" dirty="0">
                <a:latin typeface="Times New Roman" panose="02020603050405020304" pitchFamily="18" charset="0"/>
                <a:cs typeface="Times New Roman" panose="02020603050405020304" pitchFamily="18" charset="0"/>
              </a:rPr>
              <a:t>Upload &amp; Traceability</a:t>
            </a:r>
          </a:p>
          <a:p>
            <a:pPr>
              <a:buNone/>
            </a:pPr>
            <a:endParaRPr lang="en-IN" sz="1400" dirty="0">
              <a:latin typeface="Times New Roman" panose="02020603050405020304" pitchFamily="18" charset="0"/>
              <a:cs typeface="Times New Roman" panose="02020603050405020304" pitchFamily="18" charset="0"/>
            </a:endParaRPr>
          </a:p>
          <a:p>
            <a:pPr>
              <a:buNone/>
            </a:pPr>
            <a:r>
              <a:rPr lang="en-IN" sz="1400" dirty="0">
                <a:latin typeface="Times New Roman" panose="02020603050405020304" pitchFamily="18" charset="0"/>
                <a:cs typeface="Times New Roman" panose="02020603050405020304" pitchFamily="18" charset="0"/>
              </a:rPr>
              <a:t>Drag-and-drop image upload with automatic geo-location via the browser Geolocation API. Farmer and herb metadata capture. CNN verification via the Flask ML service. QR payload generation in the format ayurauth://batch/&lt;uuid&gt;. Dashboard table showing all uploaded batches. Success panel after upload that keeps the CNN result and QR image on screen.</a:t>
            </a:r>
          </a:p>
          <a:p>
            <a:pPr>
              <a:buNone/>
            </a:pPr>
            <a:endParaRPr lang="en-IN" sz="1400" b="1" dirty="0">
              <a:latin typeface="Times New Roman" panose="02020603050405020304" pitchFamily="18" charset="0"/>
              <a:cs typeface="Times New Roman" panose="02020603050405020304" pitchFamily="18" charset="0"/>
            </a:endParaRPr>
          </a:p>
          <a:p>
            <a:pPr>
              <a:buNone/>
            </a:pPr>
            <a:r>
              <a:rPr lang="en-IN" sz="1400" b="1" dirty="0">
                <a:latin typeface="Times New Roman" panose="02020603050405020304" pitchFamily="18" charset="0"/>
                <a:cs typeface="Times New Roman" panose="02020603050405020304" pitchFamily="18" charset="0"/>
              </a:rPr>
              <a:t>Verify &amp; QR System</a:t>
            </a:r>
            <a:endParaRPr lang="en-IN" sz="1400" dirty="0">
              <a:latin typeface="Times New Roman" panose="02020603050405020304" pitchFamily="18" charset="0"/>
              <a:cs typeface="Times New Roman" panose="02020603050405020304" pitchFamily="18" charset="0"/>
            </a:endParaRPr>
          </a:p>
          <a:p>
            <a:pPr>
              <a:buNone/>
            </a:pPr>
            <a:r>
              <a:rPr lang="en-IN" sz="1400" dirty="0" err="1">
                <a:latin typeface="Times New Roman" panose="02020603050405020304" pitchFamily="18" charset="0"/>
                <a:cs typeface="Times New Roman" panose="02020603050405020304" pitchFamily="18" charset="0"/>
              </a:rPr>
              <a:t>jsQR</a:t>
            </a:r>
            <a:r>
              <a:rPr lang="en-IN" sz="1400" dirty="0">
                <a:latin typeface="Times New Roman" panose="02020603050405020304" pitchFamily="18" charset="0"/>
                <a:cs typeface="Times New Roman" panose="02020603050405020304" pitchFamily="18" charset="0"/>
              </a:rPr>
              <a:t>-based camera scan, image-upload decode, and manual batch ID / QR paste. Status display showing valid, invalid, or unverified with full herb details.</a:t>
            </a:r>
          </a:p>
        </p:txBody>
      </p:sp>
      <p:sp>
        <p:nvSpPr>
          <p:cNvPr id="24" name="TextBox 23">
            <a:extLst>
              <a:ext uri="{FF2B5EF4-FFF2-40B4-BE49-F238E27FC236}">
                <a16:creationId xmlns:a16="http://schemas.microsoft.com/office/drawing/2014/main" id="{7464FE78-D565-3C91-9B9B-35AF300B24C9}"/>
              </a:ext>
            </a:extLst>
          </p:cNvPr>
          <p:cNvSpPr txBox="1"/>
          <p:nvPr/>
        </p:nvSpPr>
        <p:spPr>
          <a:xfrm>
            <a:off x="6260840" y="919207"/>
            <a:ext cx="5841947" cy="4832092"/>
          </a:xfrm>
          <a:prstGeom prst="rect">
            <a:avLst/>
          </a:prstGeom>
          <a:noFill/>
        </p:spPr>
        <p:txBody>
          <a:bodyPr wrap="square" rtlCol="0">
            <a:spAutoFit/>
          </a:bodyPr>
          <a:lstStyle/>
          <a:p>
            <a:r>
              <a:rPr lang="en-IN" sz="1400" b="1" dirty="0">
                <a:latin typeface="Times New Roman" panose="02020603050405020304" pitchFamily="18" charset="0"/>
                <a:cs typeface="Times New Roman" panose="02020603050405020304" pitchFamily="18" charset="0"/>
              </a:rPr>
              <a:t>Backend (Express + MongoDB)</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7 REST endpoints at http://localhost:5000: GET /</a:t>
            </a:r>
            <a:r>
              <a:rPr lang="en-IN" sz="1400" dirty="0" err="1">
                <a:latin typeface="Times New Roman" panose="02020603050405020304" pitchFamily="18" charset="0"/>
                <a:cs typeface="Times New Roman" panose="02020603050405020304" pitchFamily="18" charset="0"/>
              </a:rPr>
              <a:t>api</a:t>
            </a:r>
            <a:r>
              <a:rPr lang="en-IN" sz="1400" dirty="0">
                <a:latin typeface="Times New Roman" panose="02020603050405020304" pitchFamily="18" charset="0"/>
                <a:cs typeface="Times New Roman" panose="02020603050405020304" pitchFamily="18" charset="0"/>
              </a:rPr>
              <a:t>/health, GET /</a:t>
            </a:r>
            <a:r>
              <a:rPr lang="en-IN" sz="1400" dirty="0" err="1">
                <a:latin typeface="Times New Roman" panose="02020603050405020304" pitchFamily="18" charset="0"/>
                <a:cs typeface="Times New Roman" panose="02020603050405020304" pitchFamily="18" charset="0"/>
              </a:rPr>
              <a:t>api</a:t>
            </a:r>
            <a:r>
              <a:rPr lang="en-IN" sz="1400" dirty="0">
                <a:latin typeface="Times New Roman" panose="02020603050405020304" pitchFamily="18" charset="0"/>
                <a:cs typeface="Times New Roman" panose="02020603050405020304" pitchFamily="18" charset="0"/>
              </a:rPr>
              <a:t>/herbs, GET /</a:t>
            </a:r>
            <a:r>
              <a:rPr lang="en-IN" sz="1400" dirty="0" err="1">
                <a:latin typeface="Times New Roman" panose="02020603050405020304" pitchFamily="18" charset="0"/>
                <a:cs typeface="Times New Roman" panose="02020603050405020304" pitchFamily="18" charset="0"/>
              </a:rPr>
              <a:t>api</a:t>
            </a:r>
            <a:r>
              <a:rPr lang="en-IN" sz="1400" dirty="0">
                <a:latin typeface="Times New Roman" panose="02020603050405020304" pitchFamily="18" charset="0"/>
                <a:cs typeface="Times New Roman" panose="02020603050405020304" pitchFamily="18" charset="0"/>
              </a:rPr>
              <a:t>/herbs/:id, GET /</a:t>
            </a:r>
            <a:r>
              <a:rPr lang="en-IN" sz="1400" dirty="0" err="1">
                <a:latin typeface="Times New Roman" panose="02020603050405020304" pitchFamily="18" charset="0"/>
                <a:cs typeface="Times New Roman" panose="02020603050405020304" pitchFamily="18" charset="0"/>
              </a:rPr>
              <a:t>api</a:t>
            </a:r>
            <a:r>
              <a:rPr lang="en-IN" sz="1400" dirty="0">
                <a:latin typeface="Times New Roman" panose="02020603050405020304" pitchFamily="18" charset="0"/>
                <a:cs typeface="Times New Roman" panose="02020603050405020304" pitchFamily="18" charset="0"/>
              </a:rPr>
              <a:t>/herbs/:id/</a:t>
            </a:r>
            <a:r>
              <a:rPr lang="en-IN" sz="1400" dirty="0" err="1">
                <a:latin typeface="Times New Roman" panose="02020603050405020304" pitchFamily="18" charset="0"/>
                <a:cs typeface="Times New Roman" panose="02020603050405020304" pitchFamily="18" charset="0"/>
              </a:rPr>
              <a:t>qr</a:t>
            </a:r>
            <a:r>
              <a:rPr lang="en-IN" sz="1400" dirty="0">
                <a:latin typeface="Times New Roman" panose="02020603050405020304" pitchFamily="18" charset="0"/>
                <a:cs typeface="Times New Roman" panose="02020603050405020304" pitchFamily="18" charset="0"/>
              </a:rPr>
              <a:t>-image, POST /</a:t>
            </a:r>
            <a:r>
              <a:rPr lang="en-IN" sz="1400" dirty="0" err="1">
                <a:latin typeface="Times New Roman" panose="02020603050405020304" pitchFamily="18" charset="0"/>
                <a:cs typeface="Times New Roman" panose="02020603050405020304" pitchFamily="18" charset="0"/>
              </a:rPr>
              <a:t>api</a:t>
            </a:r>
            <a:r>
              <a:rPr lang="en-IN" sz="1400" dirty="0">
                <a:latin typeface="Times New Roman" panose="02020603050405020304" pitchFamily="18" charset="0"/>
                <a:cs typeface="Times New Roman" panose="02020603050405020304" pitchFamily="18" charset="0"/>
              </a:rPr>
              <a:t>/herbs, POST /</a:t>
            </a:r>
            <a:r>
              <a:rPr lang="en-IN" sz="1400" dirty="0" err="1">
                <a:latin typeface="Times New Roman" panose="02020603050405020304" pitchFamily="18" charset="0"/>
                <a:cs typeface="Times New Roman" panose="02020603050405020304" pitchFamily="18" charset="0"/>
              </a:rPr>
              <a:t>api</a:t>
            </a:r>
            <a:r>
              <a:rPr lang="en-IN" sz="1400" dirty="0">
                <a:latin typeface="Times New Roman" panose="02020603050405020304" pitchFamily="18" charset="0"/>
                <a:cs typeface="Times New Roman" panose="02020603050405020304" pitchFamily="18" charset="0"/>
              </a:rPr>
              <a:t>/verify, POST /</a:t>
            </a:r>
            <a:r>
              <a:rPr lang="en-IN" sz="1400" dirty="0" err="1">
                <a:latin typeface="Times New Roman" panose="02020603050405020304" pitchFamily="18" charset="0"/>
                <a:cs typeface="Times New Roman" panose="02020603050405020304" pitchFamily="18" charset="0"/>
              </a:rPr>
              <a:t>api</a:t>
            </a:r>
            <a:r>
              <a:rPr lang="en-IN" sz="1400" dirty="0">
                <a:latin typeface="Times New Roman" panose="02020603050405020304" pitchFamily="18" charset="0"/>
                <a:cs typeface="Times New Roman" panose="02020603050405020304" pitchFamily="18" charset="0"/>
              </a:rPr>
              <a:t>/chat. MongoDB Atlas with DNS fix and local JSON fallback. Image storage via MongoDB or local uploads. QR generation, blockchain-style hashes, and validation schemas. Stack: Node.js, Express 4, Mongoose, </a:t>
            </a:r>
            <a:r>
              <a:rPr lang="en-IN" sz="1400" dirty="0" err="1">
                <a:latin typeface="Times New Roman" panose="02020603050405020304" pitchFamily="18" charset="0"/>
                <a:cs typeface="Times New Roman" panose="02020603050405020304" pitchFamily="18" charset="0"/>
              </a:rPr>
              <a:t>uuid</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qrcode</a:t>
            </a:r>
            <a:r>
              <a:rPr lang="en-IN" sz="1400" dirty="0">
                <a:latin typeface="Times New Roman" panose="02020603050405020304" pitchFamily="18" charset="0"/>
                <a:cs typeface="Times New Roman" panose="02020603050405020304" pitchFamily="18" charset="0"/>
              </a:rPr>
              <a:t>, </a:t>
            </a:r>
            <a:r>
              <a:rPr lang="en-IN" sz="1400" dirty="0" err="1">
                <a:latin typeface="Times New Roman" panose="02020603050405020304" pitchFamily="18" charset="0"/>
                <a:cs typeface="Times New Roman" panose="02020603050405020304" pitchFamily="18" charset="0"/>
              </a:rPr>
              <a:t>dotenv</a:t>
            </a:r>
            <a:r>
              <a:rPr lang="en-IN" sz="1400" dirty="0">
                <a:latin typeface="Times New Roman" panose="02020603050405020304" pitchFamily="18" charset="0"/>
                <a:cs typeface="Times New Roman" panose="02020603050405020304" pitchFamily="18" charset="0"/>
              </a:rPr>
              <a:t>.</a:t>
            </a: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ML Service (Flask + TensorFlow)</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herbal_auth_improved_final.h5 (224×224, MobileNetV2) is the primary model; leaf_model.h5 (160×160) is legacy. Auto-detects input size from the model. .env pins the correct model. Health endpoint on port 5001. Trained on 5 herb classes: Amla, Guava, Hibiscus, Neem, Tulsi. ~85% validation accuracy with Adam optimizer, early stopping, and augmentation (rotation, zoom, flip, shear, brightness).</a:t>
            </a:r>
          </a:p>
          <a:p>
            <a:endParaRPr lang="en-IN" sz="1400" dirty="0">
              <a:latin typeface="Times New Roman" panose="02020603050405020304" pitchFamily="18" charset="0"/>
              <a:cs typeface="Times New Roman" panose="02020603050405020304" pitchFamily="18" charset="0"/>
            </a:endParaRPr>
          </a:p>
          <a:p>
            <a:r>
              <a:rPr lang="en-IN" sz="1400" b="1" dirty="0">
                <a:latin typeface="Times New Roman" panose="02020603050405020304" pitchFamily="18" charset="0"/>
                <a:cs typeface="Times New Roman" panose="02020603050405020304" pitchFamily="18" charset="0"/>
              </a:rPr>
              <a:t>AI Chatbot</a:t>
            </a:r>
            <a:endParaRPr lang="en-IN" sz="1400" dirty="0">
              <a:latin typeface="Times New Roman" panose="02020603050405020304" pitchFamily="18" charset="0"/>
              <a:cs typeface="Times New Roman" panose="02020603050405020304" pitchFamily="18" charset="0"/>
            </a:endParaRPr>
          </a:p>
          <a:p>
            <a:r>
              <a:rPr lang="en-IN" sz="1400" dirty="0">
                <a:latin typeface="Times New Roman" panose="02020603050405020304" pitchFamily="18" charset="0"/>
                <a:cs typeface="Times New Roman" panose="02020603050405020304" pitchFamily="18" charset="0"/>
              </a:rPr>
              <a:t>Floating widget present on all pages plus a dedicated /chat page (login-gated). Topic-aware responses covering upload workflow, AI verification, QR, and blockchain. Optional Anthropic API key; rule-based fallback works offline. Information-only mode — no contact details or spam.</a:t>
            </a:r>
          </a:p>
          <a:p>
            <a:endParaRPr lang="en-IN" sz="1400" dirty="0">
              <a:latin typeface="Times New Roman" panose="02020603050405020304" pitchFamily="18" charset="0"/>
              <a:cs typeface="Times New Roman" panose="02020603050405020304" pitchFamily="18" charset="0"/>
            </a:endParaRPr>
          </a:p>
        </p:txBody>
      </p:sp>
      <p:grpSp>
        <p:nvGrpSpPr>
          <p:cNvPr id="2" name="Group 1">
            <a:extLst>
              <a:ext uri="{FF2B5EF4-FFF2-40B4-BE49-F238E27FC236}">
                <a16:creationId xmlns:a16="http://schemas.microsoft.com/office/drawing/2014/main" id="{462F5BED-B473-0B9F-58AE-3A39794755B0}"/>
              </a:ext>
            </a:extLst>
          </p:cNvPr>
          <p:cNvGrpSpPr/>
          <p:nvPr/>
        </p:nvGrpSpPr>
        <p:grpSpPr>
          <a:xfrm>
            <a:off x="211672" y="54000"/>
            <a:ext cx="2088617" cy="711872"/>
            <a:chOff x="0" y="0"/>
            <a:chExt cx="2784823" cy="949162"/>
          </a:xfrm>
        </p:grpSpPr>
        <p:sp>
          <p:nvSpPr>
            <p:cNvPr id="3" name="Freeform 11">
              <a:extLst>
                <a:ext uri="{FF2B5EF4-FFF2-40B4-BE49-F238E27FC236}">
                  <a16:creationId xmlns:a16="http://schemas.microsoft.com/office/drawing/2014/main" id="{5EB90AB6-4F02-939E-B642-E8730CA01E0E}"/>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3"/>
              <a:stretch>
                <a:fillRect r="-1" b="2"/>
              </a:stretch>
            </a:blipFill>
          </p:spPr>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F797028-27BC-D992-555F-15CEE17444C6}"/>
              </a:ext>
            </a:extLst>
          </p:cNvPr>
          <p:cNvSpPr/>
          <p:nvPr/>
        </p:nvSpPr>
        <p:spPr>
          <a:xfrm>
            <a:off x="305"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20867D39-F016-3630-7DFD-DB485BC806C1}"/>
              </a:ext>
            </a:extLst>
          </p:cNvPr>
          <p:cNvSpPr/>
          <p:nvPr/>
        </p:nvSpPr>
        <p:spPr>
          <a:xfrm>
            <a:off x="305"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EA04DA05-9469-9ABF-210E-073EF29B9D6F}"/>
              </a:ext>
            </a:extLst>
          </p:cNvPr>
          <p:cNvSpPr txBox="1"/>
          <p:nvPr/>
        </p:nvSpPr>
        <p:spPr>
          <a:xfrm>
            <a:off x="540305" y="212601"/>
            <a:ext cx="11219695" cy="553998"/>
          </a:xfrm>
          <a:prstGeom prst="rect">
            <a:avLst/>
          </a:prstGeom>
          <a:noFill/>
        </p:spPr>
        <p:txBody>
          <a:bodyPr wrap="square" lIns="0" tIns="0" rIns="0" bIns="0" anchor="ctr">
            <a:spAutoFit/>
          </a:bodyPr>
          <a:lstStyle/>
          <a:p>
            <a:pPr algn="ctr"/>
            <a:r>
              <a:rPr lang="en-IN" sz="3600" b="1" i="0" dirty="0">
                <a:latin typeface="Times New Roman"/>
              </a:rPr>
              <a:t>Implementation Screenshots</a:t>
            </a:r>
            <a:endParaRPr sz="3600" b="1" i="0" dirty="0">
              <a:latin typeface="Times New Roman"/>
            </a:endParaRPr>
          </a:p>
        </p:txBody>
      </p:sp>
      <p:sp>
        <p:nvSpPr>
          <p:cNvPr id="9" name="TextBox 8">
            <a:extLst>
              <a:ext uri="{FF2B5EF4-FFF2-40B4-BE49-F238E27FC236}">
                <a16:creationId xmlns:a16="http://schemas.microsoft.com/office/drawing/2014/main" id="{1871C4BB-A780-BDB7-C66E-3AD0761E944E}"/>
              </a:ext>
            </a:extLst>
          </p:cNvPr>
          <p:cNvSpPr txBox="1"/>
          <p:nvPr/>
        </p:nvSpPr>
        <p:spPr>
          <a:xfrm>
            <a:off x="432305"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18  of  18     AyurAuth  |  Aditya Rajesh Srinivas &amp; Shreya Vikas Jhamb</a:t>
            </a:r>
          </a:p>
        </p:txBody>
      </p:sp>
      <p:grpSp>
        <p:nvGrpSpPr>
          <p:cNvPr id="10" name="Group 8">
            <a:extLst>
              <a:ext uri="{FF2B5EF4-FFF2-40B4-BE49-F238E27FC236}">
                <a16:creationId xmlns:a16="http://schemas.microsoft.com/office/drawing/2014/main" id="{E2BDD27C-80C5-B6EC-DA48-276FA749ECD2}"/>
              </a:ext>
            </a:extLst>
          </p:cNvPr>
          <p:cNvGrpSpPr/>
          <p:nvPr/>
        </p:nvGrpSpPr>
        <p:grpSpPr>
          <a:xfrm>
            <a:off x="11290066" y="59993"/>
            <a:ext cx="798262" cy="600013"/>
            <a:chOff x="0" y="0"/>
            <a:chExt cx="1456944" cy="1079221"/>
          </a:xfrm>
        </p:grpSpPr>
        <p:sp>
          <p:nvSpPr>
            <p:cNvPr id="11" name="Freeform 9" descr="Graphical user interface, text, application  Description automatically generated">
              <a:extLst>
                <a:ext uri="{FF2B5EF4-FFF2-40B4-BE49-F238E27FC236}">
                  <a16:creationId xmlns:a16="http://schemas.microsoft.com/office/drawing/2014/main" id="{25811E45-BD42-DE18-4A4F-E4D3A19E720F}"/>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2"/>
              <a:stretch>
                <a:fillRect b="-1447"/>
              </a:stretch>
            </a:blipFill>
          </p:spPr>
        </p:sp>
      </p:grpSp>
      <p:grpSp>
        <p:nvGrpSpPr>
          <p:cNvPr id="12" name="Group 11">
            <a:extLst>
              <a:ext uri="{FF2B5EF4-FFF2-40B4-BE49-F238E27FC236}">
                <a16:creationId xmlns:a16="http://schemas.microsoft.com/office/drawing/2014/main" id="{B9AE379A-2580-ECDE-7022-75D742D975EC}"/>
              </a:ext>
            </a:extLst>
          </p:cNvPr>
          <p:cNvGrpSpPr/>
          <p:nvPr/>
        </p:nvGrpSpPr>
        <p:grpSpPr>
          <a:xfrm>
            <a:off x="285442" y="108650"/>
            <a:ext cx="2088617" cy="711872"/>
            <a:chOff x="0" y="0"/>
            <a:chExt cx="2784823" cy="949162"/>
          </a:xfrm>
        </p:grpSpPr>
        <p:sp>
          <p:nvSpPr>
            <p:cNvPr id="13" name="Freeform 11">
              <a:extLst>
                <a:ext uri="{FF2B5EF4-FFF2-40B4-BE49-F238E27FC236}">
                  <a16:creationId xmlns:a16="http://schemas.microsoft.com/office/drawing/2014/main" id="{2EA19E9D-E881-6364-5284-4B72CEDA2E3E}"/>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3"/>
              <a:stretch>
                <a:fillRect r="-1" b="2"/>
              </a:stretch>
            </a:blipFill>
          </p:spPr>
        </p:sp>
      </p:grpSp>
      <p:grpSp>
        <p:nvGrpSpPr>
          <p:cNvPr id="14" name="Group 2">
            <a:extLst>
              <a:ext uri="{FF2B5EF4-FFF2-40B4-BE49-F238E27FC236}">
                <a16:creationId xmlns:a16="http://schemas.microsoft.com/office/drawing/2014/main" id="{5AD7E2E2-F339-5C0D-63E6-7847395CD90B}"/>
              </a:ext>
            </a:extLst>
          </p:cNvPr>
          <p:cNvGrpSpPr/>
          <p:nvPr/>
        </p:nvGrpSpPr>
        <p:grpSpPr>
          <a:xfrm>
            <a:off x="0" y="6020688"/>
            <a:ext cx="824253" cy="837332"/>
            <a:chOff x="0" y="0"/>
            <a:chExt cx="1676400" cy="1580985"/>
          </a:xfrm>
        </p:grpSpPr>
        <p:sp>
          <p:nvSpPr>
            <p:cNvPr id="15" name="Freeform 3">
              <a:extLst>
                <a:ext uri="{FF2B5EF4-FFF2-40B4-BE49-F238E27FC236}">
                  <a16:creationId xmlns:a16="http://schemas.microsoft.com/office/drawing/2014/main" id="{011A9071-4510-B8C5-77D1-B60829B91633}"/>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16" name="Group 6">
            <a:extLst>
              <a:ext uri="{FF2B5EF4-FFF2-40B4-BE49-F238E27FC236}">
                <a16:creationId xmlns:a16="http://schemas.microsoft.com/office/drawing/2014/main" id="{87F47DA8-6BCD-DE86-43DD-32361CCABA5B}"/>
              </a:ext>
            </a:extLst>
          </p:cNvPr>
          <p:cNvGrpSpPr/>
          <p:nvPr/>
        </p:nvGrpSpPr>
        <p:grpSpPr>
          <a:xfrm>
            <a:off x="775093" y="6265116"/>
            <a:ext cx="9024002" cy="592884"/>
            <a:chOff x="0" y="0"/>
            <a:chExt cx="18662828" cy="1029805"/>
          </a:xfrm>
        </p:grpSpPr>
        <p:sp>
          <p:nvSpPr>
            <p:cNvPr id="17" name="Freeform 7">
              <a:extLst>
                <a:ext uri="{FF2B5EF4-FFF2-40B4-BE49-F238E27FC236}">
                  <a16:creationId xmlns:a16="http://schemas.microsoft.com/office/drawing/2014/main" id="{35E86B5E-8C0B-FE9B-D10A-E2C54620CFC4}"/>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18" name="Group 4">
            <a:extLst>
              <a:ext uri="{FF2B5EF4-FFF2-40B4-BE49-F238E27FC236}">
                <a16:creationId xmlns:a16="http://schemas.microsoft.com/office/drawing/2014/main" id="{200F0705-4804-9405-9709-670D8A23AB2F}"/>
              </a:ext>
            </a:extLst>
          </p:cNvPr>
          <p:cNvGrpSpPr/>
          <p:nvPr/>
        </p:nvGrpSpPr>
        <p:grpSpPr>
          <a:xfrm>
            <a:off x="9783605" y="6265094"/>
            <a:ext cx="2408090" cy="592906"/>
            <a:chOff x="0" y="0"/>
            <a:chExt cx="4044785" cy="1029805"/>
          </a:xfrm>
        </p:grpSpPr>
        <p:sp>
          <p:nvSpPr>
            <p:cNvPr id="19" name="Freeform 5">
              <a:extLst>
                <a:ext uri="{FF2B5EF4-FFF2-40B4-BE49-F238E27FC236}">
                  <a16:creationId xmlns:a16="http://schemas.microsoft.com/office/drawing/2014/main" id="{C7D14B3D-3E8C-E2BC-5BF9-32F499E2C774}"/>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20" name="TextBox 19">
            <a:extLst>
              <a:ext uri="{FF2B5EF4-FFF2-40B4-BE49-F238E27FC236}">
                <a16:creationId xmlns:a16="http://schemas.microsoft.com/office/drawing/2014/main" id="{B95B67C0-3C4A-FD4F-9ABD-1D45F11BE7F9}"/>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15 of 17</a:t>
            </a:r>
          </a:p>
        </p:txBody>
      </p:sp>
      <p:pic>
        <p:nvPicPr>
          <p:cNvPr id="22" name="Picture 21">
            <a:extLst>
              <a:ext uri="{FF2B5EF4-FFF2-40B4-BE49-F238E27FC236}">
                <a16:creationId xmlns:a16="http://schemas.microsoft.com/office/drawing/2014/main" id="{17E7C89F-9C1D-3C66-A0C4-B58CDEBD7773}"/>
              </a:ext>
            </a:extLst>
          </p:cNvPr>
          <p:cNvPicPr>
            <a:picLocks noChangeAspect="1"/>
          </p:cNvPicPr>
          <p:nvPr/>
        </p:nvPicPr>
        <p:blipFill>
          <a:blip r:embed="rId4"/>
          <a:stretch>
            <a:fillRect/>
          </a:stretch>
        </p:blipFill>
        <p:spPr>
          <a:xfrm>
            <a:off x="412126" y="1278210"/>
            <a:ext cx="6025930" cy="3758353"/>
          </a:xfrm>
          <a:prstGeom prst="rect">
            <a:avLst/>
          </a:prstGeom>
        </p:spPr>
      </p:pic>
      <p:pic>
        <p:nvPicPr>
          <p:cNvPr id="24" name="Picture 23">
            <a:extLst>
              <a:ext uri="{FF2B5EF4-FFF2-40B4-BE49-F238E27FC236}">
                <a16:creationId xmlns:a16="http://schemas.microsoft.com/office/drawing/2014/main" id="{1B450396-80F8-ADF9-CC19-E445951656F7}"/>
              </a:ext>
            </a:extLst>
          </p:cNvPr>
          <p:cNvPicPr>
            <a:picLocks noChangeAspect="1"/>
          </p:cNvPicPr>
          <p:nvPr/>
        </p:nvPicPr>
        <p:blipFill>
          <a:blip r:embed="rId5"/>
          <a:stretch>
            <a:fillRect/>
          </a:stretch>
        </p:blipFill>
        <p:spPr>
          <a:xfrm>
            <a:off x="6817635" y="1280200"/>
            <a:ext cx="4994786" cy="2216143"/>
          </a:xfrm>
          <a:prstGeom prst="rect">
            <a:avLst/>
          </a:prstGeom>
        </p:spPr>
      </p:pic>
      <p:sp>
        <p:nvSpPr>
          <p:cNvPr id="25" name="AutoShape 2">
            <a:extLst>
              <a:ext uri="{FF2B5EF4-FFF2-40B4-BE49-F238E27FC236}">
                <a16:creationId xmlns:a16="http://schemas.microsoft.com/office/drawing/2014/main" id="{105FCB2B-F2B6-CE5F-CB4D-F2D9DCF6FFED}"/>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7" name="Picture 26">
            <a:extLst>
              <a:ext uri="{FF2B5EF4-FFF2-40B4-BE49-F238E27FC236}">
                <a16:creationId xmlns:a16="http://schemas.microsoft.com/office/drawing/2014/main" id="{459909FF-0973-DAF4-C375-A3C47B7CB37C}"/>
              </a:ext>
            </a:extLst>
          </p:cNvPr>
          <p:cNvPicPr>
            <a:picLocks noChangeAspect="1"/>
          </p:cNvPicPr>
          <p:nvPr/>
        </p:nvPicPr>
        <p:blipFill>
          <a:blip r:embed="rId6"/>
          <a:stretch>
            <a:fillRect/>
          </a:stretch>
        </p:blipFill>
        <p:spPr>
          <a:xfrm>
            <a:off x="7850022" y="3615694"/>
            <a:ext cx="2786150" cy="2404994"/>
          </a:xfrm>
          <a:prstGeom prst="rect">
            <a:avLst/>
          </a:prstGeom>
        </p:spPr>
      </p:pic>
    </p:spTree>
    <p:extLst>
      <p:ext uri="{BB962C8B-B14F-4D97-AF65-F5344CB8AC3E}">
        <p14:creationId xmlns:p14="http://schemas.microsoft.com/office/powerpoint/2010/main" val="24181806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000" y="274156"/>
            <a:ext cx="11219695" cy="430887"/>
          </a:xfrm>
          <a:prstGeom prst="rect">
            <a:avLst/>
          </a:prstGeom>
          <a:noFill/>
        </p:spPr>
        <p:txBody>
          <a:bodyPr wrap="square" lIns="0" tIns="0" rIns="0" bIns="0" anchor="ctr">
            <a:spAutoFit/>
          </a:bodyPr>
          <a:lstStyle/>
          <a:p>
            <a:pPr algn="ctr"/>
            <a:r>
              <a:rPr sz="2800" b="1" i="0" dirty="0">
                <a:latin typeface="Times New Roman"/>
              </a:rPr>
              <a:t>Implementation Screenshots</a:t>
            </a:r>
          </a:p>
        </p:txBody>
      </p:sp>
      <p:sp>
        <p:nvSpPr>
          <p:cNvPr id="9" name="TextBox 8"/>
          <p:cNvSpPr txBox="1"/>
          <p:nvPr/>
        </p:nvSpPr>
        <p:spPr>
          <a:xfrm>
            <a:off x="432000"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16  of  18     AyurAuth  |  Aditya Rajesh Srinivas &amp; Shreya Vikas Jhamb</a:t>
            </a:r>
          </a:p>
        </p:txBody>
      </p:sp>
      <p:grpSp>
        <p:nvGrpSpPr>
          <p:cNvPr id="10" name="Group 8">
            <a:extLst>
              <a:ext uri="{FF2B5EF4-FFF2-40B4-BE49-F238E27FC236}">
                <a16:creationId xmlns:a16="http://schemas.microsoft.com/office/drawing/2014/main" id="{10CE5BF2-1E40-6540-8283-4ADDF6DDAB2F}"/>
              </a:ext>
            </a:extLst>
          </p:cNvPr>
          <p:cNvGrpSpPr/>
          <p:nvPr/>
        </p:nvGrpSpPr>
        <p:grpSpPr>
          <a:xfrm>
            <a:off x="11289761" y="59993"/>
            <a:ext cx="798262" cy="600013"/>
            <a:chOff x="0" y="0"/>
            <a:chExt cx="1456944" cy="1079221"/>
          </a:xfrm>
        </p:grpSpPr>
        <p:sp>
          <p:nvSpPr>
            <p:cNvPr id="11" name="Freeform 9" descr="Graphical user interface, text, application  Description automatically generated">
              <a:extLst>
                <a:ext uri="{FF2B5EF4-FFF2-40B4-BE49-F238E27FC236}">
                  <a16:creationId xmlns:a16="http://schemas.microsoft.com/office/drawing/2014/main" id="{33D46467-46BF-E0DA-D03B-E15B32AE11B3}"/>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2"/>
              <a:stretch>
                <a:fillRect b="-1447"/>
              </a:stretch>
            </a:blipFill>
          </p:spPr>
        </p:sp>
      </p:grpSp>
      <p:grpSp>
        <p:nvGrpSpPr>
          <p:cNvPr id="12" name="Group 11">
            <a:extLst>
              <a:ext uri="{FF2B5EF4-FFF2-40B4-BE49-F238E27FC236}">
                <a16:creationId xmlns:a16="http://schemas.microsoft.com/office/drawing/2014/main" id="{4141337F-3238-6F5F-33C6-28C2E990F0C6}"/>
              </a:ext>
            </a:extLst>
          </p:cNvPr>
          <p:cNvGrpSpPr/>
          <p:nvPr/>
        </p:nvGrpSpPr>
        <p:grpSpPr>
          <a:xfrm>
            <a:off x="162000" y="4070"/>
            <a:ext cx="2088617" cy="711872"/>
            <a:chOff x="0" y="0"/>
            <a:chExt cx="2784823" cy="949162"/>
          </a:xfrm>
        </p:grpSpPr>
        <p:sp>
          <p:nvSpPr>
            <p:cNvPr id="13" name="Freeform 11">
              <a:extLst>
                <a:ext uri="{FF2B5EF4-FFF2-40B4-BE49-F238E27FC236}">
                  <a16:creationId xmlns:a16="http://schemas.microsoft.com/office/drawing/2014/main" id="{CA5AEDDA-DC97-AB55-5F0A-91FE6EDA87D6}"/>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3"/>
              <a:stretch>
                <a:fillRect r="-1" b="2"/>
              </a:stretch>
            </a:blipFill>
          </p:spPr>
        </p:sp>
      </p:grpSp>
      <p:grpSp>
        <p:nvGrpSpPr>
          <p:cNvPr id="20" name="Group 2">
            <a:extLst>
              <a:ext uri="{FF2B5EF4-FFF2-40B4-BE49-F238E27FC236}">
                <a16:creationId xmlns:a16="http://schemas.microsoft.com/office/drawing/2014/main" id="{12B8B30C-C730-5432-EEFF-B4375A8E0663}"/>
              </a:ext>
            </a:extLst>
          </p:cNvPr>
          <p:cNvGrpSpPr/>
          <p:nvPr/>
        </p:nvGrpSpPr>
        <p:grpSpPr>
          <a:xfrm>
            <a:off x="0" y="6020688"/>
            <a:ext cx="824253" cy="837332"/>
            <a:chOff x="0" y="0"/>
            <a:chExt cx="1676400" cy="1580985"/>
          </a:xfrm>
        </p:grpSpPr>
        <p:sp>
          <p:nvSpPr>
            <p:cNvPr id="21" name="Freeform 3">
              <a:extLst>
                <a:ext uri="{FF2B5EF4-FFF2-40B4-BE49-F238E27FC236}">
                  <a16:creationId xmlns:a16="http://schemas.microsoft.com/office/drawing/2014/main" id="{21D4244A-35C3-7A91-A663-40D00040D149}"/>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22" name="Group 6">
            <a:extLst>
              <a:ext uri="{FF2B5EF4-FFF2-40B4-BE49-F238E27FC236}">
                <a16:creationId xmlns:a16="http://schemas.microsoft.com/office/drawing/2014/main" id="{F8335FB3-517E-FF17-227D-7B9CA9574484}"/>
              </a:ext>
            </a:extLst>
          </p:cNvPr>
          <p:cNvGrpSpPr/>
          <p:nvPr/>
        </p:nvGrpSpPr>
        <p:grpSpPr>
          <a:xfrm>
            <a:off x="775093" y="6265116"/>
            <a:ext cx="9024002" cy="592884"/>
            <a:chOff x="0" y="0"/>
            <a:chExt cx="18662828" cy="1029805"/>
          </a:xfrm>
        </p:grpSpPr>
        <p:sp>
          <p:nvSpPr>
            <p:cNvPr id="23" name="Freeform 7">
              <a:extLst>
                <a:ext uri="{FF2B5EF4-FFF2-40B4-BE49-F238E27FC236}">
                  <a16:creationId xmlns:a16="http://schemas.microsoft.com/office/drawing/2014/main" id="{7A8D7C88-AB1D-47BA-C806-F72D62696699}"/>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4" name="Group 4">
            <a:extLst>
              <a:ext uri="{FF2B5EF4-FFF2-40B4-BE49-F238E27FC236}">
                <a16:creationId xmlns:a16="http://schemas.microsoft.com/office/drawing/2014/main" id="{7E3D2644-A4C1-A31C-5BAD-4521D9E86499}"/>
              </a:ext>
            </a:extLst>
          </p:cNvPr>
          <p:cNvGrpSpPr/>
          <p:nvPr/>
        </p:nvGrpSpPr>
        <p:grpSpPr>
          <a:xfrm>
            <a:off x="9783605" y="6265094"/>
            <a:ext cx="2408090" cy="592906"/>
            <a:chOff x="0" y="0"/>
            <a:chExt cx="4044785" cy="1029805"/>
          </a:xfrm>
        </p:grpSpPr>
        <p:sp>
          <p:nvSpPr>
            <p:cNvPr id="25" name="Freeform 5">
              <a:extLst>
                <a:ext uri="{FF2B5EF4-FFF2-40B4-BE49-F238E27FC236}">
                  <a16:creationId xmlns:a16="http://schemas.microsoft.com/office/drawing/2014/main" id="{F765EC3D-E5B3-5208-2298-DA0E92C86490}"/>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8" name="TextBox 7">
            <a:extLst>
              <a:ext uri="{FF2B5EF4-FFF2-40B4-BE49-F238E27FC236}">
                <a16:creationId xmlns:a16="http://schemas.microsoft.com/office/drawing/2014/main" id="{9D5F2B9E-0DAB-66DE-A7B4-24C341A7F1E2}"/>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16 of 17</a:t>
            </a:r>
          </a:p>
        </p:txBody>
      </p:sp>
      <p:pic>
        <p:nvPicPr>
          <p:cNvPr id="15" name="Picture 14">
            <a:extLst>
              <a:ext uri="{FF2B5EF4-FFF2-40B4-BE49-F238E27FC236}">
                <a16:creationId xmlns:a16="http://schemas.microsoft.com/office/drawing/2014/main" id="{0AC62DAA-2DFE-D3D1-DC26-D7DCFCA3213D}"/>
              </a:ext>
            </a:extLst>
          </p:cNvPr>
          <p:cNvPicPr>
            <a:picLocks noChangeAspect="1"/>
          </p:cNvPicPr>
          <p:nvPr/>
        </p:nvPicPr>
        <p:blipFill>
          <a:blip r:embed="rId4"/>
          <a:stretch>
            <a:fillRect/>
          </a:stretch>
        </p:blipFill>
        <p:spPr>
          <a:xfrm>
            <a:off x="959986" y="1197596"/>
            <a:ext cx="5535226" cy="2292334"/>
          </a:xfrm>
          <a:prstGeom prst="rect">
            <a:avLst/>
          </a:prstGeom>
        </p:spPr>
      </p:pic>
      <p:pic>
        <p:nvPicPr>
          <p:cNvPr id="17" name="Picture 16">
            <a:extLst>
              <a:ext uri="{FF2B5EF4-FFF2-40B4-BE49-F238E27FC236}">
                <a16:creationId xmlns:a16="http://schemas.microsoft.com/office/drawing/2014/main" id="{4993D553-F8DD-99C5-63C2-D61903AFFF76}"/>
              </a:ext>
            </a:extLst>
          </p:cNvPr>
          <p:cNvPicPr>
            <a:picLocks noChangeAspect="1"/>
          </p:cNvPicPr>
          <p:nvPr/>
        </p:nvPicPr>
        <p:blipFill>
          <a:blip r:embed="rId5"/>
          <a:stretch>
            <a:fillRect/>
          </a:stretch>
        </p:blipFill>
        <p:spPr>
          <a:xfrm>
            <a:off x="6862763" y="1180428"/>
            <a:ext cx="3756986" cy="4938188"/>
          </a:xfrm>
          <a:prstGeom prst="rect">
            <a:avLst/>
          </a:prstGeom>
        </p:spPr>
      </p:pic>
      <p:pic>
        <p:nvPicPr>
          <p:cNvPr id="19" name="Picture 18">
            <a:extLst>
              <a:ext uri="{FF2B5EF4-FFF2-40B4-BE49-F238E27FC236}">
                <a16:creationId xmlns:a16="http://schemas.microsoft.com/office/drawing/2014/main" id="{A304D495-A6DD-45C4-2726-6FD96D786F12}"/>
              </a:ext>
            </a:extLst>
          </p:cNvPr>
          <p:cNvPicPr>
            <a:picLocks noChangeAspect="1"/>
          </p:cNvPicPr>
          <p:nvPr/>
        </p:nvPicPr>
        <p:blipFill>
          <a:blip r:embed="rId6"/>
          <a:stretch>
            <a:fillRect/>
          </a:stretch>
        </p:blipFill>
        <p:spPr>
          <a:xfrm>
            <a:off x="959986" y="3598200"/>
            <a:ext cx="5535226" cy="24584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305" y="0"/>
            <a:ext cx="162000" cy="6858000"/>
          </a:xfrm>
          <a:prstGeom prst="rect">
            <a:avLst/>
          </a:prstGeom>
          <a:solidFill>
            <a:srgbClr val="8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05" y="6426000"/>
            <a:ext cx="12191695" cy="432000"/>
          </a:xfrm>
          <a:prstGeom prst="rect">
            <a:avLst/>
          </a:prstGeom>
          <a:solidFill>
            <a:srgbClr val="6B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0305" y="212601"/>
            <a:ext cx="11219695" cy="553998"/>
          </a:xfrm>
          <a:prstGeom prst="rect">
            <a:avLst/>
          </a:prstGeom>
          <a:noFill/>
        </p:spPr>
        <p:txBody>
          <a:bodyPr wrap="square" lIns="0" tIns="0" rIns="0" bIns="0" anchor="ctr">
            <a:spAutoFit/>
          </a:bodyPr>
          <a:lstStyle/>
          <a:p>
            <a:pPr algn="ctr"/>
            <a:r>
              <a:rPr sz="3600" b="1" i="0" dirty="0">
                <a:latin typeface="Times New Roman"/>
              </a:rPr>
              <a:t>References</a:t>
            </a:r>
          </a:p>
        </p:txBody>
      </p:sp>
      <p:sp>
        <p:nvSpPr>
          <p:cNvPr id="8" name="TextBox 7"/>
          <p:cNvSpPr txBox="1"/>
          <p:nvPr/>
        </p:nvSpPr>
        <p:spPr>
          <a:xfrm>
            <a:off x="285441" y="1044001"/>
            <a:ext cx="11818373" cy="4137030"/>
          </a:xfrm>
          <a:prstGeom prst="rect">
            <a:avLst/>
          </a:prstGeom>
          <a:noFill/>
        </p:spPr>
        <p:txBody>
          <a:bodyPr wrap="square" lIns="0" tIns="0" rIns="0" bIns="0" anchor="t">
            <a:spAutoFit/>
          </a:bodyPr>
          <a:lstStyle/>
          <a:p>
            <a:pPr marL="431799" lvl="1" indent="-215899">
              <a:lnSpc>
                <a:spcPts val="2399"/>
              </a:lnSpc>
              <a:buAutoNum type="arabicPeriod"/>
            </a:pPr>
            <a:r>
              <a:rPr lang="en-US" sz="800" dirty="0" err="1">
                <a:solidFill>
                  <a:srgbClr val="000000"/>
                </a:solidFill>
                <a:latin typeface="Times New Roman" panose="02020603050405020304" pitchFamily="18" charset="0"/>
                <a:ea typeface="Fira Sans"/>
                <a:cs typeface="Times New Roman" panose="02020603050405020304" pitchFamily="18" charset="0"/>
                <a:sym typeface="Fira Sans"/>
              </a:rPr>
              <a:t>Kunjachan</a:t>
            </a: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 S., Remya, R., Kumar, S., Asish, G. R., Sheela, K., &amp; Kala, S. (2023). Comparative Study of Convolutional Neural Networks for Leaf Classification in Ayurveda. International Conference on Green Energy, Computing and Intelligent Technology (</a:t>
            </a:r>
            <a:r>
              <a:rPr lang="en-US" sz="800" dirty="0" err="1">
                <a:solidFill>
                  <a:srgbClr val="000000"/>
                </a:solidFill>
                <a:latin typeface="Times New Roman" panose="02020603050405020304" pitchFamily="18" charset="0"/>
                <a:ea typeface="Fira Sans"/>
                <a:cs typeface="Times New Roman" panose="02020603050405020304" pitchFamily="18" charset="0"/>
                <a:sym typeface="Fira Sans"/>
              </a:rPr>
              <a:t>GEn-CITy</a:t>
            </a: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 2023), 10–12 July 2023.</a:t>
            </a:r>
          </a:p>
          <a:p>
            <a:pPr marL="431799" lvl="1" indent="-215899">
              <a:lnSpc>
                <a:spcPts val="2399"/>
              </a:lnSpc>
              <a:buAutoNum type="arabicPeriod"/>
            </a:pP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Kaushik, R., Kumar, S., &amp; Pathak, S. (2025). End-to-end traceability in Ayush drug supply chains: Challenges, opportunities, and policy perspectives. International Journal of Ayurveda Research, 6(4), 379–386. https://doi.org/10.4103/ijar.ijar_318_25</a:t>
            </a:r>
          </a:p>
          <a:p>
            <a:pPr marL="431799" lvl="1" indent="-215899">
              <a:lnSpc>
                <a:spcPts val="2399"/>
              </a:lnSpc>
              <a:buAutoNum type="arabicPeriod"/>
            </a:pP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Uniyal, P., Singh, C., &amp; Dinesh, G. (n.d.). Leveraging Deep Learning and Blockchain for Enhanced Transparency and Traceability in the Indian Herbal Product Supply Chain. Dept of Computational Intelligence, School of Computing, SRM Institute of Science and Technology.</a:t>
            </a:r>
          </a:p>
          <a:p>
            <a:pPr marL="431799" lvl="1" indent="-215899">
              <a:lnSpc>
                <a:spcPts val="2399"/>
              </a:lnSpc>
              <a:buAutoNum type="arabicPeriod"/>
            </a:pP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Liu, J., Peng, S., Luo, J., Tang, Z., &amp; Liu, H. (2021). Segmented Encryption: A Quality and Safety Supervisory Model for Herbal Medicine Based on Blockchain Technology. IEEE International Conference on E-health Networking, Application &amp; Services (HEALTHCOM).</a:t>
            </a:r>
          </a:p>
          <a:p>
            <a:pPr marL="431799" lvl="1" indent="-215899">
              <a:lnSpc>
                <a:spcPts val="2399"/>
              </a:lnSpc>
              <a:buAutoNum type="arabicPeriod"/>
            </a:pP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Rout, S. K. (2025). </a:t>
            </a:r>
            <a:r>
              <a:rPr lang="en-US" sz="800" dirty="0" err="1">
                <a:solidFill>
                  <a:srgbClr val="000000"/>
                </a:solidFill>
                <a:latin typeface="Times New Roman" panose="02020603050405020304" pitchFamily="18" charset="0"/>
                <a:ea typeface="Fira Sans"/>
                <a:cs typeface="Times New Roman" panose="02020603050405020304" pitchFamily="18" charset="0"/>
                <a:sym typeface="Fira Sans"/>
              </a:rPr>
              <a:t>MedicLedger</a:t>
            </a: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 Blockchain-Based Supply Chain Architecture for Ayurvedic Product Authentication and Compliance. International Journal of Computer Engineering and Technology (IJCET), 16(1), 1706–1721. https://doi.org/10.34218/IJCET_16_01_125</a:t>
            </a:r>
          </a:p>
          <a:p>
            <a:pPr marL="431799" lvl="1" indent="-215899">
              <a:lnSpc>
                <a:spcPts val="2399"/>
              </a:lnSpc>
              <a:buAutoNum type="arabicPeriod"/>
            </a:pP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Balaji, R., &amp; Parani, M. (2022). DNA Barcoding of the Market Samples of Single-Drug Herbal Powders Reveals Adulteration with Taxonomically Unrelated Plant Species. Diversity, 14(495). https://doi.org/10.3390/d14060495</a:t>
            </a:r>
          </a:p>
          <a:p>
            <a:pPr marL="431799" lvl="1" indent="-215899">
              <a:lnSpc>
                <a:spcPts val="2399"/>
              </a:lnSpc>
              <a:buAutoNum type="arabicPeriod"/>
            </a:pP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Liu, H., Dong, J., &amp; Ge, S. (2021). Traceability System for Rare Chinese Herbal Medicines Based on Blockchain Structure. 3rd International Conference on Artificial Intelligence and Advanced Manufacture (AIAM), 382–385.</a:t>
            </a:r>
          </a:p>
          <a:p>
            <a:pPr marL="431799" lvl="1" indent="-215899">
              <a:lnSpc>
                <a:spcPts val="2399"/>
              </a:lnSpc>
              <a:buAutoNum type="arabicPeriod"/>
            </a:pP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Kaushal, R. K., Kumar, N., Makka, S., &amp; Saluja, K. (2023). Demystifying Hyperledger Fabric Framework for Distributed Ledgers and Approach to Evaluate Its Performance. International Conference on Sustainable Emerging Innovations in Engineering and Technology (ICSEIET), 116–120. https://doi.org/10.1109/ICSEIET58677.2023.10303377</a:t>
            </a:r>
          </a:p>
          <a:p>
            <a:pPr marL="431799" lvl="1" indent="-215899">
              <a:lnSpc>
                <a:spcPts val="2399"/>
              </a:lnSpc>
              <a:buAutoNum type="arabicPeriod"/>
            </a:pP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Reddy, P. K., Mane, A., Islam, A., Singh, R., &amp; Khatoon, F. (2024). Integrating artificial intelligence and data analytics for supply chain optimization in the pharmaceutical industry. International Journal of Intelligent Systems and Applications in Engineering, 12, 934–941.</a:t>
            </a:r>
          </a:p>
          <a:p>
            <a:pPr marL="431799" lvl="1" indent="-215899">
              <a:lnSpc>
                <a:spcPts val="2399"/>
              </a:lnSpc>
              <a:buAutoNum type="arabicPeriod"/>
            </a:pP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Yik, M. H.-Y., Wong, V. C.-W. T., Wong, T.-H., &amp; Shaw, P.-C. (2021). </a:t>
            </a:r>
            <a:r>
              <a:rPr lang="en-US" sz="800" dirty="0" err="1">
                <a:solidFill>
                  <a:srgbClr val="000000"/>
                </a:solidFill>
                <a:latin typeface="Times New Roman" panose="02020603050405020304" pitchFamily="18" charset="0"/>
                <a:ea typeface="Fira Sans"/>
                <a:cs typeface="Times New Roman" panose="02020603050405020304" pitchFamily="18" charset="0"/>
                <a:sym typeface="Fira Sans"/>
              </a:rPr>
              <a:t>HerBChain</a:t>
            </a:r>
            <a:r>
              <a:rPr lang="en-US" sz="800" dirty="0">
                <a:solidFill>
                  <a:srgbClr val="000000"/>
                </a:solidFill>
                <a:latin typeface="Times New Roman" panose="02020603050405020304" pitchFamily="18" charset="0"/>
                <a:ea typeface="Fira Sans"/>
                <a:cs typeface="Times New Roman" panose="02020603050405020304" pitchFamily="18" charset="0"/>
                <a:sym typeface="Fira Sans"/>
              </a:rPr>
              <a:t>, a blockchain-based informative platform for quality assurance and quality control of herbal products. Journal of Traditional and Complementary Medicine, 11(6), 598–600. https://doi.org/10.1016/j.jtcme.2021.07.005</a:t>
            </a:r>
          </a:p>
          <a:p>
            <a:pPr>
              <a:spcBef>
                <a:spcPts val="100"/>
              </a:spcBef>
              <a:spcAft>
                <a:spcPts val="100"/>
              </a:spcAft>
            </a:pPr>
            <a:endParaRPr sz="800" b="0" i="0" dirty="0">
              <a:solidFill>
                <a:srgbClr val="1A0A00"/>
              </a:solidFill>
              <a:latin typeface="Times New Roman" panose="02020603050405020304" pitchFamily="18" charset="0"/>
              <a:cs typeface="Times New Roman" panose="02020603050405020304" pitchFamily="18" charset="0"/>
            </a:endParaRPr>
          </a:p>
        </p:txBody>
      </p:sp>
      <p:sp>
        <p:nvSpPr>
          <p:cNvPr id="9" name="TextBox 8"/>
          <p:cNvSpPr txBox="1"/>
          <p:nvPr/>
        </p:nvSpPr>
        <p:spPr>
          <a:xfrm>
            <a:off x="432305" y="6480000"/>
            <a:ext cx="11327695" cy="324000"/>
          </a:xfrm>
          <a:prstGeom prst="rect">
            <a:avLst/>
          </a:prstGeom>
          <a:noFill/>
        </p:spPr>
        <p:txBody>
          <a:bodyPr wrap="none" lIns="0" tIns="0" rIns="0" bIns="0" anchor="ctr">
            <a:spAutoFit/>
          </a:bodyPr>
          <a:lstStyle/>
          <a:p>
            <a:pPr algn="ctr"/>
            <a:r>
              <a:rPr sz="1100" b="0" i="0">
                <a:solidFill>
                  <a:srgbClr val="FDF6E3"/>
                </a:solidFill>
                <a:latin typeface="Times New Roman"/>
              </a:rPr>
              <a:t>Slide  18  of  18     AyurAuth  |  Aditya Rajesh Srinivas &amp; Shreya Vikas Jhamb</a:t>
            </a:r>
          </a:p>
        </p:txBody>
      </p:sp>
      <p:grpSp>
        <p:nvGrpSpPr>
          <p:cNvPr id="10" name="Group 8">
            <a:extLst>
              <a:ext uri="{FF2B5EF4-FFF2-40B4-BE49-F238E27FC236}">
                <a16:creationId xmlns:a16="http://schemas.microsoft.com/office/drawing/2014/main" id="{D1334B6C-EEF5-B6DE-BA49-6231FF90CF29}"/>
              </a:ext>
            </a:extLst>
          </p:cNvPr>
          <p:cNvGrpSpPr/>
          <p:nvPr/>
        </p:nvGrpSpPr>
        <p:grpSpPr>
          <a:xfrm>
            <a:off x="11290066" y="59993"/>
            <a:ext cx="798262" cy="600013"/>
            <a:chOff x="0" y="0"/>
            <a:chExt cx="1456944" cy="1079221"/>
          </a:xfrm>
        </p:grpSpPr>
        <p:sp>
          <p:nvSpPr>
            <p:cNvPr id="11" name="Freeform 9" descr="Graphical user interface, text, application  Description automatically generated">
              <a:extLst>
                <a:ext uri="{FF2B5EF4-FFF2-40B4-BE49-F238E27FC236}">
                  <a16:creationId xmlns:a16="http://schemas.microsoft.com/office/drawing/2014/main" id="{88FB6352-5A7B-F615-4C17-4D5E3F487D0A}"/>
                </a:ext>
              </a:extLst>
            </p:cNvPr>
            <p:cNvSpPr/>
            <p:nvPr/>
          </p:nvSpPr>
          <p:spPr>
            <a:xfrm>
              <a:off x="0" y="0"/>
              <a:ext cx="1456944" cy="1079246"/>
            </a:xfrm>
            <a:custGeom>
              <a:avLst/>
              <a:gdLst/>
              <a:ahLst/>
              <a:cxnLst/>
              <a:rect l="l" t="t" r="r" b="b"/>
              <a:pathLst>
                <a:path w="1456944" h="1079246">
                  <a:moveTo>
                    <a:pt x="0" y="0"/>
                  </a:moveTo>
                  <a:lnTo>
                    <a:pt x="1456944" y="0"/>
                  </a:lnTo>
                  <a:lnTo>
                    <a:pt x="1456944" y="1079246"/>
                  </a:lnTo>
                  <a:lnTo>
                    <a:pt x="0" y="1079246"/>
                  </a:lnTo>
                  <a:lnTo>
                    <a:pt x="0" y="0"/>
                  </a:lnTo>
                  <a:close/>
                </a:path>
              </a:pathLst>
            </a:custGeom>
            <a:blipFill>
              <a:blip r:embed="rId2"/>
              <a:stretch>
                <a:fillRect b="-1447"/>
              </a:stretch>
            </a:blipFill>
          </p:spPr>
        </p:sp>
      </p:grpSp>
      <p:grpSp>
        <p:nvGrpSpPr>
          <p:cNvPr id="12" name="Group 11">
            <a:extLst>
              <a:ext uri="{FF2B5EF4-FFF2-40B4-BE49-F238E27FC236}">
                <a16:creationId xmlns:a16="http://schemas.microsoft.com/office/drawing/2014/main" id="{D9F32115-B3A9-2CF3-49F4-4E40F01593DD}"/>
              </a:ext>
            </a:extLst>
          </p:cNvPr>
          <p:cNvGrpSpPr/>
          <p:nvPr/>
        </p:nvGrpSpPr>
        <p:grpSpPr>
          <a:xfrm>
            <a:off x="285442" y="108650"/>
            <a:ext cx="2088617" cy="711872"/>
            <a:chOff x="0" y="0"/>
            <a:chExt cx="2784823" cy="949162"/>
          </a:xfrm>
        </p:grpSpPr>
        <p:sp>
          <p:nvSpPr>
            <p:cNvPr id="13" name="Freeform 11">
              <a:extLst>
                <a:ext uri="{FF2B5EF4-FFF2-40B4-BE49-F238E27FC236}">
                  <a16:creationId xmlns:a16="http://schemas.microsoft.com/office/drawing/2014/main" id="{31B5E123-7213-D6C6-F156-4424B0E87127}"/>
                </a:ext>
              </a:extLst>
            </p:cNvPr>
            <p:cNvSpPr/>
            <p:nvPr/>
          </p:nvSpPr>
          <p:spPr>
            <a:xfrm>
              <a:off x="0" y="0"/>
              <a:ext cx="2784823" cy="949162"/>
            </a:xfrm>
            <a:custGeom>
              <a:avLst/>
              <a:gdLst/>
              <a:ahLst/>
              <a:cxnLst/>
              <a:rect l="l" t="t" r="r" b="b"/>
              <a:pathLst>
                <a:path w="4632452" h="1417447">
                  <a:moveTo>
                    <a:pt x="0" y="0"/>
                  </a:moveTo>
                  <a:lnTo>
                    <a:pt x="4632452" y="0"/>
                  </a:lnTo>
                  <a:lnTo>
                    <a:pt x="4632452" y="1417447"/>
                  </a:lnTo>
                  <a:lnTo>
                    <a:pt x="0" y="1417447"/>
                  </a:lnTo>
                  <a:lnTo>
                    <a:pt x="0" y="0"/>
                  </a:lnTo>
                  <a:close/>
                </a:path>
              </a:pathLst>
            </a:custGeom>
            <a:blipFill>
              <a:blip r:embed="rId3"/>
              <a:stretch>
                <a:fillRect r="-1" b="2"/>
              </a:stretch>
            </a:blipFill>
          </p:spPr>
        </p:sp>
      </p:grpSp>
      <p:grpSp>
        <p:nvGrpSpPr>
          <p:cNvPr id="18" name="Group 2">
            <a:extLst>
              <a:ext uri="{FF2B5EF4-FFF2-40B4-BE49-F238E27FC236}">
                <a16:creationId xmlns:a16="http://schemas.microsoft.com/office/drawing/2014/main" id="{2A9F899D-075A-9C95-FFDF-C96AC2BEA020}"/>
              </a:ext>
            </a:extLst>
          </p:cNvPr>
          <p:cNvGrpSpPr/>
          <p:nvPr/>
        </p:nvGrpSpPr>
        <p:grpSpPr>
          <a:xfrm>
            <a:off x="0" y="6020688"/>
            <a:ext cx="824253" cy="837332"/>
            <a:chOff x="0" y="0"/>
            <a:chExt cx="1676400" cy="1580985"/>
          </a:xfrm>
        </p:grpSpPr>
        <p:sp>
          <p:nvSpPr>
            <p:cNvPr id="19" name="Freeform 3">
              <a:extLst>
                <a:ext uri="{FF2B5EF4-FFF2-40B4-BE49-F238E27FC236}">
                  <a16:creationId xmlns:a16="http://schemas.microsoft.com/office/drawing/2014/main" id="{1552988E-5CA2-0297-8CA1-D952CD51DC45}"/>
                </a:ext>
              </a:extLst>
            </p:cNvPr>
            <p:cNvSpPr/>
            <p:nvPr/>
          </p:nvSpPr>
          <p:spPr>
            <a:xfrm>
              <a:off x="0" y="0"/>
              <a:ext cx="1676400" cy="1581023"/>
            </a:xfrm>
            <a:custGeom>
              <a:avLst/>
              <a:gdLst/>
              <a:ahLst/>
              <a:cxnLst/>
              <a:rect l="l" t="t" r="r" b="b"/>
              <a:pathLst>
                <a:path w="1676400" h="1581023">
                  <a:moveTo>
                    <a:pt x="0" y="0"/>
                  </a:moveTo>
                  <a:lnTo>
                    <a:pt x="1676400" y="0"/>
                  </a:lnTo>
                  <a:lnTo>
                    <a:pt x="1676400" y="1581023"/>
                  </a:lnTo>
                  <a:lnTo>
                    <a:pt x="0" y="1581023"/>
                  </a:lnTo>
                  <a:close/>
                </a:path>
              </a:pathLst>
            </a:custGeom>
            <a:solidFill>
              <a:srgbClr val="A42530"/>
            </a:solidFill>
          </p:spPr>
        </p:sp>
      </p:grpSp>
      <p:grpSp>
        <p:nvGrpSpPr>
          <p:cNvPr id="20" name="Group 6">
            <a:extLst>
              <a:ext uri="{FF2B5EF4-FFF2-40B4-BE49-F238E27FC236}">
                <a16:creationId xmlns:a16="http://schemas.microsoft.com/office/drawing/2014/main" id="{784C8205-1CF3-24B1-8A23-985CA5A1AD31}"/>
              </a:ext>
            </a:extLst>
          </p:cNvPr>
          <p:cNvGrpSpPr/>
          <p:nvPr/>
        </p:nvGrpSpPr>
        <p:grpSpPr>
          <a:xfrm>
            <a:off x="775093" y="6265116"/>
            <a:ext cx="9024002" cy="592884"/>
            <a:chOff x="0" y="0"/>
            <a:chExt cx="18662828" cy="1029805"/>
          </a:xfrm>
        </p:grpSpPr>
        <p:sp>
          <p:nvSpPr>
            <p:cNvPr id="21" name="Freeform 7">
              <a:extLst>
                <a:ext uri="{FF2B5EF4-FFF2-40B4-BE49-F238E27FC236}">
                  <a16:creationId xmlns:a16="http://schemas.microsoft.com/office/drawing/2014/main" id="{1F1E34C0-B2C7-7955-7281-02CC1844EA87}"/>
                </a:ext>
              </a:extLst>
            </p:cNvPr>
            <p:cNvSpPr/>
            <p:nvPr/>
          </p:nvSpPr>
          <p:spPr>
            <a:xfrm>
              <a:off x="0" y="0"/>
              <a:ext cx="18662777" cy="1029843"/>
            </a:xfrm>
            <a:custGeom>
              <a:avLst/>
              <a:gdLst/>
              <a:ahLst/>
              <a:cxnLst/>
              <a:rect l="l" t="t" r="r" b="b"/>
              <a:pathLst>
                <a:path w="18662777" h="1029843">
                  <a:moveTo>
                    <a:pt x="0" y="0"/>
                  </a:moveTo>
                  <a:lnTo>
                    <a:pt x="18662777" y="0"/>
                  </a:lnTo>
                  <a:lnTo>
                    <a:pt x="18662777" y="1029843"/>
                  </a:lnTo>
                  <a:lnTo>
                    <a:pt x="0" y="1029843"/>
                  </a:lnTo>
                  <a:close/>
                </a:path>
              </a:pathLst>
            </a:custGeom>
            <a:solidFill>
              <a:srgbClr val="A42530"/>
            </a:solidFill>
          </p:spPr>
        </p:sp>
      </p:grpSp>
      <p:grpSp>
        <p:nvGrpSpPr>
          <p:cNvPr id="22" name="Group 4">
            <a:extLst>
              <a:ext uri="{FF2B5EF4-FFF2-40B4-BE49-F238E27FC236}">
                <a16:creationId xmlns:a16="http://schemas.microsoft.com/office/drawing/2014/main" id="{0F2F74CE-E386-AFE0-B977-F101CFF69934}"/>
              </a:ext>
            </a:extLst>
          </p:cNvPr>
          <p:cNvGrpSpPr/>
          <p:nvPr/>
        </p:nvGrpSpPr>
        <p:grpSpPr>
          <a:xfrm>
            <a:off x="9783605" y="6265094"/>
            <a:ext cx="2408090" cy="592906"/>
            <a:chOff x="0" y="0"/>
            <a:chExt cx="4044785" cy="1029805"/>
          </a:xfrm>
        </p:grpSpPr>
        <p:sp>
          <p:nvSpPr>
            <p:cNvPr id="23" name="Freeform 5">
              <a:extLst>
                <a:ext uri="{FF2B5EF4-FFF2-40B4-BE49-F238E27FC236}">
                  <a16:creationId xmlns:a16="http://schemas.microsoft.com/office/drawing/2014/main" id="{1DC260DB-A03A-197B-77B1-09AFE79B1F7F}"/>
                </a:ext>
              </a:extLst>
            </p:cNvPr>
            <p:cNvSpPr/>
            <p:nvPr/>
          </p:nvSpPr>
          <p:spPr>
            <a:xfrm>
              <a:off x="0" y="0"/>
              <a:ext cx="4044823" cy="1029843"/>
            </a:xfrm>
            <a:custGeom>
              <a:avLst/>
              <a:gdLst/>
              <a:ahLst/>
              <a:cxnLst/>
              <a:rect l="l" t="t" r="r" b="b"/>
              <a:pathLst>
                <a:path w="4044823" h="1029843">
                  <a:moveTo>
                    <a:pt x="0" y="0"/>
                  </a:moveTo>
                  <a:lnTo>
                    <a:pt x="4044823" y="0"/>
                  </a:lnTo>
                  <a:lnTo>
                    <a:pt x="4044823" y="1029843"/>
                  </a:lnTo>
                  <a:lnTo>
                    <a:pt x="0" y="1029843"/>
                  </a:lnTo>
                  <a:close/>
                </a:path>
              </a:pathLst>
            </a:custGeom>
            <a:solidFill>
              <a:srgbClr val="D9222A"/>
            </a:solidFill>
          </p:spPr>
        </p:sp>
      </p:grpSp>
      <p:sp>
        <p:nvSpPr>
          <p:cNvPr id="14" name="TextBox 13">
            <a:extLst>
              <a:ext uri="{FF2B5EF4-FFF2-40B4-BE49-F238E27FC236}">
                <a16:creationId xmlns:a16="http://schemas.microsoft.com/office/drawing/2014/main" id="{83A8376D-B3C0-06D7-F487-B3DDFAC444E5}"/>
              </a:ext>
            </a:extLst>
          </p:cNvPr>
          <p:cNvSpPr txBox="1"/>
          <p:nvPr/>
        </p:nvSpPr>
        <p:spPr>
          <a:xfrm>
            <a:off x="9087084" y="6348189"/>
            <a:ext cx="3767436" cy="307777"/>
          </a:xfrm>
          <a:prstGeom prst="rect">
            <a:avLst/>
          </a:prstGeom>
          <a:noFill/>
        </p:spPr>
        <p:txBody>
          <a:bodyPr wrap="square">
            <a:spAutoFit/>
          </a:bodyPr>
          <a:lstStyle/>
          <a:p>
            <a:pPr algn="ctr"/>
            <a:r>
              <a:rPr lang="en-IN" sz="1400" b="0" i="0" dirty="0">
                <a:solidFill>
                  <a:srgbClr val="FDF6E3"/>
                </a:solidFill>
                <a:latin typeface="Times New Roman"/>
              </a:rPr>
              <a:t>Slide 17 of 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692</TotalTime>
  <Words>3007</Words>
  <Application>Microsoft Office PowerPoint</Application>
  <PresentationFormat>Widescreen</PresentationFormat>
  <Paragraphs>302</Paragraphs>
  <Slides>17</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TECH STACK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Aditya</dc:creator>
  <cp:keywords/>
  <dc:description>generated using python-pptx</dc:description>
  <cp:lastModifiedBy>Aditya srinivas</cp:lastModifiedBy>
  <cp:revision>19</cp:revision>
  <dcterms:created xsi:type="dcterms:W3CDTF">2013-01-27T09:14:16Z</dcterms:created>
  <dcterms:modified xsi:type="dcterms:W3CDTF">2026-08-14T02:20:10Z</dcterms:modified>
  <cp:category/>
</cp:coreProperties>
</file>